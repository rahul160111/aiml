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lang="en-US" spc="-75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lang="en-US" spc="-7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lang="en-US" spc="-25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naconda.com/download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05330"/>
              <a:ext cx="1901424" cy="952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514" y="1"/>
              <a:ext cx="5255701" cy="9917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334" y="4602222"/>
              <a:ext cx="3383665" cy="2255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26694" y="6124097"/>
              <a:ext cx="4356100" cy="0"/>
            </a:xfrm>
            <a:custGeom>
              <a:avLst/>
              <a:gdLst/>
              <a:ahLst/>
              <a:cxnLst/>
              <a:rect l="l" t="t" r="r" b="b"/>
              <a:pathLst>
                <a:path w="4356100">
                  <a:moveTo>
                    <a:pt x="0" y="0"/>
                  </a:moveTo>
                  <a:lnTo>
                    <a:pt x="4356000" y="0"/>
                  </a:lnTo>
                </a:path>
              </a:pathLst>
            </a:custGeom>
            <a:ln w="95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8063" y="6232297"/>
              <a:ext cx="182879" cy="182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8063" y="6505319"/>
              <a:ext cx="182879" cy="1828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7" y="837716"/>
              <a:ext cx="1087892" cy="7721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3568" y="5211250"/>
              <a:ext cx="1353599" cy="1353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25597" y="2015064"/>
              <a:ext cx="3758417" cy="18795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0700" y="5251139"/>
            <a:ext cx="4490099" cy="147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15" dirty="0">
                <a:solidFill>
                  <a:srgbClr val="BB770B"/>
                </a:solidFill>
                <a:latin typeface="Roboto Cn"/>
                <a:cs typeface="Roboto Cn"/>
              </a:rPr>
              <a:t>ANTRIX COMPUTER ACADEMY</a:t>
            </a:r>
            <a:endParaRPr sz="180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US" sz="1600" spc="-120" dirty="0">
                <a:solidFill>
                  <a:srgbClr val="212121"/>
                </a:solidFill>
                <a:latin typeface="Roboto"/>
                <a:cs typeface="Roboto"/>
              </a:rPr>
              <a:t>DAKSHAY PRAJAPATI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600" spc="-130" dirty="0" err="1">
                <a:solidFill>
                  <a:srgbClr val="212121"/>
                </a:solidFill>
                <a:latin typeface="Roboto"/>
                <a:cs typeface="Roboto"/>
              </a:rPr>
              <a:t>Vastrapur</a:t>
            </a:r>
            <a:r>
              <a:rPr lang="en-US" sz="1600" spc="-13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lang="en-US" sz="1600" spc="-130" dirty="0" err="1">
                <a:solidFill>
                  <a:srgbClr val="212121"/>
                </a:solidFill>
                <a:latin typeface="Roboto"/>
                <a:cs typeface="Roboto"/>
              </a:rPr>
              <a:t>Ahmedabad</a:t>
            </a:r>
            <a:endParaRPr sz="1600">
              <a:latin typeface="Roboto"/>
              <a:cs typeface="Roboto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z="1600" spc="-95" dirty="0">
                <a:solidFill>
                  <a:srgbClr val="212121"/>
                </a:solidFill>
                <a:latin typeface="Roboto Lt"/>
                <a:cs typeface="Roboto Lt"/>
              </a:rPr>
              <a:t>antrixcomputer@gmail.com</a:t>
            </a:r>
            <a:r>
              <a:rPr lang="en-US" sz="1600" spc="-114" dirty="0">
                <a:solidFill>
                  <a:srgbClr val="212121"/>
                </a:solidFill>
                <a:latin typeface="Roboto Lt"/>
                <a:cs typeface="Roboto Lt"/>
              </a:rPr>
              <a:t>9998155657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30980" y="220476"/>
            <a:ext cx="374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40" dirty="0">
                <a:solidFill>
                  <a:srgbClr val="FFFFFF"/>
                </a:solidFill>
                <a:latin typeface="Roboto"/>
                <a:cs typeface="Roboto"/>
              </a:rPr>
              <a:t>Python for Data Science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8806" y="5206488"/>
            <a:ext cx="1363345" cy="1363345"/>
          </a:xfrm>
          <a:custGeom>
            <a:avLst/>
            <a:gdLst/>
            <a:ahLst/>
            <a:cxnLst/>
            <a:rect l="l" t="t" r="r" b="b"/>
            <a:pathLst>
              <a:path w="1363345" h="1363345">
                <a:moveTo>
                  <a:pt x="0" y="0"/>
                </a:moveTo>
                <a:lnTo>
                  <a:pt x="1363123" y="0"/>
                </a:lnTo>
                <a:lnTo>
                  <a:pt x="1363123" y="1363123"/>
                </a:lnTo>
                <a:lnTo>
                  <a:pt x="0" y="13631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32515" y="1262368"/>
            <a:ext cx="6533515" cy="261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545"/>
              </a:lnSpc>
              <a:spcBef>
                <a:spcPts val="100"/>
              </a:spcBef>
            </a:pPr>
            <a:r>
              <a:rPr sz="4800" b="0" spc="-365" dirty="0">
                <a:latin typeface="Roboto Lt"/>
                <a:cs typeface="Roboto Lt"/>
              </a:rPr>
              <a:t>Unit-01</a:t>
            </a:r>
            <a:endParaRPr sz="4800">
              <a:latin typeface="Roboto Lt"/>
              <a:cs typeface="Roboto Lt"/>
            </a:endParaRPr>
          </a:p>
          <a:p>
            <a:pPr marL="12700" marR="5080">
              <a:lnSpc>
                <a:spcPts val="7130"/>
              </a:lnSpc>
              <a:spcBef>
                <a:spcPts val="670"/>
              </a:spcBef>
            </a:pPr>
            <a:r>
              <a:rPr sz="6600" spc="55" dirty="0"/>
              <a:t>Overview</a:t>
            </a:r>
            <a:r>
              <a:rPr sz="6600" spc="25" dirty="0"/>
              <a:t> </a:t>
            </a:r>
            <a:r>
              <a:rPr sz="6600" spc="65" dirty="0"/>
              <a:t>of</a:t>
            </a:r>
            <a:r>
              <a:rPr sz="6600" spc="20" dirty="0"/>
              <a:t> </a:t>
            </a:r>
            <a:r>
              <a:rPr sz="6600" spc="10" dirty="0"/>
              <a:t>Python </a:t>
            </a:r>
            <a:r>
              <a:rPr sz="6600" spc="-1445" dirty="0"/>
              <a:t> </a:t>
            </a:r>
            <a:r>
              <a:rPr sz="6600" spc="5" dirty="0"/>
              <a:t>and</a:t>
            </a:r>
            <a:r>
              <a:rPr sz="6600" spc="25" dirty="0"/>
              <a:t> </a:t>
            </a:r>
            <a:r>
              <a:rPr sz="6600" spc="-20" dirty="0"/>
              <a:t>Data</a:t>
            </a:r>
            <a:r>
              <a:rPr sz="6600" spc="30" dirty="0"/>
              <a:t> </a:t>
            </a:r>
            <a:r>
              <a:rPr sz="6600" spc="35" dirty="0"/>
              <a:t>Structure</a:t>
            </a:r>
            <a:endParaRPr sz="6600"/>
          </a:p>
        </p:txBody>
      </p:sp>
      <p:pic>
        <p:nvPicPr>
          <p:cNvPr id="19" name="Picture 18" descr="antrix 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52400" y="15240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1066800" y="457200"/>
            <a:ext cx="4294505" cy="462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indent="-435609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116666"/>
              <a:buFont typeface="MS PGothic"/>
              <a:buChar char="✓"/>
              <a:tabLst>
                <a:tab pos="448309" algn="l"/>
              </a:tabLst>
            </a:pPr>
            <a:r>
              <a:rPr sz="3600" b="1" spc="7" baseline="1157" dirty="0">
                <a:solidFill>
                  <a:srgbClr val="212121"/>
                </a:solidFill>
                <a:latin typeface="Roboto Cn"/>
                <a:cs typeface="Roboto Cn"/>
              </a:rPr>
              <a:t>Outline</a:t>
            </a:r>
            <a:endParaRPr sz="3600" baseline="1157">
              <a:latin typeface="Roboto Cn"/>
              <a:cs typeface="Roboto Cn"/>
            </a:endParaRPr>
          </a:p>
          <a:p>
            <a:pPr marL="338455">
              <a:lnSpc>
                <a:spcPct val="100000"/>
              </a:lnSpc>
              <a:spcBef>
                <a:spcPts val="2135"/>
              </a:spcBef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oductio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ython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Installing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ython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Hell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orl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og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am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ython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types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Variables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Expressions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Functions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Dictionary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Functions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3" name="Picture 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4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173695" y="756967"/>
            <a:ext cx="12018305" cy="49590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open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source,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interpreted,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high-level</a:t>
            </a:r>
            <a:r>
              <a:rPr sz="2400" spc="1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general-purpose</a:t>
            </a:r>
            <a:r>
              <a:rPr sz="2400" b="1" spc="5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programming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language.</a:t>
            </a:r>
            <a:endParaRPr sz="2400" dirty="0">
              <a:latin typeface="Roboto"/>
              <a:cs typeface="Roboto"/>
            </a:endParaRPr>
          </a:p>
          <a:p>
            <a:pPr marL="307975" indent="-295910">
              <a:lnSpc>
                <a:spcPts val="2735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5353050" algn="l"/>
                <a:tab pos="7486015" algn="l"/>
              </a:tabLst>
            </a:pP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Python's</a:t>
            </a:r>
            <a:r>
              <a:rPr sz="2400" spc="4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design</a:t>
            </a:r>
            <a:r>
              <a:rPr sz="2400" spc="4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philosophy</a:t>
            </a:r>
            <a:r>
              <a:rPr sz="2400" spc="4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emphasizes	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code</a:t>
            </a:r>
            <a:r>
              <a:rPr sz="2400" b="1" spc="45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readability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3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its</a:t>
            </a:r>
            <a:r>
              <a:rPr sz="2400" spc="3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notable</a:t>
            </a:r>
            <a:r>
              <a:rPr sz="2400" spc="3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3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3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signiﬁcant</a:t>
            </a:r>
            <a:endParaRPr sz="2400" dirty="0">
              <a:latin typeface="Roboto"/>
              <a:cs typeface="Roboto"/>
            </a:endParaRPr>
          </a:p>
          <a:p>
            <a:pPr marL="307975">
              <a:lnSpc>
                <a:spcPts val="2735"/>
              </a:lnSpc>
            </a:pP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whitespace</a:t>
            </a:r>
            <a:r>
              <a:rPr sz="2400" spc="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 dirty="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dynamicall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type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b="1" spc="5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garbage-collecte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b="1" spc="9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language</a:t>
            </a:r>
            <a:r>
              <a:rPr sz="2400" b="1" spc="55" dirty="0">
                <a:solidFill>
                  <a:srgbClr val="212121"/>
                </a:solidFill>
                <a:latin typeface="Roboto Cn"/>
                <a:cs typeface="Roboto Cn"/>
              </a:rPr>
              <a:t>.</a:t>
            </a:r>
            <a:endParaRPr sz="2400" dirty="0">
              <a:latin typeface="Roboto Cn"/>
              <a:cs typeface="Roboto Cn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wa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concei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late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40" dirty="0">
                <a:solidFill>
                  <a:srgbClr val="212121"/>
                </a:solidFill>
                <a:latin typeface="Roboto Cn"/>
                <a:cs typeface="Roboto Cn"/>
              </a:rPr>
              <a:t>1980</a:t>
            </a:r>
            <a:r>
              <a:rPr sz="2400" b="1" spc="-30" dirty="0">
                <a:solidFill>
                  <a:srgbClr val="212121"/>
                </a:solidFill>
                <a:latin typeface="Roboto Cn"/>
                <a:cs typeface="Roboto Cn"/>
              </a:rPr>
              <a:t>s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successo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40" dirty="0">
                <a:solidFill>
                  <a:srgbClr val="212121"/>
                </a:solidFill>
                <a:latin typeface="Roboto Cn"/>
                <a:cs typeface="Roboto Cn"/>
              </a:rPr>
              <a:t>AB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C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languag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 dirty="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Guido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van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Rossum</a:t>
            </a:r>
            <a:r>
              <a:rPr sz="2400" b="1" spc="7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ﬁrst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released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45" dirty="0">
                <a:solidFill>
                  <a:srgbClr val="212121"/>
                </a:solidFill>
                <a:latin typeface="Roboto Cn"/>
                <a:cs typeface="Roboto Cn"/>
              </a:rPr>
              <a:t>1991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 dirty="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ytho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n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2.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0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release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5" dirty="0">
                <a:solidFill>
                  <a:srgbClr val="212121"/>
                </a:solidFill>
                <a:latin typeface="Roboto Cn"/>
                <a:cs typeface="Roboto Cn"/>
              </a:rPr>
              <a:t>200</a:t>
            </a:r>
            <a:r>
              <a:rPr sz="2400" b="1" spc="-45" dirty="0">
                <a:solidFill>
                  <a:srgbClr val="212121"/>
                </a:solidFill>
                <a:latin typeface="Roboto Cn"/>
                <a:cs typeface="Roboto Cn"/>
              </a:rPr>
              <a:t>0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endParaRPr sz="2400" dirty="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introduced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features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like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0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comprehensions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garbage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collection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system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reference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counting.</a:t>
            </a:r>
            <a:endParaRPr sz="2000" dirty="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Python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3.0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released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0" dirty="0">
                <a:solidFill>
                  <a:srgbClr val="212121"/>
                </a:solidFill>
                <a:latin typeface="Roboto Cn"/>
                <a:cs typeface="Roboto Cn"/>
              </a:rPr>
              <a:t>2008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current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version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10">
                <a:solidFill>
                  <a:srgbClr val="212121"/>
                </a:solidFill>
                <a:latin typeface="Roboto Cn"/>
                <a:cs typeface="Roboto Cn"/>
              </a:rPr>
              <a:t>3.</a:t>
            </a:r>
            <a:r>
              <a:rPr lang="en-US" sz="2400" b="1" spc="-10">
                <a:solidFill>
                  <a:srgbClr val="212121"/>
                </a:solidFill>
                <a:latin typeface="Roboto Cn"/>
                <a:cs typeface="Roboto Cn"/>
              </a:rPr>
              <a:t>14</a:t>
            </a:r>
            <a:r>
              <a:rPr sz="2400" b="1" spc="-10">
                <a:solidFill>
                  <a:srgbClr val="212121"/>
                </a:solidFill>
                <a:latin typeface="Roboto Cn"/>
                <a:cs typeface="Roboto Cn"/>
              </a:rPr>
              <a:t>.</a:t>
            </a:r>
            <a:r>
              <a:rPr lang="en-US" sz="2400" b="1" spc="-10">
                <a:solidFill>
                  <a:srgbClr val="212121"/>
                </a:solidFill>
                <a:latin typeface="Roboto Cn"/>
                <a:cs typeface="Roboto Cn"/>
              </a:rPr>
              <a:t>5</a:t>
            </a:r>
            <a:r>
              <a:rPr sz="2400" b="1" spc="3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lang="en-US" sz="2400" spc="-180">
                <a:solidFill>
                  <a:srgbClr val="212121"/>
                </a:solidFill>
                <a:latin typeface="Roboto"/>
                <a:cs typeface="Roboto"/>
              </a:rPr>
              <a:t>May</a:t>
            </a:r>
            <a:r>
              <a:rPr sz="2400" spc="-180">
                <a:solidFill>
                  <a:srgbClr val="212121"/>
                </a:solidFill>
                <a:latin typeface="Roboto"/>
                <a:cs typeface="Roboto"/>
              </a:rPr>
              <a:t>-20</a:t>
            </a:r>
            <a:r>
              <a:rPr lang="en-US" sz="2400" spc="-180">
                <a:solidFill>
                  <a:srgbClr val="212121"/>
                </a:solidFill>
                <a:latin typeface="Roboto"/>
                <a:cs typeface="Roboto"/>
              </a:rPr>
              <a:t>26</a:t>
            </a:r>
            <a:r>
              <a:rPr sz="2400" spc="-180">
                <a:solidFill>
                  <a:srgbClr val="212121"/>
                </a:solidFill>
                <a:latin typeface="Roboto"/>
                <a:cs typeface="Roboto"/>
              </a:rPr>
              <a:t>).</a:t>
            </a:r>
            <a:endParaRPr sz="2400" dirty="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language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was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oﬃcially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discontinued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2020</a:t>
            </a:r>
            <a:endParaRPr sz="2000" dirty="0">
              <a:latin typeface="Roboto"/>
              <a:cs typeface="Roboto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400" y="2286000"/>
            <a:ext cx="1959616" cy="1532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194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Introduction</a:t>
            </a:r>
            <a:r>
              <a:rPr spc="-10" dirty="0"/>
              <a:t> </a:t>
            </a:r>
            <a:r>
              <a:rPr spc="-25" dirty="0"/>
              <a:t>to</a:t>
            </a:r>
            <a:r>
              <a:rPr spc="-5" dirty="0"/>
              <a:t> </a:t>
            </a:r>
            <a:r>
              <a:rPr spc="5" dirty="0"/>
              <a:t>Python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356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Why</a:t>
            </a:r>
            <a:r>
              <a:rPr spc="-50" dirty="0"/>
              <a:t> </a:t>
            </a:r>
            <a:r>
              <a:rPr spc="5" dirty="0"/>
              <a:t>Python?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06792"/>
            <a:ext cx="8513105" cy="49936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ha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40" dirty="0">
                <a:solidFill>
                  <a:srgbClr val="212121"/>
                </a:solidFill>
                <a:latin typeface="Roboto"/>
                <a:cs typeface="Roboto"/>
              </a:rPr>
              <a:t>man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adv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antages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Eas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learn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Les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Synta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easie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ead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sou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Hug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amount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additional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open-sou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lib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aries</a:t>
            </a:r>
            <a:endParaRPr sz="2000">
              <a:latin typeface="Roboto"/>
              <a:cs typeface="Roboto"/>
            </a:endParaRPr>
          </a:p>
          <a:p>
            <a:pPr marL="957580">
              <a:lnSpc>
                <a:spcPct val="100000"/>
              </a:lnSpc>
              <a:spcBef>
                <a:spcPts val="285"/>
              </a:spcBef>
            </a:pPr>
            <a:r>
              <a:rPr sz="1800" spc="-170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lib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aries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listed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belo</a:t>
            </a:r>
            <a:r>
              <a:rPr sz="1800" spc="-30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1800" spc="-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matploti</a:t>
            </a: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b</a:t>
            </a:r>
            <a:r>
              <a:rPr sz="18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plottin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cha</a:t>
            </a:r>
            <a:r>
              <a:rPr sz="1800" spc="-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aphs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dirty="0">
                <a:solidFill>
                  <a:srgbClr val="212121"/>
                </a:solidFill>
                <a:latin typeface="Roboto Cn"/>
                <a:cs typeface="Roboto Cn"/>
              </a:rPr>
              <a:t>BeautifulSoup</a:t>
            </a: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70" dirty="0">
                <a:solidFill>
                  <a:srgbClr val="212121"/>
                </a:solidFill>
                <a:latin typeface="Roboto"/>
                <a:cs typeface="Roboto"/>
              </a:rPr>
              <a:t>HTML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parsing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70" dirty="0">
                <a:solidFill>
                  <a:srgbClr val="212121"/>
                </a:solidFill>
                <a:latin typeface="Roboto"/>
                <a:cs typeface="Roboto"/>
              </a:rPr>
              <a:t>XML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Num</a:t>
            </a: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1800" b="1" spc="-10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scientiﬁ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computing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4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dirty="0">
                <a:solidFill>
                  <a:srgbClr val="212121"/>
                </a:solidFill>
                <a:latin typeface="Roboto Cn"/>
                <a:cs typeface="Roboto Cn"/>
              </a:rPr>
              <a:t>panda</a:t>
            </a: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s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pe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formin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analysis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Sci</a:t>
            </a:r>
            <a:r>
              <a:rPr sz="1800" b="1" spc="25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1800" b="1" spc="-10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engineerin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applications,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science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mathematics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dirty="0">
                <a:solidFill>
                  <a:srgbClr val="212121"/>
                </a:solidFill>
                <a:latin typeface="Roboto Cn"/>
                <a:cs typeface="Roboto Cn"/>
              </a:rPr>
              <a:t>Sciki</a:t>
            </a: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machin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learning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dirty="0">
                <a:solidFill>
                  <a:srgbClr val="212121"/>
                </a:solidFill>
                <a:latin typeface="Roboto Cn"/>
                <a:cs typeface="Roboto Cn"/>
              </a:rPr>
              <a:t>Djang</a:t>
            </a: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o</a:t>
            </a:r>
            <a:r>
              <a:rPr sz="18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se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er-sid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de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elopment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80" dirty="0">
                <a:solidFill>
                  <a:srgbClr val="212121"/>
                </a:solidFill>
                <a:latin typeface="Roboto"/>
                <a:cs typeface="Roboto"/>
              </a:rPr>
              <a:t>man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75" dirty="0">
                <a:solidFill>
                  <a:srgbClr val="212121"/>
                </a:solidFill>
                <a:latin typeface="Roboto"/>
                <a:cs typeface="Roboto"/>
              </a:rPr>
              <a:t>mo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5" dirty="0">
                <a:solidFill>
                  <a:srgbClr val="212121"/>
                </a:solidFill>
                <a:latin typeface="Roboto"/>
                <a:cs typeface="Roboto"/>
              </a:rPr>
              <a:t>e..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965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Installing</a:t>
            </a:r>
            <a:r>
              <a:rPr spc="-50" dirty="0"/>
              <a:t> </a:t>
            </a:r>
            <a:r>
              <a:rPr spc="5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4" y="806792"/>
            <a:ext cx="12018305" cy="5486117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Window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&amp;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Mac: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windows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need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download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installable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000" spc="25" dirty="0">
                <a:solidFill>
                  <a:srgbClr val="70AD47"/>
                </a:solidFill>
                <a:latin typeface="Roboto"/>
                <a:cs typeface="Roboto"/>
              </a:rPr>
              <a:t> </a:t>
            </a:r>
            <a:r>
              <a:rPr sz="2000" u="heavy" spc="-145" dirty="0">
                <a:solidFill>
                  <a:srgbClr val="70AD47"/>
                </a:solidFill>
                <a:uFill>
                  <a:solidFill>
                    <a:srgbClr val="70AD47"/>
                  </a:solidFill>
                </a:uFill>
                <a:latin typeface="Roboto"/>
                <a:cs typeface="Roboto"/>
                <a:hlinkClick r:id="rId3"/>
              </a:rPr>
              <a:t>https://www.python.org/downloads/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After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downloading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installable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need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execute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Linux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ubunt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u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16.1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newer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9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sud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apt-get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update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4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sud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apt-get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ython3.8</a:t>
            </a:r>
            <a:endParaRPr sz="18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3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erif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installation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Windows</a:t>
            </a:r>
            <a:r>
              <a:rPr sz="20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9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285" dirty="0">
                <a:solidFill>
                  <a:srgbClr val="212121"/>
                </a:solidFill>
                <a:latin typeface="Roboto"/>
                <a:cs typeface="Roboto"/>
              </a:rPr>
              <a:t>--</a:t>
            </a:r>
            <a:r>
              <a:rPr sz="1800" spc="-32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ersion</a:t>
            </a:r>
            <a:endParaRPr sz="18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4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Linux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9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-10" dirty="0">
                <a:solidFill>
                  <a:srgbClr val="212121"/>
                </a:solidFill>
                <a:latin typeface="Roboto Cn"/>
                <a:cs typeface="Roboto Cn"/>
              </a:rPr>
              <a:t>python</a:t>
            </a:r>
            <a:r>
              <a:rPr sz="1800" b="1" spc="-10" dirty="0">
                <a:solidFill>
                  <a:srgbClr val="FF0000"/>
                </a:solidFill>
                <a:latin typeface="Roboto Cn"/>
                <a:cs typeface="Roboto Cn"/>
              </a:rPr>
              <a:t>3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 </a:t>
            </a:r>
            <a:r>
              <a:rPr sz="1800" spc="-175" dirty="0">
                <a:solidFill>
                  <a:srgbClr val="212121"/>
                </a:solidFill>
                <a:latin typeface="Roboto"/>
                <a:cs typeface="Roboto"/>
              </a:rPr>
              <a:t>--version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(linux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might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python2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already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installed,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check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18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python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--version</a:t>
            </a:r>
            <a:r>
              <a:rPr sz="1800" spc="-5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endParaRPr sz="18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Alternatively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anaconda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distribution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installation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u="heavy" spc="-145" dirty="0">
                <a:solidFill>
                  <a:srgbClr val="70AD47"/>
                </a:solidFill>
                <a:uFill>
                  <a:solidFill>
                    <a:srgbClr val="70AD47"/>
                  </a:solidFill>
                </a:uFill>
                <a:latin typeface="Roboto"/>
                <a:cs typeface="Roboto"/>
                <a:hlinkClick r:id="rId4"/>
              </a:rPr>
              <a:t>http://anaconda.com/downloads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Anaconda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comes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0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useful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inbuilt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libraries.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947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Hello</a:t>
            </a:r>
            <a:r>
              <a:rPr dirty="0"/>
              <a:t> World</a:t>
            </a:r>
            <a:r>
              <a:rPr spc="10" dirty="0"/>
              <a:t> </a:t>
            </a:r>
            <a:r>
              <a:rPr spc="15" dirty="0"/>
              <a:t>using</a:t>
            </a:r>
            <a:r>
              <a:rPr spc="10" dirty="0"/>
              <a:t> </a:t>
            </a:r>
            <a:r>
              <a:rPr spc="5" dirty="0"/>
              <a:t>Python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1332993"/>
            <a:ext cx="12113796" cy="1176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765175" algn="l"/>
                <a:tab pos="1517015" algn="l"/>
                <a:tab pos="2489835" algn="l"/>
                <a:tab pos="3853815" algn="l"/>
                <a:tab pos="4354830" algn="l"/>
                <a:tab pos="4947920" algn="l"/>
                <a:tab pos="5537200" algn="l"/>
                <a:tab pos="6118860" algn="l"/>
                <a:tab pos="6735445" algn="l"/>
                <a:tab pos="7729855" algn="l"/>
                <a:tab pos="8134984" algn="l"/>
                <a:tab pos="8697595" algn="l"/>
                <a:tab pos="10175875" algn="l"/>
              </a:tabLst>
            </a:pPr>
            <a:r>
              <a:rPr sz="2400" spc="-3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writ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og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rams,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tex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edi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IDE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(Integ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ated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elopment  Environment),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Initially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going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Visual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Studio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Code.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editor,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save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ﬁrst</a:t>
            </a:r>
            <a:r>
              <a:rPr sz="2400" b="1" spc="15" dirty="0">
                <a:solidFill>
                  <a:srgbClr val="FF0000"/>
                </a:solidFill>
                <a:latin typeface="Roboto Cn"/>
                <a:cs typeface="Roboto Cn"/>
              </a:rPr>
              <a:t>.py</a:t>
            </a:r>
            <a:r>
              <a:rPr sz="2400" b="1" spc="25" dirty="0">
                <a:solidFill>
                  <a:srgbClr val="FF0000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(Extensions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programs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.py)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4" y="3486912"/>
            <a:ext cx="11637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run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command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prompt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change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directory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where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your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95" y="4855465"/>
            <a:ext cx="611051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Next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ru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comman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ﬁlename.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y)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605" y="3904099"/>
            <a:ext cx="4079756" cy="973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196" y="5287791"/>
            <a:ext cx="5429718" cy="50340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515508" y="2916640"/>
            <a:ext cx="4066848" cy="339090"/>
          </a:xfrm>
          <a:custGeom>
            <a:avLst/>
            <a:gdLst/>
            <a:ahLst/>
            <a:cxnLst/>
            <a:rect l="l" t="t" r="r" b="b"/>
            <a:pathLst>
              <a:path w="4034790" h="339089">
                <a:moveTo>
                  <a:pt x="4034390" y="338553"/>
                </a:moveTo>
                <a:lnTo>
                  <a:pt x="0" y="338553"/>
                </a:lnTo>
                <a:lnTo>
                  <a:pt x="0" y="0"/>
                </a:lnTo>
                <a:lnTo>
                  <a:pt x="4034390" y="0"/>
                </a:lnTo>
                <a:lnTo>
                  <a:pt x="4034390" y="33855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88533" y="2933911"/>
            <a:ext cx="3628417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"Hello</a:t>
            </a:r>
            <a:r>
              <a:rPr sz="1600" spc="-3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World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from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python"</a:t>
            </a:r>
            <a:r>
              <a:rPr sz="160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516" y="2916640"/>
            <a:ext cx="504356" cy="276358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5500" y="2587456"/>
            <a:ext cx="1793407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6688" y="2617334"/>
            <a:ext cx="580521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5" dirty="0">
                <a:solidFill>
                  <a:srgbClr val="FFFFFF"/>
                </a:solidFill>
                <a:latin typeface="Roboto"/>
                <a:cs typeface="Roboto"/>
              </a:rPr>
              <a:t>ﬁrst.</a:t>
            </a: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600" spc="-140" dirty="0">
                <a:solidFill>
                  <a:srgbClr val="FFFFFF"/>
                </a:solidFill>
                <a:latin typeface="Roboto"/>
                <a:cs typeface="Roboto"/>
              </a:rPr>
              <a:t>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9314" y="2863677"/>
            <a:ext cx="642606" cy="223520"/>
          </a:xfrm>
          <a:custGeom>
            <a:avLst/>
            <a:gdLst/>
            <a:ahLst/>
            <a:cxnLst/>
            <a:rect l="l" t="t" r="r" b="b"/>
            <a:pathLst>
              <a:path w="637539" h="223519">
                <a:moveTo>
                  <a:pt x="637504" y="0"/>
                </a:moveTo>
                <a:lnTo>
                  <a:pt x="0" y="223308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84331" y="2526070"/>
            <a:ext cx="4531521" cy="44563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line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doe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FF0000"/>
                </a:solidFill>
                <a:latin typeface="Roboto Cn"/>
                <a:cs typeface="Roboto Cn"/>
              </a:rPr>
              <a:t>;</a:t>
            </a:r>
            <a:endParaRPr sz="18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48970" y="3200401"/>
          <a:ext cx="11538229" cy="3259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6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222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Data </a:t>
                      </a:r>
                      <a:r>
                        <a:rPr sz="1900" b="1" spc="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Structures</a:t>
                      </a:r>
                      <a:endParaRPr sz="1900">
                        <a:latin typeface="Roboto Cn"/>
                        <a:cs typeface="Roboto C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5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List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8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list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Ordered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square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[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]</a:t>
                      </a:r>
                      <a:endParaRPr sz="2000" dirty="0">
                        <a:latin typeface="Roboto Cn"/>
                        <a:cs typeface="Roboto C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[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]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5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Tuple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tup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Ordered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immutable</a:t>
                      </a:r>
                      <a:r>
                        <a:rPr sz="2000" b="1" spc="3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round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(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)</a:t>
                      </a:r>
                      <a:endParaRPr sz="2000">
                        <a:latin typeface="Roboto Cn"/>
                        <a:cs typeface="Roboto C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)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50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14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set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Unordered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collection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unique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2000" spc="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curly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{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}</a:t>
                      </a:r>
                      <a:endParaRPr sz="2000">
                        <a:latin typeface="Roboto Cn"/>
                        <a:cs typeface="Roboto C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{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}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55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Dictionary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0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dict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Unordered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key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: </a:t>
                      </a: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value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pair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curly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{ }</a:t>
                      </a:r>
                      <a:endParaRPr sz="2000" dirty="0">
                        <a:latin typeface="Roboto Cn"/>
                        <a:cs typeface="Roboto C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{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colleg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cod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“054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}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6"/>
          <p:cNvSpPr txBox="1">
            <a:spLocks/>
          </p:cNvSpPr>
          <p:nvPr/>
        </p:nvSpPr>
        <p:spPr>
          <a:xfrm>
            <a:off x="838200" y="65650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642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dirty="0"/>
              <a:t> </a:t>
            </a:r>
            <a:r>
              <a:rPr spc="15" dirty="0"/>
              <a:t>types</a:t>
            </a:r>
            <a:r>
              <a:rPr spc="5" dirty="0"/>
              <a:t> </a:t>
            </a:r>
            <a:r>
              <a:rPr spc="10" dirty="0"/>
              <a:t>in</a:t>
            </a:r>
            <a:r>
              <a:rPr dirty="0"/>
              <a:t> </a:t>
            </a:r>
            <a:r>
              <a:rPr spc="5" dirty="0"/>
              <a:t>Python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488425"/>
              </p:ext>
            </p:extLst>
          </p:nvPr>
        </p:nvGraphicFramePr>
        <p:xfrm>
          <a:off x="356062" y="807942"/>
          <a:ext cx="11531137" cy="23162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0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4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Name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Type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43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Data</a:t>
                      </a:r>
                      <a:r>
                        <a:rPr sz="1900" b="1" spc="-7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900" b="1" spc="1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Types</a:t>
                      </a:r>
                      <a:endParaRPr sz="1900">
                        <a:latin typeface="Roboto Cn"/>
                        <a:cs typeface="Roboto C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4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Integer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Whol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numbe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suc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0,1,5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-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etc..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4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Float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3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ﬂoat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Numbers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decimal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points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such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as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1.5,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7.9,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-8.2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etc..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4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String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1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str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character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(Ordered)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such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as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“darshan”,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‘college</a:t>
                      </a:r>
                      <a:r>
                        <a:rPr sz="2000" spc="-114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’,</a:t>
                      </a:r>
                      <a:r>
                        <a:rPr sz="2000" spc="-4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5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lang="en-US" sz="2000" spc="-55">
                          <a:solidFill>
                            <a:srgbClr val="212121"/>
                          </a:solidFill>
                          <a:latin typeface="Nirmala UI"/>
                          <a:cs typeface="Nirmala UI"/>
                        </a:rPr>
                        <a:t>Rajkot</a:t>
                      </a:r>
                      <a:r>
                        <a:rPr sz="2000" spc="-55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spc="-4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etc..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4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Boolean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bool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Logical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values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indicating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-8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T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ure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-9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F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alse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(T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here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are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capital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python)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108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Variables</a:t>
            </a:r>
            <a:r>
              <a:rPr spc="-15" dirty="0"/>
              <a:t> </a:t>
            </a:r>
            <a:r>
              <a:rPr spc="10" dirty="0"/>
              <a:t>in</a:t>
            </a:r>
            <a:r>
              <a:rPr spc="-15" dirty="0"/>
              <a:t> </a:t>
            </a:r>
            <a:r>
              <a:rPr spc="5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2018305" cy="563102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ariable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ese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memo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location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alues.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Unlike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other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programming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languages,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command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declaring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variable.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variable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moment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ﬁrst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assign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it.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Dynami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ypin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so,</a:t>
            </a:r>
            <a:endParaRPr sz="2400">
              <a:latin typeface="Roboto"/>
              <a:cs typeface="Roboto"/>
            </a:endParaRPr>
          </a:p>
          <a:p>
            <a:pPr marL="852805" marR="5080" lvl="1" indent="-377825">
              <a:lnSpc>
                <a:spcPts val="2160"/>
              </a:lnSpc>
              <a:spcBef>
                <a:spcPts val="54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need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types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variable</a:t>
            </a:r>
            <a:r>
              <a:rPr sz="20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internally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assign</a:t>
            </a:r>
            <a:r>
              <a:rPr sz="20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variable </a:t>
            </a:r>
            <a:r>
              <a:rPr sz="2000" spc="-4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according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assigned.</a:t>
            </a:r>
            <a:endParaRPr sz="2000">
              <a:latin typeface="Roboto"/>
              <a:cs typeface="Roboto"/>
            </a:endParaRPr>
          </a:p>
          <a:p>
            <a:pPr marL="852805" marR="10795" lvl="1" indent="-377825">
              <a:lnSpc>
                <a:spcPts val="2160"/>
              </a:lnSpc>
              <a:spcBef>
                <a:spcPts val="50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reassign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different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same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variable,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variable</a:t>
            </a:r>
            <a:r>
              <a:rPr sz="20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change</a:t>
            </a:r>
            <a:r>
              <a:rPr sz="20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0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 </a:t>
            </a:r>
            <a:r>
              <a:rPr sz="2000" spc="-48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0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automatically.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2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check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current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variable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0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type(variablename)</a:t>
            </a:r>
            <a:r>
              <a:rPr sz="20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in-built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function.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Rule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ariable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name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85" dirty="0">
                <a:solidFill>
                  <a:srgbClr val="212121"/>
                </a:solidFill>
                <a:latin typeface="Roboto"/>
                <a:cs typeface="Roboto"/>
              </a:rPr>
              <a:t>Nam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sta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digit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Spac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allowed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contai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specia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cha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acter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ywo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allowed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Shoul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lower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6412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4" name="Picture 2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556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Example</a:t>
            </a:r>
            <a:r>
              <a:rPr dirty="0"/>
              <a:t> </a:t>
            </a:r>
            <a:r>
              <a:rPr spc="30" dirty="0"/>
              <a:t>of</a:t>
            </a:r>
            <a:r>
              <a:rPr spc="5" dirty="0"/>
              <a:t> Python </a:t>
            </a:r>
            <a:r>
              <a:rPr spc="20" dirty="0"/>
              <a:t>variable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/>
          <p:nvPr/>
        </p:nvSpPr>
        <p:spPr>
          <a:xfrm>
            <a:off x="1055169" y="1512070"/>
            <a:ext cx="8472805" cy="2585720"/>
          </a:xfrm>
          <a:custGeom>
            <a:avLst/>
            <a:gdLst/>
            <a:ahLst/>
            <a:cxnLst/>
            <a:rect l="l" t="t" r="r" b="b"/>
            <a:pathLst>
              <a:path w="8472805" h="2585720">
                <a:moveTo>
                  <a:pt x="8472275" y="2585322"/>
                </a:moveTo>
                <a:lnTo>
                  <a:pt x="0" y="2585322"/>
                </a:lnTo>
                <a:lnTo>
                  <a:pt x="0" y="0"/>
                </a:lnTo>
                <a:lnTo>
                  <a:pt x="8472275" y="0"/>
                </a:lnTo>
                <a:lnTo>
                  <a:pt x="8472275" y="258532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5169" y="1512070"/>
            <a:ext cx="8472805" cy="25857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  <a:p>
            <a:pPr marL="85725" marR="681672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print(x)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print(type(x))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y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123.456</a:t>
            </a: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print(y)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onsolas"/>
              <a:cs typeface="Consolas"/>
            </a:endParaRPr>
          </a:p>
          <a:p>
            <a:pPr marL="85725" marR="26936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nsolas"/>
                <a:cs typeface="Consolas"/>
              </a:rPr>
              <a:t>x =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 insitute of engneering and technology"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print(x)</a:t>
            </a: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print(type(x))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177" y="1512070"/>
            <a:ext cx="500380" cy="255460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8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9</a:t>
            </a:r>
            <a:endParaRPr sz="1600">
              <a:latin typeface="Consolas"/>
              <a:cs typeface="Consolas"/>
            </a:endParaRPr>
          </a:p>
          <a:p>
            <a:pPr marR="78105" algn="r">
              <a:lnSpc>
                <a:spcPct val="100000"/>
              </a:lnSpc>
            </a:pPr>
            <a:r>
              <a:rPr sz="1600" b="1" spc="-5" dirty="0">
                <a:solidFill>
                  <a:srgbClr val="575757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5167" y="1182886"/>
            <a:ext cx="1090930" cy="329565"/>
          </a:xfrm>
          <a:custGeom>
            <a:avLst/>
            <a:gdLst/>
            <a:ahLst/>
            <a:cxnLst/>
            <a:rect l="l" t="t" r="r" b="b"/>
            <a:pathLst>
              <a:path w="1090930" h="329565">
                <a:moveTo>
                  <a:pt x="1090554" y="329193"/>
                </a:moveTo>
                <a:lnTo>
                  <a:pt x="0" y="329179"/>
                </a:lnTo>
                <a:lnTo>
                  <a:pt x="9" y="54865"/>
                </a:lnTo>
                <a:lnTo>
                  <a:pt x="4320" y="33509"/>
                </a:lnTo>
                <a:lnTo>
                  <a:pt x="16078" y="16069"/>
                </a:lnTo>
                <a:lnTo>
                  <a:pt x="33518" y="4311"/>
                </a:lnTo>
                <a:lnTo>
                  <a:pt x="54874" y="0"/>
                </a:lnTo>
                <a:lnTo>
                  <a:pt x="1035693" y="0"/>
                </a:lnTo>
                <a:lnTo>
                  <a:pt x="1074489" y="16069"/>
                </a:lnTo>
                <a:lnTo>
                  <a:pt x="1090559" y="54865"/>
                </a:lnTo>
                <a:lnTo>
                  <a:pt x="1090554" y="329193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4" y="689221"/>
            <a:ext cx="5998505" cy="79311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582295">
              <a:lnSpc>
                <a:spcPct val="100000"/>
              </a:lnSpc>
              <a:spcBef>
                <a:spcPts val="495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2908" y="4475738"/>
            <a:ext cx="8472805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python</a:t>
            </a:r>
            <a:r>
              <a:rPr sz="1600" b="1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demo.py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916" y="4475738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2901" y="414655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9275" y="4176432"/>
            <a:ext cx="1224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Ru</a:t>
            </a: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terminal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2018" y="5224040"/>
            <a:ext cx="8472805" cy="13239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  <a:p>
            <a:pPr marL="85725" marR="7597775">
              <a:lnSpc>
                <a:spcPct val="100000"/>
              </a:lnSpc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int 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123.456</a:t>
            </a:r>
            <a:endParaRPr sz="1600">
              <a:latin typeface="Consolas"/>
              <a:cs typeface="Consolas"/>
            </a:endParaRPr>
          </a:p>
          <a:p>
            <a:pPr marL="85725" marR="3140710">
              <a:lnSpc>
                <a:spcPct val="100000"/>
              </a:lnSpc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Darshan institute of engineering and technology </a:t>
            </a:r>
            <a:r>
              <a:rPr sz="1600" b="1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str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026" y="5224040"/>
            <a:ext cx="500380" cy="132397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2011" y="489485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69397" y="4924734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39676" y="1696557"/>
            <a:ext cx="2626360" cy="349885"/>
          </a:xfrm>
          <a:custGeom>
            <a:avLst/>
            <a:gdLst/>
            <a:ahLst/>
            <a:cxnLst/>
            <a:rect l="l" t="t" r="r" b="b"/>
            <a:pathLst>
              <a:path w="2626360" h="349885">
                <a:moveTo>
                  <a:pt x="2625856" y="349730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84700" y="1803400"/>
            <a:ext cx="4889500" cy="372538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745"/>
              </a:spcBef>
            </a:pPr>
            <a:r>
              <a:rPr sz="1800" spc="-130" dirty="0">
                <a:solidFill>
                  <a:srgbClr val="FF0000"/>
                </a:solidFill>
                <a:latin typeface="Roboto"/>
                <a:cs typeface="Roboto"/>
              </a:rPr>
              <a:t>Reassign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Roboto"/>
                <a:cs typeface="Roboto"/>
              </a:rPr>
              <a:t>same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Roboto"/>
                <a:cs typeface="Roboto"/>
              </a:rPr>
              <a:t>variable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Roboto"/>
                <a:cs typeface="Roboto"/>
              </a:rPr>
              <a:t>to</a:t>
            </a:r>
            <a:r>
              <a:rPr sz="1800" spc="-35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FF0000"/>
                </a:solidFill>
                <a:latin typeface="Roboto"/>
                <a:cs typeface="Roboto"/>
              </a:rPr>
              <a:t>hold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Roboto"/>
                <a:cs typeface="Roboto"/>
              </a:rPr>
              <a:t>different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FF0000"/>
                </a:solidFill>
                <a:latin typeface="Roboto"/>
                <a:cs typeface="Roboto"/>
              </a:rPr>
              <a:t>data</a:t>
            </a:r>
            <a:r>
              <a:rPr sz="1800" spc="-40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FF0000"/>
                </a:solidFill>
                <a:latin typeface="Roboto"/>
                <a:cs typeface="Roboto"/>
              </a:rPr>
              <a:t>type</a:t>
            </a:r>
            <a:endParaRPr sz="1800">
              <a:solidFill>
                <a:srgbClr val="FF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94100" y="2044700"/>
            <a:ext cx="990600" cy="1193800"/>
          </a:xfrm>
          <a:custGeom>
            <a:avLst/>
            <a:gdLst/>
            <a:ahLst/>
            <a:cxnLst/>
            <a:rect l="l" t="t" r="r" b="b"/>
            <a:pathLst>
              <a:path w="990600" h="1193800">
                <a:moveTo>
                  <a:pt x="0" y="1193699"/>
                </a:moveTo>
                <a:lnTo>
                  <a:pt x="990599" y="0"/>
                </a:lnTo>
              </a:path>
            </a:pathLst>
          </a:custGeom>
          <a:ln w="952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12" name="Picture 1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251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in</a:t>
            </a:r>
            <a:r>
              <a:rPr spc="-10" dirty="0"/>
              <a:t> python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/>
          <p:nvPr/>
        </p:nvSpPr>
        <p:spPr>
          <a:xfrm>
            <a:off x="452434" y="4255263"/>
            <a:ext cx="10869930" cy="1569720"/>
          </a:xfrm>
          <a:custGeom>
            <a:avLst/>
            <a:gdLst/>
            <a:ahLst/>
            <a:cxnLst/>
            <a:rect l="l" t="t" r="r" b="b"/>
            <a:pathLst>
              <a:path w="10869930" h="1569720">
                <a:moveTo>
                  <a:pt x="10869685" y="1569659"/>
                </a:moveTo>
                <a:lnTo>
                  <a:pt x="0" y="1569659"/>
                </a:lnTo>
                <a:lnTo>
                  <a:pt x="0" y="0"/>
                </a:lnTo>
                <a:lnTo>
                  <a:pt x="10869685" y="0"/>
                </a:lnTo>
                <a:lnTo>
                  <a:pt x="10869685" y="15696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661346"/>
              </p:ext>
            </p:extLst>
          </p:nvPr>
        </p:nvGraphicFramePr>
        <p:xfrm>
          <a:off x="463547" y="4381684"/>
          <a:ext cx="9250035" cy="1443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5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2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703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h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301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index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5900" algn="r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marL="74295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Reverse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index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3335"/>
                        </a:lnSpc>
                      </a:pPr>
                      <a:r>
                        <a:rPr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3335"/>
                        </a:lnSpc>
                      </a:pPr>
                      <a:r>
                        <a:rPr lang="en-US" sz="3200" b="1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-7</a:t>
                      </a:r>
                      <a:endParaRPr sz="32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-6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-5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-4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-3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6680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-2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3335"/>
                        </a:lnSpc>
                      </a:pPr>
                      <a:r>
                        <a:rPr sz="3200" b="1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52422" y="3926080"/>
            <a:ext cx="1551305" cy="329565"/>
          </a:xfrm>
          <a:custGeom>
            <a:avLst/>
            <a:gdLst/>
            <a:ahLst/>
            <a:cxnLst/>
            <a:rect l="l" t="t" r="r" b="b"/>
            <a:pathLst>
              <a:path w="1551305" h="329564">
                <a:moveTo>
                  <a:pt x="1551033" y="329196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2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496173" y="0"/>
                </a:lnTo>
                <a:lnTo>
                  <a:pt x="1534969" y="16069"/>
                </a:lnTo>
                <a:lnTo>
                  <a:pt x="1551038" y="54864"/>
                </a:lnTo>
                <a:lnTo>
                  <a:pt x="1551033" y="32919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695" y="756967"/>
            <a:ext cx="11763375" cy="346837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Ordered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Sequence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of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character</a:t>
            </a:r>
            <a:r>
              <a:rPr sz="2400" b="1" spc="7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“darshan”,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‘college’,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“</a:t>
            </a:r>
            <a:r>
              <a:rPr sz="2400" spc="-70" dirty="0">
                <a:solidFill>
                  <a:srgbClr val="212121"/>
                </a:solidFill>
                <a:latin typeface="Nirmala UI"/>
                <a:cs typeface="Nirmala UI"/>
              </a:rPr>
              <a:t>રાજકોટ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”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etc..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Strings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arrays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of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bytes</a:t>
            </a:r>
            <a:r>
              <a:rPr sz="2400" b="1" spc="4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representing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Unicode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characters.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represented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single,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double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triple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quotes.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triple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Quotes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allows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multiple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lines.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Strin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ytho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immutabl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string,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Ex.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“Darshan”[1]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a,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characters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reverse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like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“Darshan”[-1]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n.</a:t>
            </a:r>
            <a:endParaRPr sz="2400">
              <a:latin typeface="Roboto"/>
              <a:cs typeface="Roboto"/>
            </a:endParaRPr>
          </a:p>
          <a:p>
            <a:pPr marL="579755">
              <a:lnSpc>
                <a:spcPct val="100000"/>
              </a:lnSpc>
              <a:spcBef>
                <a:spcPts val="100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Strin</a:t>
            </a: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index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785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5" dirty="0"/>
              <a:t> </a:t>
            </a:r>
            <a:r>
              <a:rPr spc="15" dirty="0"/>
              <a:t>functions</a:t>
            </a:r>
            <a:r>
              <a:rPr spc="5" dirty="0"/>
              <a:t> </a:t>
            </a:r>
            <a:r>
              <a:rPr spc="10" dirty="0"/>
              <a:t>in</a:t>
            </a:r>
            <a:r>
              <a:rPr spc="5" dirty="0"/>
              <a:t> </a:t>
            </a:r>
            <a:r>
              <a:rPr spc="-10" dirty="0"/>
              <a:t>python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/>
          <p:nvPr/>
        </p:nvSpPr>
        <p:spPr>
          <a:xfrm>
            <a:off x="1022629" y="5586994"/>
            <a:ext cx="8472805" cy="584835"/>
          </a:xfrm>
          <a:custGeom>
            <a:avLst/>
            <a:gdLst/>
            <a:ahLst/>
            <a:cxnLst/>
            <a:rect l="l" t="t" r="r" b="b"/>
            <a:pathLst>
              <a:path w="8472805" h="584835">
                <a:moveTo>
                  <a:pt x="8472272" y="0"/>
                </a:moveTo>
                <a:lnTo>
                  <a:pt x="0" y="0"/>
                </a:lnTo>
                <a:lnTo>
                  <a:pt x="0" y="431025"/>
                </a:lnTo>
                <a:lnTo>
                  <a:pt x="0" y="584771"/>
                </a:lnTo>
                <a:lnTo>
                  <a:pt x="8472272" y="584771"/>
                </a:lnTo>
                <a:lnTo>
                  <a:pt x="8472272" y="431025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5660" y="5604257"/>
            <a:ext cx="14763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print(len(x))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641" y="5586984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627" y="525780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5" y="847391"/>
            <a:ext cx="12018305" cy="471731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lots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built-in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strings,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going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>
                <a:solidFill>
                  <a:srgbClr val="212121"/>
                </a:solidFill>
                <a:latin typeface="Roboto"/>
                <a:cs typeface="Roboto"/>
              </a:rPr>
              <a:t>cover</a:t>
            </a:r>
            <a:r>
              <a:rPr sz="2400" spc="-1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endParaRPr lang="en-US" sz="2400" spc="-155" dirty="0">
              <a:solidFill>
                <a:srgbClr val="212121"/>
              </a:solidFill>
              <a:latin typeface="Roboto"/>
              <a:cs typeface="Roboto"/>
            </a:endParaRPr>
          </a:p>
          <a:p>
            <a:pPr marL="765175" marR="5080" lvl="1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tabLst>
                <a:tab pos="308610" algn="l"/>
              </a:tabLst>
            </a:pPr>
            <a:r>
              <a:rPr sz="2400" spc="-195">
                <a:solidFill>
                  <a:srgbClr val="212121"/>
                </a:solidFill>
                <a:latin typeface="Roboto"/>
                <a:cs typeface="Roboto"/>
              </a:rPr>
              <a:t>some </a:t>
            </a:r>
            <a:r>
              <a:rPr sz="2400" spc="-58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frequently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like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2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5" dirty="0">
                <a:solidFill>
                  <a:srgbClr val="C00000"/>
                </a:solidFill>
                <a:latin typeface="Roboto Cn"/>
                <a:cs typeface="Roboto Cn"/>
              </a:rPr>
              <a:t>len()</a:t>
            </a:r>
            <a:endParaRPr sz="20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count()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capitali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z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e()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lower(),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upper()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istitle(),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islower(),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isupper()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ﬁnd()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rﬁnd()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eplace()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index(),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rindex()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alidations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55" dirty="0">
                <a:solidFill>
                  <a:srgbClr val="212121"/>
                </a:solidFill>
                <a:latin typeface="Roboto"/>
                <a:cs typeface="Roboto"/>
              </a:rPr>
              <a:t>li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9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isalpha(),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isalnum(),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isdecimal(),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isdigit()</a:t>
            </a:r>
            <a:endParaRPr sz="18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4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strip()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lstrip(),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>
                <a:solidFill>
                  <a:srgbClr val="212121"/>
                </a:solidFill>
                <a:latin typeface="Roboto"/>
                <a:cs typeface="Roboto"/>
              </a:rPr>
              <a:t>rstrip()</a:t>
            </a:r>
            <a:r>
              <a:rPr lang="en-US" sz="2000" spc="-90" dirty="0">
                <a:solidFill>
                  <a:srgbClr val="212121"/>
                </a:solidFill>
                <a:latin typeface="Roboto"/>
                <a:cs typeface="Roboto"/>
              </a:rPr>
              <a:t> ,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Etc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..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Note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len()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length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endParaRPr sz="2400">
              <a:latin typeface="Roboto"/>
              <a:cs typeface="Roboto"/>
            </a:endParaRPr>
          </a:p>
          <a:p>
            <a:pPr marL="774065">
              <a:lnSpc>
                <a:spcPct val="100000"/>
              </a:lnSpc>
              <a:spcBef>
                <a:spcPts val="128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lendemo.py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5522" y="5385125"/>
            <a:ext cx="5173980" cy="639445"/>
            <a:chOff x="2685522" y="5609523"/>
            <a:chExt cx="5173980" cy="639445"/>
          </a:xfrm>
        </p:grpSpPr>
        <p:sp>
          <p:nvSpPr>
            <p:cNvPr id="9" name="object 9"/>
            <p:cNvSpPr/>
            <p:nvPr/>
          </p:nvSpPr>
          <p:spPr>
            <a:xfrm>
              <a:off x="3356891" y="5615873"/>
              <a:ext cx="4495800" cy="626745"/>
            </a:xfrm>
            <a:custGeom>
              <a:avLst/>
              <a:gdLst/>
              <a:ahLst/>
              <a:cxnLst/>
              <a:rect l="l" t="t" r="r" b="b"/>
              <a:pathLst>
                <a:path w="4495800" h="626745">
                  <a:moveTo>
                    <a:pt x="4495799" y="626533"/>
                  </a:moveTo>
                  <a:lnTo>
                    <a:pt x="0" y="626533"/>
                  </a:lnTo>
                  <a:lnTo>
                    <a:pt x="0" y="0"/>
                  </a:lnTo>
                  <a:lnTo>
                    <a:pt x="4495799" y="0"/>
                  </a:lnTo>
                  <a:lnTo>
                    <a:pt x="4495799" y="62653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1872" y="5615873"/>
              <a:ext cx="5161280" cy="626745"/>
            </a:xfrm>
            <a:custGeom>
              <a:avLst/>
              <a:gdLst/>
              <a:ahLst/>
              <a:cxnLst/>
              <a:rect l="l" t="t" r="r" b="b"/>
              <a:pathLst>
                <a:path w="5161280" h="626745">
                  <a:moveTo>
                    <a:pt x="665018" y="0"/>
                  </a:moveTo>
                  <a:lnTo>
                    <a:pt x="5160818" y="0"/>
                  </a:lnTo>
                  <a:lnTo>
                    <a:pt x="5160818" y="626533"/>
                  </a:lnTo>
                  <a:lnTo>
                    <a:pt x="665018" y="626533"/>
                  </a:lnTo>
                  <a:lnTo>
                    <a:pt x="665018" y="0"/>
                  </a:lnTo>
                  <a:close/>
                </a:path>
                <a:path w="5161280" h="626745">
                  <a:moveTo>
                    <a:pt x="637504" y="337607"/>
                  </a:moveTo>
                  <a:lnTo>
                    <a:pt x="0" y="560916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63240" y="5586984"/>
            <a:ext cx="4483100" cy="4248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35"/>
              </a:lnSpc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7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(lengt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“Darsha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”)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7" name="Picture 2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328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2672127"/>
            <a:ext cx="11426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title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(),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lower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(),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upper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capitalized,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lower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upper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respectively.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634" y="1598978"/>
            <a:ext cx="8472805" cy="858519"/>
          </a:xfrm>
          <a:custGeom>
            <a:avLst/>
            <a:gdLst/>
            <a:ahLst/>
            <a:cxnLst/>
            <a:rect l="l" t="t" r="r" b="b"/>
            <a:pathLst>
              <a:path w="8472805" h="858519">
                <a:moveTo>
                  <a:pt x="8472275" y="858470"/>
                </a:moveTo>
                <a:lnTo>
                  <a:pt x="0" y="858470"/>
                </a:lnTo>
                <a:lnTo>
                  <a:pt x="0" y="0"/>
                </a:lnTo>
                <a:lnTo>
                  <a:pt x="8472275" y="0"/>
                </a:lnTo>
                <a:lnTo>
                  <a:pt x="8472275" y="85847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22634" y="1598978"/>
            <a:ext cx="8472805" cy="85851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</a:t>
            </a:r>
            <a:endParaRPr sz="1600">
              <a:latin typeface="Consolas"/>
              <a:cs typeface="Consolas"/>
            </a:endParaRPr>
          </a:p>
          <a:p>
            <a:pPr marL="85725" marR="647954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ca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x.count(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'a'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print(ca)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641" y="1598978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627" y="126979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3695" y="717607"/>
            <a:ext cx="10348595" cy="85153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count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times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occurs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string.</a:t>
            </a:r>
            <a:endParaRPr sz="2400">
              <a:latin typeface="Roboto"/>
              <a:cs typeface="Roboto"/>
            </a:endParaRPr>
          </a:p>
          <a:p>
            <a:pPr marL="668020">
              <a:lnSpc>
                <a:spcPct val="100000"/>
              </a:lnSpc>
              <a:spcBef>
                <a:spcPts val="68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countdemo.py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5150" y="2017302"/>
            <a:ext cx="1475740" cy="280670"/>
          </a:xfrm>
          <a:custGeom>
            <a:avLst/>
            <a:gdLst/>
            <a:ahLst/>
            <a:cxnLst/>
            <a:rect l="l" t="t" r="r" b="b"/>
            <a:pathLst>
              <a:path w="1475739" h="280669">
                <a:moveTo>
                  <a:pt x="1475701" y="0"/>
                </a:moveTo>
                <a:lnTo>
                  <a:pt x="0" y="28046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28365" y="1679694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(occur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enc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‘</a:t>
            </a:r>
            <a:r>
              <a:rPr sz="18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“Darsha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”)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1471" y="3826759"/>
            <a:ext cx="8472805" cy="1847214"/>
          </a:xfrm>
          <a:custGeom>
            <a:avLst/>
            <a:gdLst/>
            <a:ahLst/>
            <a:cxnLst/>
            <a:rect l="l" t="t" r="r" b="b"/>
            <a:pathLst>
              <a:path w="8472805" h="1847214">
                <a:moveTo>
                  <a:pt x="8472275" y="1846658"/>
                </a:moveTo>
                <a:lnTo>
                  <a:pt x="0" y="1846658"/>
                </a:lnTo>
                <a:lnTo>
                  <a:pt x="0" y="0"/>
                </a:lnTo>
                <a:lnTo>
                  <a:pt x="8472275" y="0"/>
                </a:lnTo>
                <a:lnTo>
                  <a:pt x="8472275" y="184665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1471" y="3826759"/>
            <a:ext cx="8472805" cy="184721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4922520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</a:t>
            </a:r>
            <a:r>
              <a:rPr sz="1600" spc="-3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rajkot"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x.title()</a:t>
            </a:r>
            <a:endParaRPr sz="1600">
              <a:latin typeface="Consolas"/>
              <a:cs typeface="Consolas"/>
            </a:endParaRPr>
          </a:p>
          <a:p>
            <a:pPr marL="85725" marR="6928484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l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x.lower()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u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x.upper()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print(c)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print(l)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print(u)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477" y="3826759"/>
            <a:ext cx="500380" cy="181610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1463" y="349757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8779" y="3527454"/>
            <a:ext cx="1222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changecase.py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69331" y="4192786"/>
            <a:ext cx="2626995" cy="769620"/>
          </a:xfrm>
          <a:custGeom>
            <a:avLst/>
            <a:gdLst/>
            <a:ahLst/>
            <a:cxnLst/>
            <a:rect l="l" t="t" r="r" b="b"/>
            <a:pathLst>
              <a:path w="2626995" h="769620">
                <a:moveTo>
                  <a:pt x="2626401" y="0"/>
                </a:moveTo>
                <a:lnTo>
                  <a:pt x="0" y="769517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23246" y="3917751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Darshan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Institute,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Rajkot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67619" y="4776701"/>
            <a:ext cx="2626995" cy="441325"/>
          </a:xfrm>
          <a:custGeom>
            <a:avLst/>
            <a:gdLst/>
            <a:ahLst/>
            <a:cxnLst/>
            <a:rect l="l" t="t" r="r" b="b"/>
            <a:pathLst>
              <a:path w="2626995" h="441325">
                <a:moveTo>
                  <a:pt x="2626401" y="0"/>
                </a:moveTo>
                <a:lnTo>
                  <a:pt x="0" y="440745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21535" y="4501665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institute,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65909" y="5360615"/>
            <a:ext cx="2647315" cy="91440"/>
          </a:xfrm>
          <a:custGeom>
            <a:avLst/>
            <a:gdLst/>
            <a:ahLst/>
            <a:cxnLst/>
            <a:rect l="l" t="t" r="r" b="b"/>
            <a:pathLst>
              <a:path w="2647315" h="91439">
                <a:moveTo>
                  <a:pt x="2646947" y="0"/>
                </a:moveTo>
                <a:lnTo>
                  <a:pt x="0" y="91424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40371" y="5085579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21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ARS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INST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TUTE</a:t>
            </a:r>
            <a:r>
              <a:rPr sz="1800" spc="-4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RAJ</a:t>
            </a:r>
            <a:r>
              <a:rPr sz="1800" spc="-18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18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8" name="Picture 2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870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5738415"/>
            <a:ext cx="11484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7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rstrip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lstrip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remove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whitespaces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right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left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side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respectively.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5701" y="4771861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29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1426" y="4789134"/>
            <a:ext cx="2243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1115695" algn="l"/>
                <a:tab pos="211836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'	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Darsha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n	'  </a:t>
            </a:r>
            <a:r>
              <a:rPr sz="1600" dirty="0">
                <a:latin typeface="Consolas"/>
                <a:cs typeface="Consolas"/>
              </a:rPr>
              <a:t>f = </a:t>
            </a:r>
            <a:r>
              <a:rPr sz="1600" spc="-5" dirty="0">
                <a:latin typeface="Consolas"/>
                <a:cs typeface="Consolas"/>
              </a:rPr>
              <a:t>x.strip()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print(f)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709" y="4771861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5694" y="4442678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3695" y="3913679"/>
            <a:ext cx="11114405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strip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remove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whitespaces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side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string.</a:t>
            </a:r>
            <a:endParaRPr sz="2400">
              <a:latin typeface="Roboto"/>
              <a:cs typeface="Roboto"/>
            </a:endParaRPr>
          </a:p>
          <a:p>
            <a:pPr marL="696595">
              <a:lnSpc>
                <a:spcPct val="100000"/>
              </a:lnSpc>
              <a:spcBef>
                <a:spcPts val="152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stripdemo.py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8217" y="5190185"/>
            <a:ext cx="1475740" cy="280670"/>
          </a:xfrm>
          <a:custGeom>
            <a:avLst/>
            <a:gdLst/>
            <a:ahLst/>
            <a:cxnLst/>
            <a:rect l="l" t="t" r="r" b="b"/>
            <a:pathLst>
              <a:path w="1475739" h="280670">
                <a:moveTo>
                  <a:pt x="1475701" y="0"/>
                </a:moveTo>
                <a:lnTo>
                  <a:pt x="0" y="28046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11432" y="4852577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16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(withou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space)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1471" y="1964092"/>
            <a:ext cx="8472805" cy="1847214"/>
          </a:xfrm>
          <a:custGeom>
            <a:avLst/>
            <a:gdLst/>
            <a:ahLst/>
            <a:cxnLst/>
            <a:rect l="l" t="t" r="r" b="b"/>
            <a:pathLst>
              <a:path w="8472805" h="1847214">
                <a:moveTo>
                  <a:pt x="8472275" y="1846658"/>
                </a:moveTo>
                <a:lnTo>
                  <a:pt x="0" y="1846658"/>
                </a:lnTo>
                <a:lnTo>
                  <a:pt x="0" y="0"/>
                </a:lnTo>
                <a:lnTo>
                  <a:pt x="8472275" y="0"/>
                </a:lnTo>
                <a:lnTo>
                  <a:pt x="8472275" y="184665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1471" y="1964092"/>
            <a:ext cx="8472805" cy="184721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4922520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</a:t>
            </a:r>
            <a:r>
              <a:rPr sz="1600" spc="-3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rajkot'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x.istitle()</a:t>
            </a:r>
            <a:endParaRPr sz="1600">
              <a:latin typeface="Consolas"/>
              <a:cs typeface="Consolas"/>
            </a:endParaRPr>
          </a:p>
          <a:p>
            <a:pPr marL="85725" marR="67056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l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x.islower()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u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x.isupper()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print(c)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print(l)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print(u)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477" y="1964092"/>
            <a:ext cx="500380" cy="181610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1463" y="1634908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847391"/>
            <a:ext cx="11762740" cy="11342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istitle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(),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islower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(),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isupper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True</a:t>
            </a:r>
            <a:r>
              <a:rPr sz="2400" spc="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capitalized</a:t>
            </a:r>
            <a:r>
              <a:rPr sz="2400" spc="-125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1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endParaRPr lang="en-US" sz="2400" spc="170" dirty="0">
              <a:solidFill>
                <a:srgbClr val="212121"/>
              </a:solidFill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145">
                <a:solidFill>
                  <a:srgbClr val="212121"/>
                </a:solidFill>
                <a:latin typeface="Roboto"/>
                <a:cs typeface="Roboto"/>
              </a:rPr>
              <a:t>lower</a:t>
            </a:r>
            <a:r>
              <a:rPr sz="2400" spc="1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upper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respectively.</a:t>
            </a:r>
            <a:endParaRPr sz="2400">
              <a:latin typeface="Roboto"/>
              <a:cs typeface="Roboto"/>
            </a:endParaRPr>
          </a:p>
          <a:p>
            <a:pPr marL="713740">
              <a:lnSpc>
                <a:spcPct val="100000"/>
              </a:lnSpc>
              <a:spcBef>
                <a:spcPts val="93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checkcase.py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69331" y="2330120"/>
            <a:ext cx="2626995" cy="769620"/>
          </a:xfrm>
          <a:custGeom>
            <a:avLst/>
            <a:gdLst/>
            <a:ahLst/>
            <a:cxnLst/>
            <a:rect l="l" t="t" r="r" b="b"/>
            <a:pathLst>
              <a:path w="2626995" h="769619">
                <a:moveTo>
                  <a:pt x="2626401" y="0"/>
                </a:moveTo>
                <a:lnTo>
                  <a:pt x="0" y="769517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23246" y="2055085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8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alse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67619" y="2914035"/>
            <a:ext cx="2626995" cy="441325"/>
          </a:xfrm>
          <a:custGeom>
            <a:avLst/>
            <a:gdLst/>
            <a:ahLst/>
            <a:cxnLst/>
            <a:rect l="l" t="t" r="r" b="b"/>
            <a:pathLst>
              <a:path w="2626995" h="441325">
                <a:moveTo>
                  <a:pt x="2626401" y="0"/>
                </a:moveTo>
                <a:lnTo>
                  <a:pt x="0" y="440745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21535" y="2638999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229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rue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65909" y="3497949"/>
            <a:ext cx="2647315" cy="91440"/>
          </a:xfrm>
          <a:custGeom>
            <a:avLst/>
            <a:gdLst/>
            <a:ahLst/>
            <a:cxnLst/>
            <a:rect l="l" t="t" r="r" b="b"/>
            <a:pathLst>
              <a:path w="2647315" h="91439">
                <a:moveTo>
                  <a:pt x="2646947" y="0"/>
                </a:moveTo>
                <a:lnTo>
                  <a:pt x="0" y="91424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40371" y="3222913"/>
            <a:ext cx="4495800" cy="51054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8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alse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651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grpSp>
        <p:nvGrpSpPr>
          <p:cNvPr id="15" name="object 15"/>
          <p:cNvGrpSpPr/>
          <p:nvPr/>
        </p:nvGrpSpPr>
        <p:grpSpPr>
          <a:xfrm>
            <a:off x="522641" y="1598978"/>
            <a:ext cx="8972550" cy="862330"/>
            <a:chOff x="522641" y="1598978"/>
            <a:chExt cx="8972550" cy="862330"/>
          </a:xfrm>
        </p:grpSpPr>
        <p:sp>
          <p:nvSpPr>
            <p:cNvPr id="16" name="object 16"/>
            <p:cNvSpPr/>
            <p:nvPr/>
          </p:nvSpPr>
          <p:spPr>
            <a:xfrm>
              <a:off x="1022634" y="1598978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30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2641" y="1598978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2516" y="1616250"/>
            <a:ext cx="4544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>
                <a:latin typeface="Consolas"/>
                <a:cs typeface="Consolas"/>
              </a:rPr>
              <a:t>=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ANTRIX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vastrapur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,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ahmedabad</a:t>
            </a:r>
            <a:r>
              <a:rPr sz="1600" spc="-5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f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x.find(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print(f)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2627" y="126979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3695" y="717607"/>
            <a:ext cx="11584940" cy="85153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7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ﬁnd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search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endParaRPr sz="2400">
              <a:latin typeface="Roboto"/>
              <a:cs typeface="Roboto"/>
            </a:endParaRPr>
          </a:p>
          <a:p>
            <a:pPr marL="744855">
              <a:lnSpc>
                <a:spcPct val="100000"/>
              </a:lnSpc>
              <a:spcBef>
                <a:spcPts val="68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ﬁnddemo.py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64247" y="2025768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94232" y="1688160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(occur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enc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‘i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x)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641" y="3427777"/>
            <a:ext cx="8972550" cy="862330"/>
            <a:chOff x="522641" y="3427777"/>
            <a:chExt cx="8972550" cy="862330"/>
          </a:xfrm>
        </p:grpSpPr>
        <p:sp>
          <p:nvSpPr>
            <p:cNvPr id="24" name="object 24"/>
            <p:cNvSpPr/>
            <p:nvPr/>
          </p:nvSpPr>
          <p:spPr>
            <a:xfrm>
              <a:off x="1022634" y="3427777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29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2641" y="3427777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2516" y="3445049"/>
            <a:ext cx="4544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>
                <a:latin typeface="Consolas"/>
                <a:cs typeface="Consolas"/>
              </a:rPr>
              <a:t>=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ANTRIX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vastrapur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,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ahmedabad</a:t>
            </a:r>
            <a:r>
              <a:rPr sz="1600" spc="-5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r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x.rfind(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print(r)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2627" y="309859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3695" y="2536249"/>
            <a:ext cx="11218545" cy="861694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rﬁnd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search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last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endParaRPr sz="2400">
              <a:latin typeface="Roboto"/>
              <a:cs typeface="Roboto"/>
            </a:endParaRPr>
          </a:p>
          <a:p>
            <a:pPr marL="713740">
              <a:lnSpc>
                <a:spcPct val="100000"/>
              </a:lnSpc>
              <a:spcBef>
                <a:spcPts val="71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rﬁnddemo.py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64247" y="3854567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794232" y="3516960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7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(las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occur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enc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‘i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x)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2516" y="5872480"/>
            <a:ext cx="4544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>
                <a:latin typeface="Consolas"/>
                <a:cs typeface="Consolas"/>
              </a:rPr>
              <a:t>=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ANTRIX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vastrapur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,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ahmedabad</a:t>
            </a:r>
            <a:r>
              <a:rPr sz="1600" spc="-5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r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x.replace(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'india'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'INDIA'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print(r)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2627" y="5517558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3695" y="4191000"/>
            <a:ext cx="9896475" cy="12522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Note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ﬁnd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rﬁnd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return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0" dirty="0">
                <a:solidFill>
                  <a:srgbClr val="212121"/>
                </a:solidFill>
                <a:latin typeface="Roboto Cn"/>
                <a:cs typeface="Roboto Cn"/>
              </a:rPr>
              <a:t>-1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string.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replace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replace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str1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str2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our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updated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endParaRPr sz="2400">
              <a:latin typeface="Roboto"/>
              <a:cs typeface="Roboto"/>
            </a:endParaRPr>
          </a:p>
          <a:p>
            <a:pPr marL="600075">
              <a:lnSpc>
                <a:spcPct val="100000"/>
              </a:lnSpc>
              <a:spcBef>
                <a:spcPts val="55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replacedemo.py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64247" y="6281998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94232" y="5944390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4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“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institute,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ajkot,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IND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I</a:t>
            </a:r>
            <a:r>
              <a:rPr sz="1800" spc="-21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”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41" name="Picture 4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5" name="Picture 2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937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5155231"/>
            <a:ext cx="1178306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ﬁnd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index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almost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same,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only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difference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2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ﬁnd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unable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30" dirty="0">
                <a:solidFill>
                  <a:srgbClr val="212121"/>
                </a:solidFill>
                <a:latin typeface="Roboto"/>
                <a:cs typeface="Roboto"/>
              </a:rPr>
              <a:t>-1</a:t>
            </a:r>
            <a:r>
              <a:rPr sz="2400" spc="-3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index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raise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exception.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2641" y="1895324"/>
            <a:ext cx="8972550" cy="862330"/>
            <a:chOff x="522641" y="1895324"/>
            <a:chExt cx="8972550" cy="862330"/>
          </a:xfrm>
        </p:grpSpPr>
        <p:sp>
          <p:nvSpPr>
            <p:cNvPr id="5" name="object 5"/>
            <p:cNvSpPr/>
            <p:nvPr/>
          </p:nvSpPr>
          <p:spPr>
            <a:xfrm>
              <a:off x="1022634" y="1895324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30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641" y="1895324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2516" y="1912596"/>
            <a:ext cx="4544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>
                <a:latin typeface="Consolas"/>
                <a:cs typeface="Consolas"/>
              </a:rPr>
              <a:t>=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ANTRIX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vastrapur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,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ahmedabad</a:t>
            </a:r>
            <a:r>
              <a:rPr sz="1600" spc="-5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f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x.index(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print(f)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627" y="1566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810895"/>
            <a:ext cx="12018305" cy="1017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index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3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3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search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3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at</a:t>
            </a:r>
            <a:r>
              <a:rPr sz="2400" spc="3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3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value,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unable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raise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exception.</a:t>
            </a:r>
            <a:endParaRPr sz="2400">
              <a:latin typeface="Roboto"/>
              <a:cs typeface="Roboto"/>
            </a:endParaRPr>
          </a:p>
          <a:p>
            <a:pPr marL="680085">
              <a:lnSpc>
                <a:spcPct val="100000"/>
              </a:lnSpc>
              <a:spcBef>
                <a:spcPts val="39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indexdemo.py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64247" y="2322113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94232" y="1984505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(occur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enc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‘i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x)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2641" y="4139005"/>
            <a:ext cx="8972550" cy="862330"/>
            <a:chOff x="522641" y="4139005"/>
            <a:chExt cx="8972550" cy="862330"/>
          </a:xfrm>
        </p:grpSpPr>
        <p:sp>
          <p:nvSpPr>
            <p:cNvPr id="13" name="object 13"/>
            <p:cNvSpPr/>
            <p:nvPr/>
          </p:nvSpPr>
          <p:spPr>
            <a:xfrm>
              <a:off x="1022634" y="4139005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29">
                  <a:moveTo>
                    <a:pt x="8472275" y="861774"/>
                  </a:moveTo>
                  <a:lnTo>
                    <a:pt x="0" y="861774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2641" y="4139005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7"/>
                  </a:moveTo>
                  <a:lnTo>
                    <a:pt x="0" y="83099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2516" y="4156278"/>
            <a:ext cx="4544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>
                <a:latin typeface="Consolas"/>
                <a:cs typeface="Consolas"/>
              </a:rPr>
              <a:t>=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ANTRIX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vastrapur</a:t>
            </a:r>
            <a:r>
              <a:rPr lang="en-US" sz="1600" spc="-5" dirty="0">
                <a:solidFill>
                  <a:srgbClr val="A31414"/>
                </a:solidFill>
                <a:latin typeface="Consolas"/>
                <a:cs typeface="Consolas"/>
              </a:rPr>
              <a:t>, </a:t>
            </a:r>
            <a:r>
              <a:rPr lang="en-US" sz="1600" spc="-5" dirty="0" err="1">
                <a:solidFill>
                  <a:srgbClr val="A31414"/>
                </a:solidFill>
                <a:latin typeface="Consolas"/>
                <a:cs typeface="Consolas"/>
              </a:rPr>
              <a:t>ahmedabad</a:t>
            </a:r>
            <a:r>
              <a:rPr sz="1600" spc="-5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r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x.rindex(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print(r)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2627" y="380982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3695" y="3001310"/>
            <a:ext cx="11775440" cy="11080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rindex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search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last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they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unable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raise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exception.</a:t>
            </a:r>
            <a:endParaRPr sz="2400">
              <a:latin typeface="Roboto"/>
              <a:cs typeface="Roboto"/>
            </a:endParaRPr>
          </a:p>
          <a:p>
            <a:pPr marL="648970">
              <a:lnSpc>
                <a:spcPct val="100000"/>
              </a:lnSpc>
              <a:spcBef>
                <a:spcPts val="109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rindexdemo.py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64247" y="4565795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2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94232" y="4228188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31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7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(las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occur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enc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‘i</a:t>
            </a:r>
            <a:r>
              <a:rPr sz="1800" spc="-2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x)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661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5611415"/>
            <a:ext cx="117754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Note</a:t>
            </a:r>
            <a:r>
              <a:rPr sz="2400" b="1" spc="2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isnuberic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isdigit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almost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same,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suppose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ﬁnd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difference</a:t>
            </a:r>
            <a:r>
              <a:rPr sz="2400" spc="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Home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work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assignment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634" y="1895324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30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2641" y="1895324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627" y="1566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5" y="847391"/>
            <a:ext cx="11776075" cy="1017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isalnum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true</a:t>
            </a:r>
            <a:r>
              <a:rPr sz="2400" spc="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characters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alphanumeric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(i.e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either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alphabets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numeric).</a:t>
            </a:r>
            <a:endParaRPr sz="2400">
              <a:latin typeface="Roboto"/>
              <a:cs typeface="Roboto"/>
            </a:endParaRPr>
          </a:p>
          <a:p>
            <a:pPr marL="577850">
              <a:lnSpc>
                <a:spcPct val="100000"/>
              </a:lnSpc>
              <a:spcBef>
                <a:spcPts val="39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isalnumdemo.py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16284" y="1895324"/>
          <a:ext cx="9267189" cy="8947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81">
                <a:tc rowSpan="2">
                  <a:txBody>
                    <a:bodyPr/>
                    <a:lstStyle/>
                    <a:p>
                      <a:pPr marL="85725" marR="28924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'darshan123' </a:t>
                      </a:r>
                      <a:r>
                        <a:rPr sz="1600" spc="-86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f =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x.isalnum() </a:t>
                      </a:r>
                      <a:r>
                        <a:rPr sz="1600" spc="-8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print(f)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17145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68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FC000"/>
                      </a:solidFill>
                      <a:prstDash val="solid"/>
                    </a:lnL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C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064247" y="2322113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2634" y="4587738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29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2641" y="4587738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2627" y="425855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3695" y="3001310"/>
            <a:ext cx="11771630" cy="15563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isalpha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isnumeric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true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characters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only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alphabets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numeric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respectively.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8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isdecimal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true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characters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decimal.</a:t>
            </a:r>
            <a:endParaRPr sz="2400">
              <a:latin typeface="Roboto"/>
              <a:cs typeface="Roboto"/>
            </a:endParaRPr>
          </a:p>
          <a:p>
            <a:pPr marL="508000">
              <a:lnSpc>
                <a:spcPct val="100000"/>
              </a:lnSpc>
              <a:spcBef>
                <a:spcPts val="107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isdecimaldemo.py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16284" y="4587738"/>
          <a:ext cx="9267189" cy="9074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81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'123.5'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 marR="278193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r</a:t>
                      </a:r>
                      <a:r>
                        <a:rPr sz="16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x.isdecimal() </a:t>
                      </a:r>
                      <a:r>
                        <a:rPr sz="1600" spc="-8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print(r)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68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FC000"/>
                      </a:solidFill>
                      <a:prstDash val="solid"/>
                    </a:lnL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C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2064247" y="5014528"/>
            <a:ext cx="3702685" cy="289560"/>
          </a:xfrm>
          <a:custGeom>
            <a:avLst/>
            <a:gdLst/>
            <a:ahLst/>
            <a:cxnLst/>
            <a:rect l="l" t="t" r="r" b="b"/>
            <a:pathLst>
              <a:path w="3702685" h="289560">
                <a:moveTo>
                  <a:pt x="3702470" y="0"/>
                </a:moveTo>
                <a:lnTo>
                  <a:pt x="0" y="28893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39" name="Picture 3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937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30" dirty="0"/>
              <a:t> </a:t>
            </a:r>
            <a:r>
              <a:rPr spc="15" dirty="0"/>
              <a:t>Slicing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13" name="object 13"/>
          <p:cNvSpPr/>
          <p:nvPr/>
        </p:nvSpPr>
        <p:spPr>
          <a:xfrm>
            <a:off x="522630" y="1895335"/>
            <a:ext cx="10238740" cy="584835"/>
          </a:xfrm>
          <a:custGeom>
            <a:avLst/>
            <a:gdLst/>
            <a:ahLst/>
            <a:cxnLst/>
            <a:rect l="l" t="t" r="r" b="b"/>
            <a:pathLst>
              <a:path w="10238740" h="584835">
                <a:moveTo>
                  <a:pt x="10238499" y="0"/>
                </a:moveTo>
                <a:lnTo>
                  <a:pt x="0" y="0"/>
                </a:lnTo>
                <a:lnTo>
                  <a:pt x="0" y="436321"/>
                </a:lnTo>
                <a:lnTo>
                  <a:pt x="0" y="584771"/>
                </a:lnTo>
                <a:lnTo>
                  <a:pt x="10238499" y="584771"/>
                </a:lnTo>
                <a:lnTo>
                  <a:pt x="10238499" y="436321"/>
                </a:lnTo>
                <a:lnTo>
                  <a:pt x="1023849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2641" y="1895324"/>
            <a:ext cx="10238740" cy="5848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1564005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 =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 institute of engineering and technology, rajkot, gujarat, INDIA'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subx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x[startindex:endindex:steps]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627" y="1566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3695" y="847391"/>
            <a:ext cx="11790045" cy="1017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substring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slicing,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start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index,</a:t>
            </a:r>
            <a:r>
              <a:rPr sz="2400" spc="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step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(colo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sepa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ated)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slic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string.</a:t>
            </a:r>
            <a:endParaRPr sz="2400">
              <a:latin typeface="Roboto"/>
              <a:cs typeface="Roboto"/>
            </a:endParaRPr>
          </a:p>
          <a:p>
            <a:pPr marL="977265">
              <a:lnSpc>
                <a:spcPct val="100000"/>
              </a:lnSpc>
              <a:spcBef>
                <a:spcPts val="39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2634" y="3165338"/>
            <a:ext cx="9679305" cy="2800985"/>
          </a:xfrm>
          <a:custGeom>
            <a:avLst/>
            <a:gdLst/>
            <a:ahLst/>
            <a:cxnLst/>
            <a:rect l="l" t="t" r="r" b="b"/>
            <a:pathLst>
              <a:path w="9679305" h="2800985">
                <a:moveTo>
                  <a:pt x="9679232" y="2800766"/>
                </a:moveTo>
                <a:lnTo>
                  <a:pt x="0" y="2800766"/>
                </a:lnTo>
                <a:lnTo>
                  <a:pt x="0" y="0"/>
                </a:lnTo>
                <a:lnTo>
                  <a:pt x="9679232" y="0"/>
                </a:lnTo>
                <a:lnTo>
                  <a:pt x="9679232" y="280076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2641" y="3165338"/>
            <a:ext cx="500380" cy="28009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8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9</a:t>
            </a:r>
            <a:endParaRPr sz="1600">
              <a:latin typeface="Consolas"/>
              <a:cs typeface="Consolas"/>
            </a:endParaRPr>
          </a:p>
          <a:p>
            <a:pPr marR="78105" algn="r">
              <a:lnSpc>
                <a:spcPct val="100000"/>
              </a:lnSpc>
            </a:pPr>
            <a:r>
              <a:rPr sz="1600" b="1" spc="-5" dirty="0">
                <a:solidFill>
                  <a:srgbClr val="575757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  <a:p>
            <a:pPr marR="78105" algn="r">
              <a:lnSpc>
                <a:spcPct val="100000"/>
              </a:lnSpc>
            </a:pPr>
            <a:r>
              <a:rPr sz="1600" b="1" spc="-5" dirty="0">
                <a:solidFill>
                  <a:srgbClr val="575757"/>
                </a:solidFill>
                <a:latin typeface="Consolas"/>
                <a:cs typeface="Consolas"/>
              </a:rPr>
              <a:t>11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2627" y="283615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0910" y="2866033"/>
            <a:ext cx="13011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strslicedemo.py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90310" y="2441724"/>
            <a:ext cx="2576830" cy="227965"/>
          </a:xfrm>
          <a:custGeom>
            <a:avLst/>
            <a:gdLst/>
            <a:ahLst/>
            <a:cxnLst/>
            <a:rect l="l" t="t" r="r" b="b"/>
            <a:pathLst>
              <a:path w="2576829" h="227964">
                <a:moveTo>
                  <a:pt x="2576408" y="227537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2466569" y="3519103"/>
            <a:ext cx="7830184" cy="2025014"/>
            <a:chOff x="2466569" y="3519103"/>
            <a:chExt cx="7830184" cy="2025014"/>
          </a:xfrm>
        </p:grpSpPr>
        <p:sp>
          <p:nvSpPr>
            <p:cNvPr id="23" name="object 23"/>
            <p:cNvSpPr/>
            <p:nvPr/>
          </p:nvSpPr>
          <p:spPr>
            <a:xfrm>
              <a:off x="4665132" y="3525453"/>
              <a:ext cx="5608320" cy="420370"/>
            </a:xfrm>
            <a:custGeom>
              <a:avLst/>
              <a:gdLst/>
              <a:ahLst/>
              <a:cxnLst/>
              <a:rect l="l" t="t" r="r" b="b"/>
              <a:pathLst>
                <a:path w="5608320" h="420370">
                  <a:moveTo>
                    <a:pt x="5607967" y="420013"/>
                  </a:moveTo>
                  <a:lnTo>
                    <a:pt x="0" y="420013"/>
                  </a:lnTo>
                  <a:lnTo>
                    <a:pt x="0" y="0"/>
                  </a:lnTo>
                  <a:lnTo>
                    <a:pt x="5607967" y="0"/>
                  </a:lnTo>
                  <a:lnTo>
                    <a:pt x="5607967" y="42001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89858" y="3525453"/>
              <a:ext cx="7783830" cy="1258570"/>
            </a:xfrm>
            <a:custGeom>
              <a:avLst/>
              <a:gdLst/>
              <a:ahLst/>
              <a:cxnLst/>
              <a:rect l="l" t="t" r="r" b="b"/>
              <a:pathLst>
                <a:path w="7783830" h="1258570">
                  <a:moveTo>
                    <a:pt x="2175274" y="0"/>
                  </a:moveTo>
                  <a:lnTo>
                    <a:pt x="7783241" y="0"/>
                  </a:lnTo>
                  <a:lnTo>
                    <a:pt x="7783241" y="420013"/>
                  </a:lnTo>
                  <a:lnTo>
                    <a:pt x="2175274" y="420013"/>
                  </a:lnTo>
                  <a:lnTo>
                    <a:pt x="2175274" y="0"/>
                  </a:lnTo>
                  <a:close/>
                </a:path>
                <a:path w="7783830" h="1258570">
                  <a:moveTo>
                    <a:pt x="2140953" y="226323"/>
                  </a:moveTo>
                  <a:lnTo>
                    <a:pt x="0" y="125822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82065" y="4016520"/>
              <a:ext cx="5608320" cy="420370"/>
            </a:xfrm>
            <a:custGeom>
              <a:avLst/>
              <a:gdLst/>
              <a:ahLst/>
              <a:cxnLst/>
              <a:rect l="l" t="t" r="r" b="b"/>
              <a:pathLst>
                <a:path w="5608320" h="420370">
                  <a:moveTo>
                    <a:pt x="5607966" y="420012"/>
                  </a:moveTo>
                  <a:lnTo>
                    <a:pt x="0" y="420012"/>
                  </a:lnTo>
                  <a:lnTo>
                    <a:pt x="0" y="0"/>
                  </a:lnTo>
                  <a:lnTo>
                    <a:pt x="5607966" y="0"/>
                  </a:lnTo>
                  <a:lnTo>
                    <a:pt x="5607966" y="42001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72919" y="4016520"/>
              <a:ext cx="7817484" cy="1038225"/>
            </a:xfrm>
            <a:custGeom>
              <a:avLst/>
              <a:gdLst/>
              <a:ahLst/>
              <a:cxnLst/>
              <a:rect l="l" t="t" r="r" b="b"/>
              <a:pathLst>
                <a:path w="7817484" h="1038225">
                  <a:moveTo>
                    <a:pt x="2209146" y="0"/>
                  </a:moveTo>
                  <a:lnTo>
                    <a:pt x="7817112" y="0"/>
                  </a:lnTo>
                  <a:lnTo>
                    <a:pt x="7817112" y="420012"/>
                  </a:lnTo>
                  <a:lnTo>
                    <a:pt x="2209146" y="420012"/>
                  </a:lnTo>
                  <a:lnTo>
                    <a:pt x="2209146" y="0"/>
                  </a:lnTo>
                  <a:close/>
                </a:path>
                <a:path w="7817484" h="1038225">
                  <a:moveTo>
                    <a:pt x="2174825" y="226323"/>
                  </a:moveTo>
                  <a:lnTo>
                    <a:pt x="0" y="1038087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82065" y="4524520"/>
              <a:ext cx="5608320" cy="420370"/>
            </a:xfrm>
            <a:custGeom>
              <a:avLst/>
              <a:gdLst/>
              <a:ahLst/>
              <a:cxnLst/>
              <a:rect l="l" t="t" r="r" b="b"/>
              <a:pathLst>
                <a:path w="5608320" h="420370">
                  <a:moveTo>
                    <a:pt x="5607966" y="420012"/>
                  </a:moveTo>
                  <a:lnTo>
                    <a:pt x="0" y="420012"/>
                  </a:lnTo>
                  <a:lnTo>
                    <a:pt x="0" y="0"/>
                  </a:lnTo>
                  <a:lnTo>
                    <a:pt x="5607966" y="0"/>
                  </a:lnTo>
                  <a:lnTo>
                    <a:pt x="5607966" y="42001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98323" y="4524520"/>
              <a:ext cx="7792084" cy="758825"/>
            </a:xfrm>
            <a:custGeom>
              <a:avLst/>
              <a:gdLst/>
              <a:ahLst/>
              <a:cxnLst/>
              <a:rect l="l" t="t" r="r" b="b"/>
              <a:pathLst>
                <a:path w="7792084" h="758825">
                  <a:moveTo>
                    <a:pt x="2183742" y="0"/>
                  </a:moveTo>
                  <a:lnTo>
                    <a:pt x="7791708" y="0"/>
                  </a:lnTo>
                  <a:lnTo>
                    <a:pt x="7791708" y="420012"/>
                  </a:lnTo>
                  <a:lnTo>
                    <a:pt x="2183742" y="420012"/>
                  </a:lnTo>
                  <a:lnTo>
                    <a:pt x="2183742" y="0"/>
                  </a:lnTo>
                  <a:close/>
                </a:path>
                <a:path w="7792084" h="758825">
                  <a:moveTo>
                    <a:pt x="2149421" y="226323"/>
                  </a:moveTo>
                  <a:lnTo>
                    <a:pt x="0" y="758686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82065" y="5049453"/>
              <a:ext cx="5608320" cy="420370"/>
            </a:xfrm>
            <a:custGeom>
              <a:avLst/>
              <a:gdLst/>
              <a:ahLst/>
              <a:cxnLst/>
              <a:rect l="l" t="t" r="r" b="b"/>
              <a:pathLst>
                <a:path w="5608320" h="420370">
                  <a:moveTo>
                    <a:pt x="5607966" y="420013"/>
                  </a:moveTo>
                  <a:lnTo>
                    <a:pt x="0" y="420013"/>
                  </a:lnTo>
                  <a:lnTo>
                    <a:pt x="0" y="0"/>
                  </a:lnTo>
                  <a:lnTo>
                    <a:pt x="5607966" y="0"/>
                  </a:lnTo>
                  <a:lnTo>
                    <a:pt x="5607966" y="42001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89855" y="5049453"/>
              <a:ext cx="7800340" cy="488315"/>
            </a:xfrm>
            <a:custGeom>
              <a:avLst/>
              <a:gdLst/>
              <a:ahLst/>
              <a:cxnLst/>
              <a:rect l="l" t="t" r="r" b="b"/>
              <a:pathLst>
                <a:path w="7800340" h="488314">
                  <a:moveTo>
                    <a:pt x="2192210" y="0"/>
                  </a:moveTo>
                  <a:lnTo>
                    <a:pt x="7800176" y="0"/>
                  </a:lnTo>
                  <a:lnTo>
                    <a:pt x="7800176" y="420013"/>
                  </a:lnTo>
                  <a:lnTo>
                    <a:pt x="2192210" y="420013"/>
                  </a:lnTo>
                  <a:lnTo>
                    <a:pt x="2192210" y="0"/>
                  </a:lnTo>
                  <a:close/>
                </a:path>
                <a:path w="7800340" h="488314">
                  <a:moveTo>
                    <a:pt x="2157889" y="226323"/>
                  </a:moveTo>
                  <a:lnTo>
                    <a:pt x="0" y="487752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794232" y="2331654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315"/>
              </a:spcBef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endinde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included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substring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022634" y="3165338"/>
          <a:ext cx="9679940" cy="2786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6714">
                <a:tc gridSpan="3">
                  <a:txBody>
                    <a:bodyPr/>
                    <a:lstStyle/>
                    <a:p>
                      <a:pPr marL="85725" marR="100456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x =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'darshan institute of engineering and technology, rajkot, gujarat, INDIA' </a:t>
                      </a:r>
                      <a:r>
                        <a:rPr sz="1600" spc="-86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subx1</a:t>
                      </a:r>
                      <a:r>
                        <a:rPr sz="16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 x[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: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]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ts val="1420"/>
                        </a:lnSpc>
                        <a:tabLst>
                          <a:tab pos="5707380" algn="l"/>
                        </a:tabLst>
                      </a:pPr>
                      <a:r>
                        <a:rPr sz="2400" spc="-7" baseline="-19097" dirty="0">
                          <a:latin typeface="Consolas"/>
                          <a:cs typeface="Consolas"/>
                        </a:rPr>
                        <a:t>subx</a:t>
                      </a:r>
                      <a:r>
                        <a:rPr sz="2400" baseline="-19097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2400" spc="-7" baseline="-19097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baseline="-19097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400" spc="-7" baseline="-19097" dirty="0">
                          <a:latin typeface="Consolas"/>
                          <a:cs typeface="Consolas"/>
                        </a:rPr>
                        <a:t> x</a:t>
                      </a:r>
                      <a:r>
                        <a:rPr sz="2400" spc="22" baseline="-19097" dirty="0">
                          <a:latin typeface="Consolas"/>
                          <a:cs typeface="Consolas"/>
                        </a:rPr>
                        <a:t>[</a:t>
                      </a:r>
                      <a:r>
                        <a:rPr sz="2400" spc="-7" baseline="-19097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2400" baseline="-19097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2400" spc="-7" baseline="-19097" dirty="0">
                          <a:latin typeface="Consolas"/>
                          <a:cs typeface="Consolas"/>
                        </a:rPr>
                        <a:t>:</a:t>
                      </a:r>
                      <a:r>
                        <a:rPr sz="2400" spc="-7" baseline="-19097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400" baseline="-19097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400" baseline="-19097" dirty="0">
                          <a:latin typeface="Consolas"/>
                          <a:cs typeface="Consolas"/>
                        </a:rPr>
                        <a:t>]	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  <a:p>
                      <a:pPr marL="85725">
                        <a:lnSpc>
                          <a:spcPts val="1565"/>
                        </a:lnSpc>
                        <a:spcBef>
                          <a:spcPts val="500"/>
                        </a:spcBef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subx3</a:t>
                      </a:r>
                      <a:r>
                        <a:rPr sz="16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x[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:]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ts val="1805"/>
                        </a:lnSpc>
                        <a:tabLst>
                          <a:tab pos="5829935" algn="l"/>
                        </a:tabLst>
                      </a:pPr>
                      <a:r>
                        <a:rPr sz="2400" spc="-7" baseline="-17361" dirty="0">
                          <a:latin typeface="Consolas"/>
                          <a:cs typeface="Consolas"/>
                        </a:rPr>
                        <a:t>subx</a:t>
                      </a:r>
                      <a:r>
                        <a:rPr sz="2400" baseline="-17361" dirty="0">
                          <a:latin typeface="Consolas"/>
                          <a:cs typeface="Consolas"/>
                        </a:rPr>
                        <a:t>4</a:t>
                      </a:r>
                      <a:r>
                        <a:rPr sz="2400" spc="-7" baseline="-17361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baseline="-1736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400" spc="-7" baseline="-17361" dirty="0">
                          <a:latin typeface="Consolas"/>
                          <a:cs typeface="Consolas"/>
                        </a:rPr>
                        <a:t> x[:</a:t>
                      </a:r>
                      <a:r>
                        <a:rPr sz="2400" spc="22" baseline="-17361" dirty="0">
                          <a:latin typeface="Consolas"/>
                          <a:cs typeface="Consolas"/>
                        </a:rPr>
                        <a:t>:</a:t>
                      </a:r>
                      <a:r>
                        <a:rPr sz="2400" spc="-7" baseline="-17361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400" baseline="-17361" dirty="0">
                          <a:latin typeface="Consolas"/>
                          <a:cs typeface="Consolas"/>
                        </a:rPr>
                        <a:t>]	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ajkot</a:t>
                      </a:r>
                      <a:endParaRPr sz="1800">
                        <a:latin typeface="Roboto"/>
                        <a:cs typeface="Roboto"/>
                      </a:endParaRPr>
                    </a:p>
                    <a:p>
                      <a:pPr marL="85725">
                        <a:lnSpc>
                          <a:spcPts val="1645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subx5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x[::-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]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ts val="1885"/>
                        </a:lnSpc>
                        <a:tabLst>
                          <a:tab pos="5826125" algn="l"/>
                        </a:tabLst>
                      </a:pPr>
                      <a:r>
                        <a:rPr sz="2400" spc="-7" baseline="-12152" dirty="0">
                          <a:latin typeface="Consolas"/>
                          <a:cs typeface="Consolas"/>
                        </a:rPr>
                        <a:t>print(subx1</a:t>
                      </a:r>
                      <a:r>
                        <a:rPr sz="2400" baseline="-12152" dirty="0">
                          <a:latin typeface="Consolas"/>
                          <a:cs typeface="Consolas"/>
                        </a:rPr>
                        <a:t>)	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IND</a:t>
                      </a:r>
                      <a:r>
                        <a:rPr sz="1800" i="1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endParaRPr sz="1800">
                        <a:latin typeface="Roboto"/>
                        <a:cs typeface="Roboto"/>
                      </a:endParaRPr>
                    </a:p>
                    <a:p>
                      <a:pPr marL="85725">
                        <a:lnSpc>
                          <a:spcPts val="1820"/>
                        </a:lnSpc>
                        <a:spcBef>
                          <a:spcPts val="315"/>
                        </a:spcBef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print(subx2)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ts val="2060"/>
                        </a:lnSpc>
                        <a:tabLst>
                          <a:tab pos="4470400" algn="l"/>
                        </a:tabLst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print(subx3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)	</a:t>
                      </a:r>
                      <a:r>
                        <a:rPr sz="2700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270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700" spc="-6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700" spc="-3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drhnisiue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2700" i="1" spc="-6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nier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700" i="1" spc="-6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700" i="1" spc="-6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eho</a:t>
                      </a:r>
                      <a:r>
                        <a:rPr sz="2700" i="1" spc="-22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700" i="1" spc="-6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ak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700" i="1" spc="-6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700" i="1" spc="-7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uaa,I</a:t>
                      </a:r>
                      <a:r>
                        <a:rPr sz="2700" i="1" spc="-30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700" i="1" baseline="1543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endParaRPr sz="2700" baseline="1543">
                        <a:latin typeface="Roboto"/>
                        <a:cs typeface="Roboto"/>
                      </a:endParaRPr>
                    </a:p>
                  </a:txBody>
                  <a:tcPr marL="0" marR="0" marT="298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13">
                <a:tc>
                  <a:txBody>
                    <a:bodyPr/>
                    <a:lstStyle/>
                    <a:p>
                      <a:pPr marL="85725">
                        <a:lnSpc>
                          <a:spcPts val="80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print(subx4)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print(subx5)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AIDNI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,tarajug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,tokjar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,ygolonhcet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dna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gnireenigne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fo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etutitsni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nahsrad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C000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2445692" y="5758377"/>
            <a:ext cx="481330" cy="7620"/>
          </a:xfrm>
          <a:custGeom>
            <a:avLst/>
            <a:gdLst/>
            <a:ahLst/>
            <a:cxnLst/>
            <a:rect l="l" t="t" r="r" b="b"/>
            <a:pathLst>
              <a:path w="481330" h="7620">
                <a:moveTo>
                  <a:pt x="481320" y="0"/>
                </a:moveTo>
                <a:lnTo>
                  <a:pt x="0" y="743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42" name="Picture 4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889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spc="-10" dirty="0"/>
              <a:t> </a:t>
            </a:r>
            <a:r>
              <a:rPr spc="15" dirty="0"/>
              <a:t>print</a:t>
            </a:r>
            <a:r>
              <a:rPr spc="-10" dirty="0"/>
              <a:t> </a:t>
            </a:r>
            <a:r>
              <a:rPr spc="15" dirty="0"/>
              <a:t>format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grpSp>
        <p:nvGrpSpPr>
          <p:cNvPr id="13" name="object 13"/>
          <p:cNvGrpSpPr/>
          <p:nvPr/>
        </p:nvGrpSpPr>
        <p:grpSpPr>
          <a:xfrm>
            <a:off x="522641" y="2496456"/>
            <a:ext cx="8972550" cy="1077595"/>
            <a:chOff x="522641" y="2496456"/>
            <a:chExt cx="8972550" cy="1077595"/>
          </a:xfrm>
        </p:grpSpPr>
        <p:sp>
          <p:nvSpPr>
            <p:cNvPr id="14" name="object 14"/>
            <p:cNvSpPr/>
            <p:nvPr/>
          </p:nvSpPr>
          <p:spPr>
            <a:xfrm>
              <a:off x="1022629" y="2496464"/>
              <a:ext cx="8472805" cy="1077595"/>
            </a:xfrm>
            <a:custGeom>
              <a:avLst/>
              <a:gdLst/>
              <a:ahLst/>
              <a:cxnLst/>
              <a:rect l="l" t="t" r="r" b="b"/>
              <a:pathLst>
                <a:path w="8472805" h="1077595">
                  <a:moveTo>
                    <a:pt x="8472272" y="0"/>
                  </a:moveTo>
                  <a:lnTo>
                    <a:pt x="0" y="0"/>
                  </a:lnTo>
                  <a:lnTo>
                    <a:pt x="0" y="571779"/>
                  </a:lnTo>
                  <a:lnTo>
                    <a:pt x="0" y="1077214"/>
                  </a:lnTo>
                  <a:lnTo>
                    <a:pt x="8472272" y="1077214"/>
                  </a:lnTo>
                  <a:lnTo>
                    <a:pt x="8472272" y="571779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641" y="2496456"/>
              <a:ext cx="500380" cy="1077595"/>
            </a:xfrm>
            <a:custGeom>
              <a:avLst/>
              <a:gdLst/>
              <a:ahLst/>
              <a:cxnLst/>
              <a:rect l="l" t="t" r="r" b="b"/>
              <a:pathLst>
                <a:path w="500380" h="1077595">
                  <a:moveTo>
                    <a:pt x="499992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07721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2516" y="2513728"/>
            <a:ext cx="320802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'{}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3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rajkot'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y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print(y)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'ABCD'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627" y="216727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3695" y="847391"/>
            <a:ext cx="11715750" cy="16192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2199640" algn="l"/>
                <a:tab pos="2845435" algn="l"/>
                <a:tab pos="3298825" algn="l"/>
                <a:tab pos="4629785" algn="l"/>
                <a:tab pos="6075680" algn="l"/>
                <a:tab pos="7602220" algn="l"/>
                <a:tab pos="8850630" algn="l"/>
                <a:tab pos="9755505" algn="l"/>
                <a:tab pos="10735310" algn="l"/>
              </a:tabLst>
            </a:pP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st</a:t>
            </a:r>
            <a:r>
              <a:rPr sz="2400" b="1" spc="-16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.format()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0" dirty="0">
                <a:solidFill>
                  <a:srgbClr val="212121"/>
                </a:solidFill>
                <a:latin typeface="Roboto"/>
                <a:cs typeface="Roboto"/>
              </a:rPr>
              <a:t>strin</a:t>
            </a:r>
            <a:r>
              <a:rPr sz="2400" i="1" spc="-20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i="1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i="1" spc="-160" dirty="0">
                <a:solidFill>
                  <a:srgbClr val="212121"/>
                </a:solidFill>
                <a:latin typeface="Roboto"/>
                <a:cs typeface="Roboto"/>
              </a:rPr>
              <a:t>formattin</a:t>
            </a:r>
            <a:r>
              <a:rPr sz="2400" i="1" spc="-19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i="1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i="1" spc="-210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i="1" spc="-18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i="1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ython3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multiple 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substitutions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formatting.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This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lets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concatenate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within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through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positional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formatting.</a:t>
            </a:r>
            <a:endParaRPr sz="2400">
              <a:latin typeface="Roboto"/>
              <a:cs typeface="Roboto"/>
            </a:endParaRPr>
          </a:p>
          <a:p>
            <a:pPr marL="742315">
              <a:lnSpc>
                <a:spcPct val="100000"/>
              </a:lnSpc>
              <a:spcBef>
                <a:spcPts val="1565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strformat.py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62438" y="2816533"/>
            <a:ext cx="3700145" cy="328930"/>
          </a:xfrm>
          <a:custGeom>
            <a:avLst/>
            <a:gdLst/>
            <a:ahLst/>
            <a:cxnLst/>
            <a:rect l="l" t="t" r="r" b="b"/>
            <a:pathLst>
              <a:path w="3700145" h="328930">
                <a:moveTo>
                  <a:pt x="3699843" y="0"/>
                </a:moveTo>
                <a:lnTo>
                  <a:pt x="0" y="32831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94232" y="2585640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15498" y="3068240"/>
            <a:ext cx="7299959" cy="657225"/>
            <a:chOff x="3715498" y="3068240"/>
            <a:chExt cx="7299959" cy="657225"/>
          </a:xfrm>
        </p:grpSpPr>
        <p:sp>
          <p:nvSpPr>
            <p:cNvPr id="22" name="object 22"/>
            <p:cNvSpPr/>
            <p:nvPr/>
          </p:nvSpPr>
          <p:spPr>
            <a:xfrm>
              <a:off x="5794232" y="3068240"/>
              <a:ext cx="5220970" cy="657225"/>
            </a:xfrm>
            <a:custGeom>
              <a:avLst/>
              <a:gdLst/>
              <a:ahLst/>
              <a:cxnLst/>
              <a:rect l="l" t="t" r="r" b="b"/>
              <a:pathLst>
                <a:path w="5220970" h="657225">
                  <a:moveTo>
                    <a:pt x="5220899" y="657092"/>
                  </a:moveTo>
                  <a:lnTo>
                    <a:pt x="0" y="657092"/>
                  </a:lnTo>
                  <a:lnTo>
                    <a:pt x="0" y="0"/>
                  </a:lnTo>
                  <a:lnTo>
                    <a:pt x="5220899" y="0"/>
                  </a:lnTo>
                  <a:lnTo>
                    <a:pt x="5220899" y="6570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21848" y="3422314"/>
              <a:ext cx="2040889" cy="25400"/>
            </a:xfrm>
            <a:custGeom>
              <a:avLst/>
              <a:gdLst/>
              <a:ahLst/>
              <a:cxnLst/>
              <a:rect l="l" t="t" r="r" b="b"/>
              <a:pathLst>
                <a:path w="2040889" h="25400">
                  <a:moveTo>
                    <a:pt x="2040432" y="0"/>
                  </a:moveTo>
                  <a:lnTo>
                    <a:pt x="0" y="25087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94232" y="3068240"/>
            <a:ext cx="5220970" cy="657225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286510" marR="1281430" indent="494030">
              <a:lnSpc>
                <a:spcPct val="100000"/>
              </a:lnSpc>
              <a:spcBef>
                <a:spcPts val="355"/>
              </a:spcBef>
            </a:pP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Inline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functio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call 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70" dirty="0">
                <a:solidFill>
                  <a:srgbClr val="212121"/>
                </a:solidFill>
                <a:latin typeface="Roboto"/>
                <a:cs typeface="Roboto"/>
              </a:rPr>
              <a:t>ABC</a:t>
            </a:r>
            <a:r>
              <a:rPr sz="1800" i="1" spc="-17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2641" y="4680856"/>
            <a:ext cx="8972550" cy="1077595"/>
            <a:chOff x="522641" y="4680856"/>
            <a:chExt cx="8972550" cy="1077595"/>
          </a:xfrm>
        </p:grpSpPr>
        <p:sp>
          <p:nvSpPr>
            <p:cNvPr id="26" name="object 26"/>
            <p:cNvSpPr/>
            <p:nvPr/>
          </p:nvSpPr>
          <p:spPr>
            <a:xfrm>
              <a:off x="1022629" y="4680864"/>
              <a:ext cx="8472805" cy="1077595"/>
            </a:xfrm>
            <a:custGeom>
              <a:avLst/>
              <a:gdLst/>
              <a:ahLst/>
              <a:cxnLst/>
              <a:rect l="l" t="t" r="r" b="b"/>
              <a:pathLst>
                <a:path w="8472805" h="1077595">
                  <a:moveTo>
                    <a:pt x="8472272" y="0"/>
                  </a:moveTo>
                  <a:lnTo>
                    <a:pt x="0" y="0"/>
                  </a:lnTo>
                  <a:lnTo>
                    <a:pt x="0" y="571779"/>
                  </a:lnTo>
                  <a:lnTo>
                    <a:pt x="0" y="1077214"/>
                  </a:lnTo>
                  <a:lnTo>
                    <a:pt x="8472272" y="1077214"/>
                  </a:lnTo>
                  <a:lnTo>
                    <a:pt x="8472272" y="571779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641" y="4680856"/>
              <a:ext cx="500380" cy="1077595"/>
            </a:xfrm>
            <a:custGeom>
              <a:avLst/>
              <a:gdLst/>
              <a:ahLst/>
              <a:cxnLst/>
              <a:rect l="l" t="t" r="r" b="b"/>
              <a:pathLst>
                <a:path w="500380" h="1077595">
                  <a:moveTo>
                    <a:pt x="499992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07721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2516" y="4698129"/>
            <a:ext cx="388302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'{}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{}'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y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print(y)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'ABCD'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'XYZ'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2627" y="43516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3695" y="3760510"/>
            <a:ext cx="6418580" cy="8909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rameters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endParaRPr sz="2400">
              <a:latin typeface="Roboto"/>
              <a:cs typeface="Roboto"/>
            </a:endParaRPr>
          </a:p>
          <a:p>
            <a:pPr marL="742315">
              <a:lnSpc>
                <a:spcPct val="100000"/>
              </a:lnSpc>
              <a:spcBef>
                <a:spcPts val="805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strformat.py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62438" y="5000933"/>
            <a:ext cx="3700145" cy="328930"/>
          </a:xfrm>
          <a:custGeom>
            <a:avLst/>
            <a:gdLst/>
            <a:ahLst/>
            <a:cxnLst/>
            <a:rect l="l" t="t" r="r" b="b"/>
            <a:pathLst>
              <a:path w="3700145" h="328929">
                <a:moveTo>
                  <a:pt x="3699843" y="0"/>
                </a:moveTo>
                <a:lnTo>
                  <a:pt x="0" y="32831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794232" y="4770039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18231" y="5252639"/>
            <a:ext cx="6597015" cy="657225"/>
            <a:chOff x="4418231" y="5252639"/>
            <a:chExt cx="6597015" cy="657225"/>
          </a:xfrm>
        </p:grpSpPr>
        <p:sp>
          <p:nvSpPr>
            <p:cNvPr id="34" name="object 34"/>
            <p:cNvSpPr/>
            <p:nvPr/>
          </p:nvSpPr>
          <p:spPr>
            <a:xfrm>
              <a:off x="5794232" y="5252639"/>
              <a:ext cx="5220970" cy="657225"/>
            </a:xfrm>
            <a:custGeom>
              <a:avLst/>
              <a:gdLst/>
              <a:ahLst/>
              <a:cxnLst/>
              <a:rect l="l" t="t" r="r" b="b"/>
              <a:pathLst>
                <a:path w="5220970" h="657225">
                  <a:moveTo>
                    <a:pt x="5220899" y="657092"/>
                  </a:moveTo>
                  <a:lnTo>
                    <a:pt x="0" y="657092"/>
                  </a:lnTo>
                  <a:lnTo>
                    <a:pt x="0" y="0"/>
                  </a:lnTo>
                  <a:lnTo>
                    <a:pt x="5220899" y="0"/>
                  </a:lnTo>
                  <a:lnTo>
                    <a:pt x="5220899" y="6570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24581" y="5606714"/>
              <a:ext cx="1337945" cy="17145"/>
            </a:xfrm>
            <a:custGeom>
              <a:avLst/>
              <a:gdLst/>
              <a:ahLst/>
              <a:cxnLst/>
              <a:rect l="l" t="t" r="r" b="b"/>
              <a:pathLst>
                <a:path w="1337945" h="17145">
                  <a:moveTo>
                    <a:pt x="1337699" y="0"/>
                  </a:moveTo>
                  <a:lnTo>
                    <a:pt x="0" y="16624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794232" y="5252639"/>
            <a:ext cx="5220970" cy="657225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358265" marR="1353185" indent="421640">
              <a:lnSpc>
                <a:spcPct val="100000"/>
              </a:lnSpc>
              <a:spcBef>
                <a:spcPts val="355"/>
              </a:spcBef>
            </a:pP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Inline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functio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call 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70" dirty="0">
                <a:solidFill>
                  <a:srgbClr val="212121"/>
                </a:solidFill>
                <a:latin typeface="Roboto"/>
                <a:cs typeface="Roboto"/>
              </a:rPr>
              <a:t>ABC</a:t>
            </a:r>
            <a:r>
              <a:rPr sz="1800" i="1" spc="-17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65" dirty="0">
                <a:solidFill>
                  <a:srgbClr val="212121"/>
                </a:solidFill>
                <a:latin typeface="Roboto"/>
                <a:cs typeface="Roboto"/>
              </a:rPr>
              <a:t>XYZ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4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51" name="Picture 5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642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String</a:t>
            </a:r>
            <a:r>
              <a:rPr dirty="0"/>
              <a:t> </a:t>
            </a:r>
            <a:r>
              <a:rPr spc="15" dirty="0"/>
              <a:t>print</a:t>
            </a:r>
            <a:r>
              <a:rPr spc="5" dirty="0"/>
              <a:t> </a:t>
            </a:r>
            <a:r>
              <a:rPr spc="15" dirty="0"/>
              <a:t>format</a:t>
            </a:r>
            <a:r>
              <a:rPr dirty="0"/>
              <a:t> </a:t>
            </a:r>
            <a:r>
              <a:rPr spc="25" dirty="0"/>
              <a:t>(cont.)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grpSp>
        <p:nvGrpSpPr>
          <p:cNvPr id="13" name="object 13"/>
          <p:cNvGrpSpPr/>
          <p:nvPr/>
        </p:nvGrpSpPr>
        <p:grpSpPr>
          <a:xfrm>
            <a:off x="522641" y="1641324"/>
            <a:ext cx="8972550" cy="1077595"/>
            <a:chOff x="522641" y="1641324"/>
            <a:chExt cx="8972550" cy="1077595"/>
          </a:xfrm>
        </p:grpSpPr>
        <p:sp>
          <p:nvSpPr>
            <p:cNvPr id="14" name="object 14"/>
            <p:cNvSpPr/>
            <p:nvPr/>
          </p:nvSpPr>
          <p:spPr>
            <a:xfrm>
              <a:off x="1022629" y="1641335"/>
              <a:ext cx="8472805" cy="1077595"/>
            </a:xfrm>
            <a:custGeom>
              <a:avLst/>
              <a:gdLst/>
              <a:ahLst/>
              <a:cxnLst/>
              <a:rect l="l" t="t" r="r" b="b"/>
              <a:pathLst>
                <a:path w="8472805" h="1077595">
                  <a:moveTo>
                    <a:pt x="8472272" y="0"/>
                  </a:moveTo>
                  <a:lnTo>
                    <a:pt x="0" y="0"/>
                  </a:lnTo>
                  <a:lnTo>
                    <a:pt x="0" y="571779"/>
                  </a:lnTo>
                  <a:lnTo>
                    <a:pt x="0" y="1077214"/>
                  </a:lnTo>
                  <a:lnTo>
                    <a:pt x="8472272" y="1077214"/>
                  </a:lnTo>
                  <a:lnTo>
                    <a:pt x="8472272" y="571779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641" y="1641324"/>
              <a:ext cx="500380" cy="1077595"/>
            </a:xfrm>
            <a:custGeom>
              <a:avLst/>
              <a:gdLst/>
              <a:ahLst/>
              <a:cxnLst/>
              <a:rect l="l" t="t" r="r" b="b"/>
              <a:pathLst>
                <a:path w="500380" h="1077595">
                  <a:moveTo>
                    <a:pt x="499992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07721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2516" y="1658596"/>
            <a:ext cx="388302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'{1}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{0}'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y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print(y)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print(x.format(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'ABCD'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'XYZ'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627" y="1312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3695" y="654089"/>
            <a:ext cx="6522084" cy="95758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5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order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parameters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endParaRPr sz="2400">
              <a:latin typeface="Roboto"/>
              <a:cs typeface="Roboto"/>
            </a:endParaRPr>
          </a:p>
          <a:p>
            <a:pPr marL="742315">
              <a:lnSpc>
                <a:spcPct val="100000"/>
              </a:lnSpc>
              <a:spcBef>
                <a:spcPts val="1015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strformat.py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62438" y="1961400"/>
            <a:ext cx="3700145" cy="328930"/>
          </a:xfrm>
          <a:custGeom>
            <a:avLst/>
            <a:gdLst/>
            <a:ahLst/>
            <a:cxnLst/>
            <a:rect l="l" t="t" r="r" b="b"/>
            <a:pathLst>
              <a:path w="3700145" h="328930">
                <a:moveTo>
                  <a:pt x="3699843" y="0"/>
                </a:moveTo>
                <a:lnTo>
                  <a:pt x="0" y="32831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94232" y="1730506"/>
            <a:ext cx="5711968" cy="345607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lang="en-US" sz="1800" i="1" spc="-135" dirty="0">
                <a:solidFill>
                  <a:srgbClr val="212121"/>
                </a:solidFill>
                <a:latin typeface="Roboto"/>
                <a:cs typeface="Roboto"/>
              </a:rPr>
              <a:t>ANTRIX </a:t>
            </a:r>
            <a:r>
              <a:rPr lang="en-US" sz="1800" i="1" spc="-135" dirty="0" err="1">
                <a:solidFill>
                  <a:srgbClr val="212121"/>
                </a:solidFill>
                <a:latin typeface="Roboto"/>
                <a:cs typeface="Roboto"/>
              </a:rPr>
              <a:t>vastrapur</a:t>
            </a:r>
            <a:r>
              <a:rPr lang="en-US" sz="1800" i="1" spc="-135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lang="en-US" sz="1800" i="1" spc="-135" dirty="0" err="1">
                <a:solidFill>
                  <a:srgbClr val="212121"/>
                </a:solidFill>
                <a:latin typeface="Roboto"/>
                <a:cs typeface="Roboto"/>
              </a:rPr>
              <a:t>ahmedabad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67432" y="2213106"/>
            <a:ext cx="6647815" cy="657225"/>
            <a:chOff x="4367432" y="2213106"/>
            <a:chExt cx="6647815" cy="657225"/>
          </a:xfrm>
        </p:grpSpPr>
        <p:sp>
          <p:nvSpPr>
            <p:cNvPr id="22" name="object 22"/>
            <p:cNvSpPr/>
            <p:nvPr/>
          </p:nvSpPr>
          <p:spPr>
            <a:xfrm>
              <a:off x="5794232" y="2213106"/>
              <a:ext cx="5220970" cy="657225"/>
            </a:xfrm>
            <a:custGeom>
              <a:avLst/>
              <a:gdLst/>
              <a:ahLst/>
              <a:cxnLst/>
              <a:rect l="l" t="t" r="r" b="b"/>
              <a:pathLst>
                <a:path w="5220970" h="657225">
                  <a:moveTo>
                    <a:pt x="5220899" y="657092"/>
                  </a:moveTo>
                  <a:lnTo>
                    <a:pt x="0" y="657092"/>
                  </a:lnTo>
                  <a:lnTo>
                    <a:pt x="0" y="0"/>
                  </a:lnTo>
                  <a:lnTo>
                    <a:pt x="5220899" y="0"/>
                  </a:lnTo>
                  <a:lnTo>
                    <a:pt x="5220899" y="6570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73782" y="2567181"/>
              <a:ext cx="1388745" cy="8255"/>
            </a:xfrm>
            <a:custGeom>
              <a:avLst/>
              <a:gdLst/>
              <a:ahLst/>
              <a:cxnLst/>
              <a:rect l="l" t="t" r="r" b="b"/>
              <a:pathLst>
                <a:path w="1388745" h="8255">
                  <a:moveTo>
                    <a:pt x="1388498" y="0"/>
                  </a:moveTo>
                  <a:lnTo>
                    <a:pt x="0" y="8154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94232" y="2213106"/>
            <a:ext cx="5788168" cy="599523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358265" marR="1351915" indent="421640">
              <a:lnSpc>
                <a:spcPct val="100000"/>
              </a:lnSpc>
              <a:spcBef>
                <a:spcPts val="355"/>
              </a:spcBef>
            </a:pP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Inline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functio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call 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70" dirty="0">
                <a:solidFill>
                  <a:srgbClr val="212121"/>
                </a:solidFill>
                <a:latin typeface="Roboto"/>
                <a:cs typeface="Roboto"/>
              </a:rPr>
              <a:t>XY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Z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75" dirty="0">
                <a:solidFill>
                  <a:srgbClr val="212121"/>
                </a:solidFill>
                <a:latin typeface="Roboto"/>
                <a:cs typeface="Roboto"/>
              </a:rPr>
              <a:t>ABCD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2641" y="3842656"/>
            <a:ext cx="8972550" cy="584835"/>
            <a:chOff x="522641" y="3842656"/>
            <a:chExt cx="8972550" cy="584835"/>
          </a:xfrm>
        </p:grpSpPr>
        <p:sp>
          <p:nvSpPr>
            <p:cNvPr id="26" name="object 26"/>
            <p:cNvSpPr/>
            <p:nvPr/>
          </p:nvSpPr>
          <p:spPr>
            <a:xfrm>
              <a:off x="1022634" y="3842656"/>
              <a:ext cx="8472805" cy="584835"/>
            </a:xfrm>
            <a:custGeom>
              <a:avLst/>
              <a:gdLst/>
              <a:ahLst/>
              <a:cxnLst/>
              <a:rect l="l" t="t" r="r" b="b"/>
              <a:pathLst>
                <a:path w="8472805" h="584835">
                  <a:moveTo>
                    <a:pt x="8472275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5847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641" y="3842656"/>
              <a:ext cx="500380" cy="584835"/>
            </a:xfrm>
            <a:custGeom>
              <a:avLst/>
              <a:gdLst/>
              <a:ahLst/>
              <a:cxnLst/>
              <a:rect l="l" t="t" r="r" b="b"/>
              <a:pathLst>
                <a:path w="500380" h="584835">
                  <a:moveTo>
                    <a:pt x="499992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5847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2516" y="3859929"/>
            <a:ext cx="65633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'{collegename}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institute,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{cityname}'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print(x.format(collegename=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,cityname=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2627" y="35134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3695" y="3054389"/>
            <a:ext cx="7729855" cy="7588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alias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withi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strin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der</a:t>
            </a:r>
            <a:endParaRPr sz="2400">
              <a:latin typeface="Roboto"/>
              <a:cs typeface="Roboto"/>
            </a:endParaRPr>
          </a:p>
          <a:p>
            <a:pPr marL="742315">
              <a:lnSpc>
                <a:spcPct val="100000"/>
              </a:lnSpc>
              <a:spcBef>
                <a:spcPts val="39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strformat.py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69338" y="4171199"/>
            <a:ext cx="680085" cy="83185"/>
          </a:xfrm>
          <a:custGeom>
            <a:avLst/>
            <a:gdLst/>
            <a:ahLst/>
            <a:cxnLst/>
            <a:rect l="l" t="t" r="r" b="b"/>
            <a:pathLst>
              <a:path w="680084" h="83185">
                <a:moveTo>
                  <a:pt x="679596" y="0"/>
                </a:moveTo>
                <a:lnTo>
                  <a:pt x="0" y="8278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71767" y="3940305"/>
            <a:ext cx="373126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institute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22634" y="5239656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29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22634" y="5239656"/>
            <a:ext cx="8472805" cy="2355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ts val="1614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per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438</a:t>
            </a:r>
            <a:r>
              <a:rPr sz="1600" spc="-10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/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500</a:t>
            </a:r>
            <a:r>
              <a:rPr sz="1600" spc="-5" dirty="0">
                <a:latin typeface="Consolas"/>
                <a:cs typeface="Consolas"/>
              </a:rPr>
              <a:t>)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100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5660" y="5500768"/>
            <a:ext cx="43795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x =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'result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{r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:3.2f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} %'</a:t>
            </a:r>
            <a:r>
              <a:rPr sz="1600" spc="-5" dirty="0">
                <a:latin typeface="Consolas"/>
                <a:cs typeface="Consolas"/>
              </a:rPr>
              <a:t>.format(r=per)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print(x)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2641" y="5239656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2627" y="49104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73695" y="4380271"/>
            <a:ext cx="6960870" cy="829944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format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decimal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format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endParaRPr sz="2400">
              <a:latin typeface="Roboto"/>
              <a:cs typeface="Roboto"/>
            </a:endParaRPr>
          </a:p>
          <a:p>
            <a:pPr marL="742315">
              <a:lnSpc>
                <a:spcPct val="100000"/>
              </a:lnSpc>
              <a:spcBef>
                <a:spcPts val="615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strformat.py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20502" y="5474889"/>
            <a:ext cx="7714615" cy="504190"/>
            <a:chOff x="2020502" y="5474889"/>
            <a:chExt cx="7714615" cy="504190"/>
          </a:xfrm>
        </p:grpSpPr>
        <p:sp>
          <p:nvSpPr>
            <p:cNvPr id="40" name="object 40"/>
            <p:cNvSpPr/>
            <p:nvPr/>
          </p:nvSpPr>
          <p:spPr>
            <a:xfrm>
              <a:off x="5997432" y="5481239"/>
              <a:ext cx="3731260" cy="428625"/>
            </a:xfrm>
            <a:custGeom>
              <a:avLst/>
              <a:gdLst/>
              <a:ahLst/>
              <a:cxnLst/>
              <a:rect l="l" t="t" r="r" b="b"/>
              <a:pathLst>
                <a:path w="3731259" h="428625">
                  <a:moveTo>
                    <a:pt x="3730767" y="428492"/>
                  </a:moveTo>
                  <a:lnTo>
                    <a:pt x="0" y="428492"/>
                  </a:lnTo>
                  <a:lnTo>
                    <a:pt x="0" y="0"/>
                  </a:lnTo>
                  <a:lnTo>
                    <a:pt x="3730767" y="0"/>
                  </a:lnTo>
                  <a:lnTo>
                    <a:pt x="3730767" y="4284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26852" y="5481239"/>
              <a:ext cx="7701915" cy="491490"/>
            </a:xfrm>
            <a:custGeom>
              <a:avLst/>
              <a:gdLst/>
              <a:ahLst/>
              <a:cxnLst/>
              <a:rect l="l" t="t" r="r" b="b"/>
              <a:pathLst>
                <a:path w="7701915" h="491489">
                  <a:moveTo>
                    <a:pt x="3970580" y="0"/>
                  </a:moveTo>
                  <a:lnTo>
                    <a:pt x="7701347" y="0"/>
                  </a:lnTo>
                  <a:lnTo>
                    <a:pt x="7701347" y="428492"/>
                  </a:lnTo>
                  <a:lnTo>
                    <a:pt x="3970580" y="428492"/>
                  </a:lnTo>
                  <a:lnTo>
                    <a:pt x="3970580" y="0"/>
                  </a:lnTo>
                  <a:close/>
                </a:path>
                <a:path w="7701915" h="491489">
                  <a:moveTo>
                    <a:pt x="3947748" y="230893"/>
                  </a:moveTo>
                  <a:lnTo>
                    <a:pt x="0" y="491472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997432" y="5481239"/>
            <a:ext cx="3731260" cy="428625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779780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esul</a:t>
            </a:r>
            <a:r>
              <a:rPr sz="1800" i="1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70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87.6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204" dirty="0">
                <a:solidFill>
                  <a:srgbClr val="212121"/>
                </a:solidFill>
                <a:latin typeface="Roboto"/>
                <a:cs typeface="Roboto"/>
              </a:rPr>
              <a:t>%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978193" y="5744111"/>
            <a:ext cx="1228090" cy="366395"/>
          </a:xfrm>
          <a:custGeom>
            <a:avLst/>
            <a:gdLst/>
            <a:ahLst/>
            <a:cxnLst/>
            <a:rect l="l" t="t" r="r" b="b"/>
            <a:pathLst>
              <a:path w="1228089" h="366395">
                <a:moveTo>
                  <a:pt x="0" y="365950"/>
                </a:moveTo>
                <a:lnTo>
                  <a:pt x="62295" y="0"/>
                </a:lnTo>
              </a:path>
              <a:path w="1228089" h="366395">
                <a:moveTo>
                  <a:pt x="1228031" y="365950"/>
                </a:moveTo>
                <a:lnTo>
                  <a:pt x="314846" y="2540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559966" y="6124704"/>
            <a:ext cx="83566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535"/>
              </a:spcBef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width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50567" y="6124704"/>
            <a:ext cx="13093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535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precision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11" name="Picture 1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3375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dirty="0"/>
              <a:t> </a:t>
            </a:r>
            <a:r>
              <a:rPr spc="25" dirty="0"/>
              <a:t>structures</a:t>
            </a:r>
            <a:r>
              <a:rPr spc="10" dirty="0"/>
              <a:t> 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9583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four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built-in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structures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90" dirty="0">
                <a:solidFill>
                  <a:srgbClr val="212121"/>
                </a:solidFill>
                <a:latin typeface="Roboto"/>
                <a:cs typeface="Roboto"/>
              </a:rPr>
              <a:t>-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90" dirty="0">
                <a:solidFill>
                  <a:srgbClr val="212121"/>
                </a:solidFill>
                <a:latin typeface="Roboto"/>
                <a:cs typeface="Roboto"/>
              </a:rPr>
              <a:t>list,</a:t>
            </a:r>
            <a:r>
              <a:rPr sz="2400" i="1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5" dirty="0">
                <a:solidFill>
                  <a:srgbClr val="212121"/>
                </a:solidFill>
                <a:latin typeface="Roboto"/>
                <a:cs typeface="Roboto"/>
              </a:rPr>
              <a:t>dictionary,</a:t>
            </a:r>
            <a:r>
              <a:rPr sz="2400" i="1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5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i="1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21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i="1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10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4953047"/>
            <a:ext cx="5688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Let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explo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structu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detail…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4528" y="1485282"/>
          <a:ext cx="11414125" cy="3464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9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Name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Type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List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8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list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Ordered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square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[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]</a:t>
                      </a:r>
                      <a:endParaRPr sz="2000">
                        <a:latin typeface="Roboto Cn"/>
                        <a:cs typeface="Roboto C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[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]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Dictionary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0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dict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Unordered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key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: </a:t>
                      </a: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value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pair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curly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{ }</a:t>
                      </a:r>
                      <a:endParaRPr sz="2000">
                        <a:latin typeface="Roboto Cn"/>
                        <a:cs typeface="Roboto C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{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colleg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cod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“054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}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Tuple</a:t>
                      </a:r>
                      <a:endParaRPr sz="1900" dirty="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tup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Ordered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immutable</a:t>
                      </a:r>
                      <a:r>
                        <a:rPr sz="2000" b="1" spc="3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sequence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round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(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)</a:t>
                      </a:r>
                      <a:endParaRPr sz="2000">
                        <a:latin typeface="Roboto Cn"/>
                        <a:cs typeface="Roboto C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)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000" spc="-114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set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879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Unordered</a:t>
                      </a:r>
                      <a:r>
                        <a:rPr sz="2000" b="1" spc="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collection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unique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objects,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will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represented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2000" spc="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curly</a:t>
                      </a:r>
                      <a:r>
                        <a:rPr sz="2000" b="1" spc="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brackets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{</a:t>
                      </a:r>
                      <a:r>
                        <a:rPr sz="2000" b="1" spc="20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b="1" spc="15" dirty="0">
                          <a:solidFill>
                            <a:srgbClr val="FF0000"/>
                          </a:solidFill>
                          <a:latin typeface="Roboto Cn"/>
                          <a:cs typeface="Roboto Cn"/>
                        </a:rPr>
                        <a:t>}</a:t>
                      </a:r>
                      <a:endParaRPr sz="2000" dirty="0">
                        <a:latin typeface="Roboto Cn"/>
                        <a:cs typeface="Roboto C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Exampl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{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“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</a:t>
                      </a:r>
                      <a:r>
                        <a:rPr sz="20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”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sz="20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rue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}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34" name="Picture 3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9576895" y="5890392"/>
            <a:ext cx="2554605" cy="588010"/>
            <a:chOff x="9576895" y="5890392"/>
            <a:chExt cx="2554605" cy="58801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6895" y="5890392"/>
              <a:ext cx="2554141" cy="5874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76892" y="5890399"/>
              <a:ext cx="2554605" cy="588010"/>
            </a:xfrm>
            <a:custGeom>
              <a:avLst/>
              <a:gdLst/>
              <a:ahLst/>
              <a:cxnLst/>
              <a:rect l="l" t="t" r="r" b="b"/>
              <a:pathLst>
                <a:path w="2554604" h="588010">
                  <a:moveTo>
                    <a:pt x="2554135" y="0"/>
                  </a:moveTo>
                  <a:lnTo>
                    <a:pt x="0" y="0"/>
                  </a:lnTo>
                  <a:lnTo>
                    <a:pt x="0" y="442671"/>
                  </a:lnTo>
                  <a:lnTo>
                    <a:pt x="0" y="587451"/>
                  </a:lnTo>
                  <a:lnTo>
                    <a:pt x="2554135" y="587451"/>
                  </a:lnTo>
                  <a:lnTo>
                    <a:pt x="2554135" y="442671"/>
                  </a:lnTo>
                  <a:lnTo>
                    <a:pt x="2554135" y="0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108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List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13" name="object 13"/>
          <p:cNvSpPr txBox="1"/>
          <p:nvPr/>
        </p:nvSpPr>
        <p:spPr>
          <a:xfrm>
            <a:off x="173695" y="756967"/>
            <a:ext cx="10617835" cy="13944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mutable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ordered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sequence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objects,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duplicate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inside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list.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represented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[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].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does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array,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Array.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2627" y="2285806"/>
            <a:ext cx="8972550" cy="1899285"/>
            <a:chOff x="522627" y="2285806"/>
            <a:chExt cx="8972550" cy="1899285"/>
          </a:xfrm>
        </p:grpSpPr>
        <p:sp>
          <p:nvSpPr>
            <p:cNvPr id="15" name="object 15"/>
            <p:cNvSpPr/>
            <p:nvPr/>
          </p:nvSpPr>
          <p:spPr>
            <a:xfrm>
              <a:off x="1022629" y="2614993"/>
              <a:ext cx="8472805" cy="1569720"/>
            </a:xfrm>
            <a:custGeom>
              <a:avLst/>
              <a:gdLst/>
              <a:ahLst/>
              <a:cxnLst/>
              <a:rect l="l" t="t" r="r" b="b"/>
              <a:pathLst>
                <a:path w="8472805" h="1569720">
                  <a:moveTo>
                    <a:pt x="8472272" y="0"/>
                  </a:moveTo>
                  <a:lnTo>
                    <a:pt x="0" y="0"/>
                  </a:lnTo>
                  <a:lnTo>
                    <a:pt x="0" y="133007"/>
                  </a:lnTo>
                  <a:lnTo>
                    <a:pt x="0" y="1316380"/>
                  </a:lnTo>
                  <a:lnTo>
                    <a:pt x="0" y="1569669"/>
                  </a:lnTo>
                  <a:lnTo>
                    <a:pt x="8472272" y="1569669"/>
                  </a:lnTo>
                  <a:lnTo>
                    <a:pt x="8472272" y="1316380"/>
                  </a:lnTo>
                  <a:lnTo>
                    <a:pt x="8472272" y="133007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642" y="2614990"/>
              <a:ext cx="500380" cy="1569720"/>
            </a:xfrm>
            <a:custGeom>
              <a:avLst/>
              <a:gdLst/>
              <a:ahLst/>
              <a:cxnLst/>
              <a:rect l="l" t="t" r="r" b="b"/>
              <a:pathLst>
                <a:path w="500380" h="1569720">
                  <a:moveTo>
                    <a:pt x="499992" y="1569660"/>
                  </a:moveTo>
                  <a:lnTo>
                    <a:pt x="0" y="1569660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56966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2627" y="2285806"/>
              <a:ext cx="1779270" cy="329565"/>
            </a:xfrm>
            <a:custGeom>
              <a:avLst/>
              <a:gdLst/>
              <a:ahLst/>
              <a:cxnLst/>
              <a:rect l="l" t="t" r="r" b="b"/>
              <a:pathLst>
                <a:path w="1779270" h="329564">
                  <a:moveTo>
                    <a:pt x="1778778" y="329198"/>
                  </a:moveTo>
                  <a:lnTo>
                    <a:pt x="0" y="329177"/>
                  </a:lnTo>
                  <a:lnTo>
                    <a:pt x="14" y="54864"/>
                  </a:lnTo>
                  <a:lnTo>
                    <a:pt x="4326" y="33509"/>
                  </a:lnTo>
                  <a:lnTo>
                    <a:pt x="16084" y="16069"/>
                  </a:lnTo>
                  <a:lnTo>
                    <a:pt x="33523" y="4311"/>
                  </a:lnTo>
                  <a:lnTo>
                    <a:pt x="54879" y="0"/>
                  </a:lnTo>
                  <a:lnTo>
                    <a:pt x="1723919" y="0"/>
                  </a:lnTo>
                  <a:lnTo>
                    <a:pt x="1762715" y="16069"/>
                  </a:lnTo>
                  <a:lnTo>
                    <a:pt x="1778784" y="54864"/>
                  </a:lnTo>
                  <a:lnTo>
                    <a:pt x="177877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05867" y="2550394"/>
              <a:ext cx="3522345" cy="1194435"/>
            </a:xfrm>
            <a:custGeom>
              <a:avLst/>
              <a:gdLst/>
              <a:ahLst/>
              <a:cxnLst/>
              <a:rect l="l" t="t" r="r" b="b"/>
              <a:pathLst>
                <a:path w="3522345" h="1194435">
                  <a:moveTo>
                    <a:pt x="3522240" y="473173"/>
                  </a:moveTo>
                  <a:lnTo>
                    <a:pt x="566949" y="703398"/>
                  </a:lnTo>
                </a:path>
                <a:path w="3522345" h="1194435">
                  <a:moveTo>
                    <a:pt x="3522239" y="0"/>
                  </a:moveTo>
                  <a:lnTo>
                    <a:pt x="355607" y="475442"/>
                  </a:lnTo>
                </a:path>
                <a:path w="3522345" h="1194435">
                  <a:moveTo>
                    <a:pt x="3513613" y="1043502"/>
                  </a:moveTo>
                  <a:lnTo>
                    <a:pt x="0" y="119397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22641" y="5222723"/>
            <a:ext cx="8972550" cy="584835"/>
            <a:chOff x="522641" y="5222723"/>
            <a:chExt cx="8972550" cy="584835"/>
          </a:xfrm>
        </p:grpSpPr>
        <p:sp>
          <p:nvSpPr>
            <p:cNvPr id="20" name="object 20"/>
            <p:cNvSpPr/>
            <p:nvPr/>
          </p:nvSpPr>
          <p:spPr>
            <a:xfrm>
              <a:off x="1022629" y="5222735"/>
              <a:ext cx="8472805" cy="584835"/>
            </a:xfrm>
            <a:custGeom>
              <a:avLst/>
              <a:gdLst/>
              <a:ahLst/>
              <a:cxnLst/>
              <a:rect l="l" t="t" r="r" b="b"/>
              <a:pathLst>
                <a:path w="8472805" h="584835">
                  <a:moveTo>
                    <a:pt x="8472272" y="0"/>
                  </a:moveTo>
                  <a:lnTo>
                    <a:pt x="0" y="0"/>
                  </a:lnTo>
                  <a:lnTo>
                    <a:pt x="0" y="393979"/>
                  </a:lnTo>
                  <a:lnTo>
                    <a:pt x="0" y="584771"/>
                  </a:lnTo>
                  <a:lnTo>
                    <a:pt x="8472272" y="584771"/>
                  </a:lnTo>
                  <a:lnTo>
                    <a:pt x="8472272" y="393979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2641" y="5222723"/>
              <a:ext cx="500380" cy="584835"/>
            </a:xfrm>
            <a:custGeom>
              <a:avLst/>
              <a:gdLst/>
              <a:ahLst/>
              <a:cxnLst/>
              <a:rect l="l" t="t" r="r" b="b"/>
              <a:pathLst>
                <a:path w="500380" h="584835">
                  <a:moveTo>
                    <a:pt x="499992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5847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12516" y="5239996"/>
            <a:ext cx="72339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'gujarat'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'INDIA'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627" y="489354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3695" y="2242948"/>
            <a:ext cx="9239250" cy="29502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996315">
              <a:lnSpc>
                <a:spcPct val="100000"/>
              </a:lnSpc>
              <a:spcBef>
                <a:spcPts val="670"/>
              </a:spcBef>
            </a:pPr>
            <a:r>
              <a:rPr sz="1600" spc="-75" dirty="0">
                <a:solidFill>
                  <a:srgbClr val="FFFFFF"/>
                </a:solidFill>
                <a:latin typeface="Roboto"/>
                <a:cs typeface="Roboto"/>
              </a:rPr>
              <a:t>list.py</a:t>
            </a:r>
            <a:endParaRPr sz="1600">
              <a:latin typeface="Roboto"/>
              <a:cs typeface="Roboto"/>
            </a:endParaRPr>
          </a:p>
          <a:p>
            <a:pPr marL="934085" indent="-283210">
              <a:lnSpc>
                <a:spcPct val="100000"/>
              </a:lnSpc>
              <a:spcBef>
                <a:spcPts val="575"/>
              </a:spcBef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93408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print(my_list[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  <a:p>
            <a:pPr marL="93408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print(len(my_list))</a:t>
            </a:r>
            <a:endParaRPr sz="1600">
              <a:latin typeface="Consolas"/>
              <a:cs typeface="Consolas"/>
            </a:endParaRPr>
          </a:p>
          <a:p>
            <a:pPr marL="93408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my_list[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]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endParaRPr sz="1600">
              <a:latin typeface="Consolas"/>
              <a:cs typeface="Consolas"/>
            </a:endParaRPr>
          </a:p>
          <a:p>
            <a:pPr marL="93408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  <a:p>
            <a:pPr marL="93408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934085" algn="l"/>
                <a:tab pos="934719" algn="l"/>
              </a:tabLst>
            </a:pPr>
            <a:r>
              <a:rPr sz="1600" spc="-5" dirty="0">
                <a:latin typeface="Consolas"/>
                <a:cs typeface="Consolas"/>
              </a:rPr>
              <a:t>print(my_list[-1])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slicing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order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sub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list.</a:t>
            </a:r>
            <a:endParaRPr sz="2400">
              <a:latin typeface="Roboto"/>
              <a:cs typeface="Roboto"/>
            </a:endParaRPr>
          </a:p>
          <a:p>
            <a:pPr marL="996315">
              <a:lnSpc>
                <a:spcPct val="100000"/>
              </a:lnSpc>
              <a:spcBef>
                <a:spcPts val="480"/>
              </a:spcBef>
            </a:pPr>
            <a:r>
              <a:rPr sz="1600" spc="-75" dirty="0">
                <a:solidFill>
                  <a:srgbClr val="FFFFFF"/>
                </a:solidFill>
                <a:latin typeface="Roboto"/>
                <a:cs typeface="Roboto"/>
              </a:rPr>
              <a:t>list.py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30777" y="5714741"/>
            <a:ext cx="2988945" cy="288290"/>
          </a:xfrm>
          <a:custGeom>
            <a:avLst/>
            <a:gdLst/>
            <a:ahLst/>
            <a:cxnLst/>
            <a:rect l="l" t="t" r="r" b="b"/>
            <a:pathLst>
              <a:path w="2988945" h="288289">
                <a:moveTo>
                  <a:pt x="2988704" y="287976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51432" y="5616707"/>
            <a:ext cx="5220970" cy="71691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['institut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ajkot']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b="1" i="1" spc="-15" dirty="0">
                <a:solidFill>
                  <a:srgbClr val="212121"/>
                </a:solidFill>
                <a:latin typeface="Roboto Cn"/>
                <a:cs typeface="Roboto Cn"/>
              </a:rPr>
              <a:t>Not</a:t>
            </a:r>
            <a:r>
              <a:rPr sz="1800" b="1" i="1" spc="-1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1800" b="1" i="1" spc="10" dirty="0">
                <a:solidFill>
                  <a:srgbClr val="212121"/>
                </a:solidFill>
                <a:latin typeface="Roboto Cn"/>
                <a:cs typeface="Roboto Cn"/>
              </a:rPr>
              <a:t> :</a:t>
            </a:r>
            <a:r>
              <a:rPr sz="1800" b="1" i="1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i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1800" i="1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included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249396" y="2313151"/>
          <a:ext cx="5220970" cy="2040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833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institut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(Lis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index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sta</a:t>
                      </a:r>
                      <a:r>
                        <a:rPr sz="18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0)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(lengt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List)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348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['darshan',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'institute',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'rajkot']</a:t>
                      </a:r>
                      <a:endParaRPr sz="1800">
                        <a:latin typeface="Roboto"/>
                        <a:cs typeface="Roboto"/>
                      </a:endParaRPr>
                    </a:p>
                    <a:p>
                      <a:pPr marR="6985" algn="ctr">
                        <a:lnSpc>
                          <a:spcPct val="100000"/>
                        </a:lnSpc>
                      </a:pPr>
                      <a:r>
                        <a:rPr sz="1800" b="1" i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Not</a:t>
                      </a:r>
                      <a:r>
                        <a:rPr sz="1800" b="1" i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</a:t>
                      </a:r>
                      <a:r>
                        <a:rPr sz="1800" b="1" i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800" b="1" i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: </a:t>
                      </a:r>
                      <a:r>
                        <a:rPr sz="1800" b="1" i="1" spc="3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spellin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g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ajko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i="1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updated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23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: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i="1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i="1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ajko</a:t>
                      </a:r>
                      <a:r>
                        <a:rPr sz="1800" i="1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i="1" spc="-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(-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ep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esen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last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element)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3169287" y="4047423"/>
            <a:ext cx="3059430" cy="114935"/>
          </a:xfrm>
          <a:custGeom>
            <a:avLst/>
            <a:gdLst/>
            <a:ahLst/>
            <a:cxnLst/>
            <a:rect l="l" t="t" r="r" b="b"/>
            <a:pathLst>
              <a:path w="3059429" h="114935">
                <a:moveTo>
                  <a:pt x="3058821" y="114831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394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List</a:t>
            </a:r>
            <a:r>
              <a:rPr spc="-35" dirty="0"/>
              <a:t> </a:t>
            </a:r>
            <a:r>
              <a:rPr spc="10" dirty="0"/>
              <a:t>methods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22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522641" y="1641324"/>
            <a:ext cx="8972550" cy="862330"/>
            <a:chOff x="522641" y="1641324"/>
            <a:chExt cx="8972550" cy="862330"/>
          </a:xfrm>
        </p:grpSpPr>
        <p:sp>
          <p:nvSpPr>
            <p:cNvPr id="4" name="object 4"/>
            <p:cNvSpPr/>
            <p:nvPr/>
          </p:nvSpPr>
          <p:spPr>
            <a:xfrm>
              <a:off x="1022634" y="1641324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30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2641" y="1641324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2516" y="1658596"/>
            <a:ext cx="52235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my_list.append(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'gujarat'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627" y="1312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3695" y="654089"/>
            <a:ext cx="6961505" cy="95758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8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append()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add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list.</a:t>
            </a:r>
            <a:endParaRPr sz="2400">
              <a:latin typeface="Roboto"/>
              <a:cs typeface="Roboto"/>
            </a:endParaRPr>
          </a:p>
          <a:p>
            <a:pPr marL="475615">
              <a:lnSpc>
                <a:spcPct val="100000"/>
              </a:lnSpc>
              <a:spcBef>
                <a:spcPts val="101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appendlistdemo.py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56697" y="2173067"/>
            <a:ext cx="3192145" cy="159385"/>
          </a:xfrm>
          <a:custGeom>
            <a:avLst/>
            <a:gdLst/>
            <a:ahLst/>
            <a:cxnLst/>
            <a:rect l="l" t="t" r="r" b="b"/>
            <a:pathLst>
              <a:path w="3192145" h="159385">
                <a:moveTo>
                  <a:pt x="3191849" y="0"/>
                </a:moveTo>
                <a:lnTo>
                  <a:pt x="0" y="158979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80498" y="1942174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r>
              <a:rPr sz="18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['darshan',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'institute',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'rajkot',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'gujarat']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2641" y="3436256"/>
            <a:ext cx="8972550" cy="1077595"/>
            <a:chOff x="522641" y="3436256"/>
            <a:chExt cx="8972550" cy="1077595"/>
          </a:xfrm>
        </p:grpSpPr>
        <p:sp>
          <p:nvSpPr>
            <p:cNvPr id="12" name="object 12"/>
            <p:cNvSpPr/>
            <p:nvPr/>
          </p:nvSpPr>
          <p:spPr>
            <a:xfrm>
              <a:off x="1022634" y="3436256"/>
              <a:ext cx="8472805" cy="1077595"/>
            </a:xfrm>
            <a:custGeom>
              <a:avLst/>
              <a:gdLst/>
              <a:ahLst/>
              <a:cxnLst/>
              <a:rect l="l" t="t" r="r" b="b"/>
              <a:pathLst>
                <a:path w="8472805" h="1077595">
                  <a:moveTo>
                    <a:pt x="8472275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107721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641" y="3436256"/>
              <a:ext cx="500380" cy="1077595"/>
            </a:xfrm>
            <a:custGeom>
              <a:avLst/>
              <a:gdLst/>
              <a:ahLst/>
              <a:cxnLst/>
              <a:rect l="l" t="t" r="r" b="b"/>
              <a:pathLst>
                <a:path w="500380" h="1077595">
                  <a:moveTo>
                    <a:pt x="499992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07721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2516" y="3453529"/>
            <a:ext cx="522351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my_list.insert(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'of'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my_list.insert(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'engineering'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627" y="310707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3695" y="2523530"/>
            <a:ext cx="8007350" cy="88328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t(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add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elemen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400">
              <a:latin typeface="Roboto"/>
              <a:cs typeface="Roboto"/>
            </a:endParaRPr>
          </a:p>
          <a:p>
            <a:pPr marL="541655">
              <a:lnSpc>
                <a:spcPct val="100000"/>
              </a:lnSpc>
              <a:spcBef>
                <a:spcPts val="78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insertlistdemo.py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31271" y="3968000"/>
            <a:ext cx="3217545" cy="413384"/>
          </a:xfrm>
          <a:custGeom>
            <a:avLst/>
            <a:gdLst/>
            <a:ahLst/>
            <a:cxnLst/>
            <a:rect l="l" t="t" r="r" b="b"/>
            <a:pathLst>
              <a:path w="3217545" h="413385">
                <a:moveTo>
                  <a:pt x="3217275" y="0"/>
                </a:moveTo>
                <a:lnTo>
                  <a:pt x="0" y="41298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80498" y="3737107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535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['darshan',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'institute',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80" dirty="0">
                <a:solidFill>
                  <a:srgbClr val="212121"/>
                </a:solidFill>
                <a:latin typeface="Roboto"/>
                <a:cs typeface="Roboto"/>
              </a:rPr>
              <a:t>'of',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'engineering',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'rajkot']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9568" y="5468256"/>
            <a:ext cx="8472805" cy="1077595"/>
          </a:xfrm>
          <a:custGeom>
            <a:avLst/>
            <a:gdLst/>
            <a:ahLst/>
            <a:cxnLst/>
            <a:rect l="l" t="t" r="r" b="b"/>
            <a:pathLst>
              <a:path w="8472805" h="1077595">
                <a:moveTo>
                  <a:pt x="8472275" y="1077217"/>
                </a:moveTo>
                <a:lnTo>
                  <a:pt x="0" y="1077217"/>
                </a:lnTo>
                <a:lnTo>
                  <a:pt x="0" y="0"/>
                </a:lnTo>
                <a:lnTo>
                  <a:pt x="8472275" y="0"/>
                </a:lnTo>
                <a:lnTo>
                  <a:pt x="8472275" y="107721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39568" y="5468256"/>
            <a:ext cx="8472805" cy="10775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4469130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my_list1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]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my_list2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'gujarat'</a:t>
            </a:r>
            <a:r>
              <a:rPr sz="1600" spc="-5" dirty="0">
                <a:latin typeface="Consolas"/>
                <a:cs typeface="Consolas"/>
              </a:rPr>
              <a:t>]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my_list1.extend(my_list2)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print(my_list1)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575" y="5468256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9560" y="51390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3695" y="4594900"/>
            <a:ext cx="8807450" cy="84391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extend()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add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structure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(List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any)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current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400">
              <a:latin typeface="Roboto"/>
              <a:cs typeface="Roboto"/>
            </a:endParaRPr>
          </a:p>
          <a:p>
            <a:pPr marL="518795">
              <a:lnSpc>
                <a:spcPct val="100000"/>
              </a:lnSpc>
              <a:spcBef>
                <a:spcPts val="65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extendlistdemo.py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08125" y="6296333"/>
            <a:ext cx="1254125" cy="69850"/>
          </a:xfrm>
          <a:custGeom>
            <a:avLst/>
            <a:gdLst/>
            <a:ahLst/>
            <a:cxnLst/>
            <a:rect l="l" t="t" r="r" b="b"/>
            <a:pathLst>
              <a:path w="1254125" h="69850">
                <a:moveTo>
                  <a:pt x="1253955" y="0"/>
                </a:moveTo>
                <a:lnTo>
                  <a:pt x="0" y="6968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94032" y="6065439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535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['darshan',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'institute',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‘rajkot',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‘gujarat']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0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5650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31" name="Picture 3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889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List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dirty="0"/>
              <a:t> </a:t>
            </a:r>
            <a:r>
              <a:rPr spc="25" dirty="0"/>
              <a:t>(cont.)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2672127"/>
            <a:ext cx="825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remove()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remove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ﬁrst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occurrence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4263691"/>
            <a:ext cx="7088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clear()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remove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600" y="5943600"/>
            <a:ext cx="7682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index()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ﬁrst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element.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2641" y="1641324"/>
            <a:ext cx="8972550" cy="1077595"/>
            <a:chOff x="522641" y="1641324"/>
            <a:chExt cx="8972550" cy="1077595"/>
          </a:xfrm>
        </p:grpSpPr>
        <p:sp>
          <p:nvSpPr>
            <p:cNvPr id="7" name="object 7"/>
            <p:cNvSpPr/>
            <p:nvPr/>
          </p:nvSpPr>
          <p:spPr>
            <a:xfrm>
              <a:off x="1022634" y="1641324"/>
              <a:ext cx="8472805" cy="1077595"/>
            </a:xfrm>
            <a:custGeom>
              <a:avLst/>
              <a:gdLst/>
              <a:ahLst/>
              <a:cxnLst/>
              <a:rect l="l" t="t" r="r" b="b"/>
              <a:pathLst>
                <a:path w="8472805" h="1077595">
                  <a:moveTo>
                    <a:pt x="8472275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107721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641" y="1641324"/>
              <a:ext cx="500380" cy="1077595"/>
            </a:xfrm>
            <a:custGeom>
              <a:avLst/>
              <a:gdLst/>
              <a:ahLst/>
              <a:cxnLst/>
              <a:rect l="l" t="t" r="r" b="b"/>
              <a:pathLst>
                <a:path w="500380" h="1077595">
                  <a:moveTo>
                    <a:pt x="499992" y="1077217"/>
                  </a:moveTo>
                  <a:lnTo>
                    <a:pt x="0" y="1077217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07721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2516" y="1658596"/>
            <a:ext cx="51117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temp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my_list.pop()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print(temp)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2627" y="1312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3695" y="654089"/>
            <a:ext cx="8502015" cy="95758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pop()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remove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last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it.</a:t>
            </a:r>
            <a:endParaRPr sz="2400">
              <a:latin typeface="Roboto"/>
              <a:cs typeface="Roboto"/>
            </a:endParaRPr>
          </a:p>
          <a:p>
            <a:pPr marL="620395">
              <a:lnSpc>
                <a:spcPct val="100000"/>
              </a:lnSpc>
              <a:spcBef>
                <a:spcPts val="101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poplistdemo.py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03046" y="1991912"/>
            <a:ext cx="3554729" cy="332105"/>
          </a:xfrm>
          <a:custGeom>
            <a:avLst/>
            <a:gdLst/>
            <a:ahLst/>
            <a:cxnLst/>
            <a:rect l="l" t="t" r="r" b="b"/>
            <a:pathLst>
              <a:path w="3554729" h="332105">
                <a:moveTo>
                  <a:pt x="3554127" y="0"/>
                </a:moveTo>
                <a:lnTo>
                  <a:pt x="0" y="331507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89126" y="1761019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2641" y="3436256"/>
            <a:ext cx="8972550" cy="862330"/>
            <a:chOff x="522641" y="3436256"/>
            <a:chExt cx="8972550" cy="862330"/>
          </a:xfrm>
        </p:grpSpPr>
        <p:sp>
          <p:nvSpPr>
            <p:cNvPr id="15" name="object 15"/>
            <p:cNvSpPr/>
            <p:nvPr/>
          </p:nvSpPr>
          <p:spPr>
            <a:xfrm>
              <a:off x="1022634" y="3436256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29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641" y="3436256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2516" y="3453529"/>
            <a:ext cx="6340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my_list.remove(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2627" y="310707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8009" y="3136951"/>
            <a:ext cx="15481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removelistdemo.py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31271" y="3968000"/>
            <a:ext cx="3217545" cy="163195"/>
          </a:xfrm>
          <a:custGeom>
            <a:avLst/>
            <a:gdLst/>
            <a:ahLst/>
            <a:cxnLst/>
            <a:rect l="l" t="t" r="r" b="b"/>
            <a:pathLst>
              <a:path w="3217545" h="163195">
                <a:moveTo>
                  <a:pt x="3217275" y="0"/>
                </a:moveTo>
                <a:lnTo>
                  <a:pt x="0" y="162814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80498" y="3737107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['institut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254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ajkot']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39568" y="4993804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29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39568" y="4993804"/>
            <a:ext cx="8472805" cy="8623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2346960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my_list.clear()</a:t>
            </a: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575" y="4993804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9560" y="466462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2201" y="4694499"/>
            <a:ext cx="1351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clearlistdemo.py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95624" y="5525548"/>
            <a:ext cx="3182620" cy="124460"/>
          </a:xfrm>
          <a:custGeom>
            <a:avLst/>
            <a:gdLst/>
            <a:ahLst/>
            <a:cxnLst/>
            <a:rect l="l" t="t" r="r" b="b"/>
            <a:pathLst>
              <a:path w="3182620" h="124460">
                <a:moveTo>
                  <a:pt x="3182342" y="0"/>
                </a:moveTo>
                <a:lnTo>
                  <a:pt x="0" y="12400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97431" y="5294655"/>
            <a:ext cx="3180715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[]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48095" y="2474991"/>
            <a:ext cx="3209290" cy="90170"/>
          </a:xfrm>
          <a:custGeom>
            <a:avLst/>
            <a:gdLst/>
            <a:ahLst/>
            <a:cxnLst/>
            <a:rect l="l" t="t" r="r" b="b"/>
            <a:pathLst>
              <a:path w="3209290" h="90169">
                <a:moveTo>
                  <a:pt x="3209078" y="0"/>
                </a:moveTo>
                <a:lnTo>
                  <a:pt x="0" y="8997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89126" y="2244097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[</a:t>
            </a:r>
            <a:r>
              <a:rPr sz="1800" i="1" spc="-11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254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'institut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85" dirty="0">
                <a:solidFill>
                  <a:srgbClr val="212121"/>
                </a:solidFill>
                <a:latin typeface="Roboto"/>
                <a:cs typeface="Roboto"/>
              </a:rPr>
              <a:t>‘]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8" name="object 6"/>
          <p:cNvSpPr txBox="1">
            <a:spLocks noGrp="1"/>
          </p:cNvSpPr>
          <p:nvPr>
            <p:ph type="dt" sz="half" idx="10"/>
          </p:nvPr>
        </p:nvSpPr>
        <p:spPr>
          <a:xfrm>
            <a:off x="762000" y="66412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39" name="Picture 3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bject 6"/>
          <p:cNvSpPr txBox="1">
            <a:spLocks noGrp="1"/>
          </p:cNvSpPr>
          <p:nvPr>
            <p:ph type="dt" sz="half" idx="10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48" name="Picture 4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356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List</a:t>
            </a:r>
            <a:r>
              <a:rPr spc="-5" dirty="0"/>
              <a:t> </a:t>
            </a:r>
            <a:r>
              <a:rPr spc="10" dirty="0"/>
              <a:t>methods</a:t>
            </a:r>
            <a:r>
              <a:rPr dirty="0"/>
              <a:t> </a:t>
            </a:r>
            <a:r>
              <a:rPr spc="25" dirty="0"/>
              <a:t>(cont.)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13" name="object 13"/>
          <p:cNvSpPr txBox="1"/>
          <p:nvPr/>
        </p:nvSpPr>
        <p:spPr>
          <a:xfrm>
            <a:off x="173695" y="4263691"/>
            <a:ext cx="5873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sort()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sort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2634" y="1641324"/>
            <a:ext cx="8472805" cy="862330"/>
          </a:xfrm>
          <a:custGeom>
            <a:avLst/>
            <a:gdLst/>
            <a:ahLst/>
            <a:cxnLst/>
            <a:rect l="l" t="t" r="r" b="b"/>
            <a:pathLst>
              <a:path w="8472805" h="862330">
                <a:moveTo>
                  <a:pt x="8472275" y="861773"/>
                </a:moveTo>
                <a:lnTo>
                  <a:pt x="0" y="861773"/>
                </a:lnTo>
                <a:lnTo>
                  <a:pt x="0" y="0"/>
                </a:lnTo>
                <a:lnTo>
                  <a:pt x="8472275" y="0"/>
                </a:lnTo>
                <a:lnTo>
                  <a:pt x="8472275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10071" y="1723584"/>
            <a:ext cx="122999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600" spc="5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</a:t>
            </a:r>
            <a:r>
              <a:rPr sz="1600" spc="5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5660" y="1658596"/>
            <a:ext cx="48272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my_list.count(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2634" y="2146275"/>
            <a:ext cx="84728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print(c)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2641" y="1641324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2627" y="1312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3695" y="654089"/>
            <a:ext cx="9608185" cy="95758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count()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occurrence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element.</a:t>
            </a:r>
            <a:endParaRPr sz="2400">
              <a:latin typeface="Roboto"/>
              <a:cs typeface="Roboto"/>
            </a:endParaRPr>
          </a:p>
          <a:p>
            <a:pPr marL="544830">
              <a:lnSpc>
                <a:spcPct val="100000"/>
              </a:lnSpc>
              <a:spcBef>
                <a:spcPts val="101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countlistdemo.py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12000" y="1754669"/>
            <a:ext cx="9104630" cy="558165"/>
            <a:chOff x="2112000" y="1754669"/>
            <a:chExt cx="9104630" cy="558165"/>
          </a:xfrm>
        </p:grpSpPr>
        <p:sp>
          <p:nvSpPr>
            <p:cNvPr id="22" name="object 22"/>
            <p:cNvSpPr/>
            <p:nvPr/>
          </p:nvSpPr>
          <p:spPr>
            <a:xfrm>
              <a:off x="5989126" y="1761019"/>
              <a:ext cx="5220970" cy="428625"/>
            </a:xfrm>
            <a:custGeom>
              <a:avLst/>
              <a:gdLst/>
              <a:ahLst/>
              <a:cxnLst/>
              <a:rect l="l" t="t" r="r" b="b"/>
              <a:pathLst>
                <a:path w="5220970" h="428625">
                  <a:moveTo>
                    <a:pt x="5220899" y="428492"/>
                  </a:moveTo>
                  <a:lnTo>
                    <a:pt x="0" y="428492"/>
                  </a:lnTo>
                  <a:lnTo>
                    <a:pt x="0" y="0"/>
                  </a:lnTo>
                  <a:lnTo>
                    <a:pt x="5220899" y="0"/>
                  </a:lnTo>
                  <a:lnTo>
                    <a:pt x="5220899" y="4284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18350" y="1761019"/>
              <a:ext cx="9091930" cy="545465"/>
            </a:xfrm>
            <a:custGeom>
              <a:avLst/>
              <a:gdLst/>
              <a:ahLst/>
              <a:cxnLst/>
              <a:rect l="l" t="t" r="r" b="b"/>
              <a:pathLst>
                <a:path w="9091930" h="545464">
                  <a:moveTo>
                    <a:pt x="3870775" y="0"/>
                  </a:moveTo>
                  <a:lnTo>
                    <a:pt x="9091674" y="0"/>
                  </a:lnTo>
                  <a:lnTo>
                    <a:pt x="9091674" y="428492"/>
                  </a:lnTo>
                  <a:lnTo>
                    <a:pt x="3870775" y="428492"/>
                  </a:lnTo>
                  <a:lnTo>
                    <a:pt x="3870775" y="0"/>
                  </a:lnTo>
                  <a:close/>
                </a:path>
                <a:path w="9091930" h="545464">
                  <a:moveTo>
                    <a:pt x="3838823" y="230893"/>
                  </a:moveTo>
                  <a:lnTo>
                    <a:pt x="0" y="54515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989126" y="1761019"/>
            <a:ext cx="5220970" cy="428625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2641" y="3436256"/>
            <a:ext cx="8972550" cy="862330"/>
            <a:chOff x="522641" y="3436256"/>
            <a:chExt cx="8972550" cy="862330"/>
          </a:xfrm>
        </p:grpSpPr>
        <p:sp>
          <p:nvSpPr>
            <p:cNvPr id="26" name="object 26"/>
            <p:cNvSpPr/>
            <p:nvPr/>
          </p:nvSpPr>
          <p:spPr>
            <a:xfrm>
              <a:off x="1022634" y="3436256"/>
              <a:ext cx="8472805" cy="862330"/>
            </a:xfrm>
            <a:custGeom>
              <a:avLst/>
              <a:gdLst/>
              <a:ahLst/>
              <a:cxnLst/>
              <a:rect l="l" t="t" r="r" b="b"/>
              <a:pathLst>
                <a:path w="8472805" h="862329">
                  <a:moveTo>
                    <a:pt x="8472275" y="861773"/>
                  </a:moveTo>
                  <a:lnTo>
                    <a:pt x="0" y="861773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861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641" y="3436256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2516" y="3453529"/>
            <a:ext cx="5111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my_list.reverse()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2627" y="310707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3695" y="2523530"/>
            <a:ext cx="6692900" cy="88328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reverse()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reverse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endParaRPr sz="2400">
              <a:latin typeface="Roboto"/>
              <a:cs typeface="Roboto"/>
            </a:endParaRPr>
          </a:p>
          <a:p>
            <a:pPr marL="479425">
              <a:lnSpc>
                <a:spcPct val="100000"/>
              </a:lnSpc>
              <a:spcBef>
                <a:spcPts val="78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reverselistdemo.py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731271" y="3968000"/>
            <a:ext cx="3217545" cy="163195"/>
          </a:xfrm>
          <a:custGeom>
            <a:avLst/>
            <a:gdLst/>
            <a:ahLst/>
            <a:cxnLst/>
            <a:rect l="l" t="t" r="r" b="b"/>
            <a:pathLst>
              <a:path w="3217545" h="163195">
                <a:moveTo>
                  <a:pt x="3217275" y="0"/>
                </a:moveTo>
                <a:lnTo>
                  <a:pt x="0" y="162814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980498" y="3737107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['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ajkot'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0" dirty="0">
                <a:solidFill>
                  <a:srgbClr val="212121"/>
                </a:solidFill>
                <a:latin typeface="Roboto"/>
                <a:cs typeface="Roboto"/>
              </a:rPr>
              <a:t>‘institut</a:t>
            </a:r>
            <a:r>
              <a:rPr sz="1800" i="1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8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6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254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65" dirty="0">
                <a:solidFill>
                  <a:srgbClr val="212121"/>
                </a:solidFill>
                <a:latin typeface="Roboto"/>
                <a:cs typeface="Roboto"/>
              </a:rPr>
              <a:t>']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39575" y="4993804"/>
            <a:ext cx="8972550" cy="1323975"/>
            <a:chOff x="539575" y="4993804"/>
            <a:chExt cx="8972550" cy="1323975"/>
          </a:xfrm>
        </p:grpSpPr>
        <p:sp>
          <p:nvSpPr>
            <p:cNvPr id="34" name="object 34"/>
            <p:cNvSpPr/>
            <p:nvPr/>
          </p:nvSpPr>
          <p:spPr>
            <a:xfrm>
              <a:off x="1039567" y="4993804"/>
              <a:ext cx="8472805" cy="1323975"/>
            </a:xfrm>
            <a:custGeom>
              <a:avLst/>
              <a:gdLst/>
              <a:ahLst/>
              <a:cxnLst/>
              <a:rect l="l" t="t" r="r" b="b"/>
              <a:pathLst>
                <a:path w="8472805" h="1323975">
                  <a:moveTo>
                    <a:pt x="8472275" y="1323439"/>
                  </a:moveTo>
                  <a:lnTo>
                    <a:pt x="0" y="1323439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13234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9575" y="4993804"/>
              <a:ext cx="500380" cy="1323975"/>
            </a:xfrm>
            <a:custGeom>
              <a:avLst/>
              <a:gdLst/>
              <a:ahLst/>
              <a:cxnLst/>
              <a:rect l="l" t="t" r="r" b="b"/>
              <a:pathLst>
                <a:path w="500380" h="1323975">
                  <a:moveTo>
                    <a:pt x="499992" y="1323439"/>
                  </a:moveTo>
                  <a:lnTo>
                    <a:pt x="0" y="1323439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132343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29449" y="5011077"/>
            <a:ext cx="70104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'of'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'enginnering'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'rajkot'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my_list.sort()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my_list.sort(reverse=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print(my_list)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9560" y="466462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8853" y="4694499"/>
            <a:ext cx="1279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sortlistdemo.py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755783" y="5525548"/>
            <a:ext cx="3210560" cy="132715"/>
          </a:xfrm>
          <a:custGeom>
            <a:avLst/>
            <a:gdLst/>
            <a:ahLst/>
            <a:cxnLst/>
            <a:rect l="l" t="t" r="r" b="b"/>
            <a:pathLst>
              <a:path w="3210560" h="132714">
                <a:moveTo>
                  <a:pt x="3210036" y="0"/>
                </a:moveTo>
                <a:lnTo>
                  <a:pt x="0" y="132627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997430" y="5294655"/>
            <a:ext cx="5165725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535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['college',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'darshan',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'enginnering',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80" dirty="0">
                <a:solidFill>
                  <a:srgbClr val="212121"/>
                </a:solidFill>
                <a:latin typeface="Roboto"/>
                <a:cs typeface="Roboto"/>
              </a:rPr>
              <a:t>'of',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'rajkot']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12654" y="6025880"/>
            <a:ext cx="3253740" cy="115570"/>
          </a:xfrm>
          <a:custGeom>
            <a:avLst/>
            <a:gdLst/>
            <a:ahLst/>
            <a:cxnLst/>
            <a:rect l="l" t="t" r="r" b="b"/>
            <a:pathLst>
              <a:path w="3253740" h="115570">
                <a:moveTo>
                  <a:pt x="3253165" y="0"/>
                </a:moveTo>
                <a:lnTo>
                  <a:pt x="0" y="115376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997430" y="5794986"/>
            <a:ext cx="5165725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['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ajkot'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i="1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enginnering'</a:t>
            </a:r>
            <a:r>
              <a:rPr sz="1800" i="1" spc="-5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254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10" dirty="0">
                <a:solidFill>
                  <a:srgbClr val="212121"/>
                </a:solidFill>
                <a:latin typeface="Roboto"/>
                <a:cs typeface="Roboto"/>
              </a:rPr>
              <a:t>colleg</a:t>
            </a:r>
            <a:r>
              <a:rPr sz="1800" i="1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65" dirty="0">
                <a:solidFill>
                  <a:srgbClr val="212121"/>
                </a:solidFill>
                <a:latin typeface="Roboto"/>
                <a:cs typeface="Roboto"/>
              </a:rPr>
              <a:t>']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6"/>
          <p:cNvSpPr txBox="1">
            <a:spLocks/>
          </p:cNvSpPr>
          <p:nvPr/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" name="Picture 2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30035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Tuple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129645" cy="13944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immutable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ordered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sequence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objects,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duplicate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inside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list.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represented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round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).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mutable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whearas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immutable.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629" y="2614993"/>
            <a:ext cx="8472805" cy="1323975"/>
          </a:xfrm>
          <a:custGeom>
            <a:avLst/>
            <a:gdLst/>
            <a:ahLst/>
            <a:cxnLst/>
            <a:rect l="l" t="t" r="r" b="b"/>
            <a:pathLst>
              <a:path w="8472805" h="1323975">
                <a:moveTo>
                  <a:pt x="8472272" y="0"/>
                </a:moveTo>
                <a:lnTo>
                  <a:pt x="0" y="0"/>
                </a:lnTo>
                <a:lnTo>
                  <a:pt x="0" y="331419"/>
                </a:lnTo>
                <a:lnTo>
                  <a:pt x="0" y="944321"/>
                </a:lnTo>
                <a:lnTo>
                  <a:pt x="0" y="1323441"/>
                </a:lnTo>
                <a:lnTo>
                  <a:pt x="8472272" y="1323441"/>
                </a:lnTo>
                <a:lnTo>
                  <a:pt x="8472272" y="944321"/>
                </a:lnTo>
                <a:lnTo>
                  <a:pt x="8472272" y="331419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33729" y="2697251"/>
            <a:ext cx="24587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eering</a:t>
            </a:r>
            <a:r>
              <a:rPr sz="1600" spc="10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'of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'rajkot</a:t>
            </a:r>
            <a:r>
              <a:rPr sz="1600" spc="5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641" y="2614990"/>
            <a:ext cx="500380" cy="1323975"/>
          </a:xfrm>
          <a:custGeom>
            <a:avLst/>
            <a:gdLst/>
            <a:ahLst/>
            <a:cxnLst/>
            <a:rect l="l" t="t" r="r" b="b"/>
            <a:pathLst>
              <a:path w="500380" h="1323975">
                <a:moveTo>
                  <a:pt x="499992" y="1323438"/>
                </a:moveTo>
                <a:lnTo>
                  <a:pt x="0" y="1323438"/>
                </a:lnTo>
                <a:lnTo>
                  <a:pt x="0" y="0"/>
                </a:lnTo>
                <a:lnTo>
                  <a:pt x="499992" y="0"/>
                </a:lnTo>
                <a:lnTo>
                  <a:pt x="499992" y="1323438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2516" y="2632262"/>
            <a:ext cx="53340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my_tuple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'darshan'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'institute'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'of'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'engin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print(my_tuple)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print(my_tuple.index(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'engineering'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print(my_tuple.count(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'of'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print(my_tuple[-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627" y="2285806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5344" y="2315685"/>
            <a:ext cx="11131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tupledemo.py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90147" y="3042841"/>
            <a:ext cx="6282690" cy="428625"/>
            <a:chOff x="5190147" y="3042841"/>
            <a:chExt cx="6282690" cy="428625"/>
          </a:xfrm>
        </p:grpSpPr>
        <p:sp>
          <p:nvSpPr>
            <p:cNvPr id="11" name="object 11"/>
            <p:cNvSpPr/>
            <p:nvPr/>
          </p:nvSpPr>
          <p:spPr>
            <a:xfrm>
              <a:off x="6251432" y="3042841"/>
              <a:ext cx="5220970" cy="428625"/>
            </a:xfrm>
            <a:custGeom>
              <a:avLst/>
              <a:gdLst/>
              <a:ahLst/>
              <a:cxnLst/>
              <a:rect l="l" t="t" r="r" b="b"/>
              <a:pathLst>
                <a:path w="5220970" h="428625">
                  <a:moveTo>
                    <a:pt x="5220899" y="428492"/>
                  </a:moveTo>
                  <a:lnTo>
                    <a:pt x="0" y="428492"/>
                  </a:lnTo>
                  <a:lnTo>
                    <a:pt x="0" y="0"/>
                  </a:lnTo>
                  <a:lnTo>
                    <a:pt x="5220899" y="0"/>
                  </a:lnTo>
                  <a:lnTo>
                    <a:pt x="5220899" y="4284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6497" y="3273734"/>
              <a:ext cx="1022985" cy="23495"/>
            </a:xfrm>
            <a:custGeom>
              <a:avLst/>
              <a:gdLst/>
              <a:ahLst/>
              <a:cxnLst/>
              <a:rect l="l" t="t" r="r" b="b"/>
              <a:pathLst>
                <a:path w="1022985" h="23495">
                  <a:moveTo>
                    <a:pt x="1022983" y="0"/>
                  </a:moveTo>
                  <a:lnTo>
                    <a:pt x="0" y="23194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51432" y="3042841"/>
            <a:ext cx="5220970" cy="428625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(inde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70" dirty="0">
                <a:solidFill>
                  <a:srgbClr val="212121"/>
                </a:solidFill>
                <a:latin typeface="Roboto"/>
                <a:cs typeface="Roboto"/>
              </a:rPr>
              <a:t>‘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engineering’)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48061" y="2748801"/>
            <a:ext cx="3368040" cy="294640"/>
          </a:xfrm>
          <a:custGeom>
            <a:avLst/>
            <a:gdLst/>
            <a:ahLst/>
            <a:cxnLst/>
            <a:rect l="l" t="t" r="r" b="b"/>
            <a:pathLst>
              <a:path w="3368040" h="294639">
                <a:moveTo>
                  <a:pt x="3367823" y="0"/>
                </a:moveTo>
                <a:lnTo>
                  <a:pt x="0" y="294289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51431" y="2517907"/>
            <a:ext cx="5808345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535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('darshan',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'institute',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80" dirty="0">
                <a:solidFill>
                  <a:srgbClr val="212121"/>
                </a:solidFill>
                <a:latin typeface="Roboto"/>
                <a:cs typeface="Roboto"/>
              </a:rPr>
              <a:t>'of',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'engineering',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80" dirty="0">
                <a:solidFill>
                  <a:srgbClr val="212121"/>
                </a:solidFill>
                <a:latin typeface="Roboto"/>
                <a:cs typeface="Roboto"/>
              </a:rPr>
              <a:t>'of',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'rajkot')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24105" y="3538627"/>
            <a:ext cx="1995805" cy="255270"/>
          </a:xfrm>
          <a:custGeom>
            <a:avLst/>
            <a:gdLst/>
            <a:ahLst/>
            <a:cxnLst/>
            <a:rect l="l" t="t" r="r" b="b"/>
            <a:pathLst>
              <a:path w="1995804" h="255270">
                <a:moveTo>
                  <a:pt x="1995375" y="254929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51432" y="3559307"/>
            <a:ext cx="5220970" cy="43497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01102" y="3771538"/>
            <a:ext cx="2918460" cy="539750"/>
          </a:xfrm>
          <a:custGeom>
            <a:avLst/>
            <a:gdLst/>
            <a:ahLst/>
            <a:cxnLst/>
            <a:rect l="l" t="t" r="r" b="b"/>
            <a:pathLst>
              <a:path w="2918460" h="539750">
                <a:moveTo>
                  <a:pt x="2918378" y="539604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51432" y="4076892"/>
            <a:ext cx="5220970" cy="43497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ajkot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3155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Dictionary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grpSp>
        <p:nvGrpSpPr>
          <p:cNvPr id="13" name="object 13"/>
          <p:cNvGrpSpPr/>
          <p:nvPr/>
        </p:nvGrpSpPr>
        <p:grpSpPr>
          <a:xfrm>
            <a:off x="522641" y="4728462"/>
            <a:ext cx="8972550" cy="831215"/>
            <a:chOff x="522641" y="4728462"/>
            <a:chExt cx="8972550" cy="831215"/>
          </a:xfrm>
        </p:grpSpPr>
        <p:sp>
          <p:nvSpPr>
            <p:cNvPr id="14" name="object 14"/>
            <p:cNvSpPr/>
            <p:nvPr/>
          </p:nvSpPr>
          <p:spPr>
            <a:xfrm>
              <a:off x="1022629" y="4728464"/>
              <a:ext cx="8472805" cy="831215"/>
            </a:xfrm>
            <a:custGeom>
              <a:avLst/>
              <a:gdLst/>
              <a:ahLst/>
              <a:cxnLst/>
              <a:rect l="l" t="t" r="r" b="b"/>
              <a:pathLst>
                <a:path w="8472805" h="831214">
                  <a:moveTo>
                    <a:pt x="8472272" y="0"/>
                  </a:moveTo>
                  <a:lnTo>
                    <a:pt x="0" y="0"/>
                  </a:lnTo>
                  <a:lnTo>
                    <a:pt x="0" y="462356"/>
                  </a:lnTo>
                  <a:lnTo>
                    <a:pt x="0" y="830999"/>
                  </a:lnTo>
                  <a:lnTo>
                    <a:pt x="8472272" y="830999"/>
                  </a:lnTo>
                  <a:lnTo>
                    <a:pt x="8472272" y="462356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641" y="4728462"/>
              <a:ext cx="500380" cy="831215"/>
            </a:xfrm>
            <a:custGeom>
              <a:avLst/>
              <a:gdLst/>
              <a:ahLst/>
              <a:cxnLst/>
              <a:rect l="l" t="t" r="r" b="b"/>
              <a:pathLst>
                <a:path w="500380" h="831214">
                  <a:moveTo>
                    <a:pt x="499992" y="830996"/>
                  </a:moveTo>
                  <a:lnTo>
                    <a:pt x="0" y="830996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8309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2516" y="4745733"/>
            <a:ext cx="80156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my_dict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{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'city'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'type'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"engineering"</a:t>
            </a: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print(my_dict[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print(my_dict.get(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'city'</a:t>
            </a:r>
            <a:r>
              <a:rPr sz="1600" spc="-5" dirty="0">
                <a:latin typeface="Consolas"/>
                <a:cs typeface="Consolas"/>
              </a:rPr>
              <a:t>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627" y="4399277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04792" y="4429156"/>
            <a:ext cx="10147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dictdemo.py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00780" y="5184468"/>
            <a:ext cx="6935470" cy="1033144"/>
            <a:chOff x="4000780" y="5184468"/>
            <a:chExt cx="6935470" cy="1033144"/>
          </a:xfrm>
        </p:grpSpPr>
        <p:sp>
          <p:nvSpPr>
            <p:cNvPr id="20" name="object 20"/>
            <p:cNvSpPr/>
            <p:nvPr/>
          </p:nvSpPr>
          <p:spPr>
            <a:xfrm>
              <a:off x="5406044" y="5190818"/>
              <a:ext cx="5523865" cy="1020444"/>
            </a:xfrm>
            <a:custGeom>
              <a:avLst/>
              <a:gdLst/>
              <a:ahLst/>
              <a:cxnLst/>
              <a:rect l="l" t="t" r="r" b="b"/>
              <a:pathLst>
                <a:path w="5523865" h="1020445">
                  <a:moveTo>
                    <a:pt x="5523623" y="1020201"/>
                  </a:moveTo>
                  <a:lnTo>
                    <a:pt x="0" y="1020201"/>
                  </a:lnTo>
                  <a:lnTo>
                    <a:pt x="0" y="0"/>
                  </a:lnTo>
                  <a:lnTo>
                    <a:pt x="5523623" y="0"/>
                  </a:lnTo>
                  <a:lnTo>
                    <a:pt x="5523623" y="102020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07130" y="5190818"/>
              <a:ext cx="6922770" cy="1020444"/>
            </a:xfrm>
            <a:custGeom>
              <a:avLst/>
              <a:gdLst/>
              <a:ahLst/>
              <a:cxnLst/>
              <a:rect l="l" t="t" r="r" b="b"/>
              <a:pathLst>
                <a:path w="6922770" h="1020445">
                  <a:moveTo>
                    <a:pt x="1398913" y="0"/>
                  </a:moveTo>
                  <a:lnTo>
                    <a:pt x="6922537" y="0"/>
                  </a:lnTo>
                  <a:lnTo>
                    <a:pt x="6922537" y="1020201"/>
                  </a:lnTo>
                  <a:lnTo>
                    <a:pt x="1398913" y="1020201"/>
                  </a:lnTo>
                  <a:lnTo>
                    <a:pt x="1398913" y="0"/>
                  </a:lnTo>
                  <a:close/>
                </a:path>
                <a:path w="6922770" h="1020445">
                  <a:moveTo>
                    <a:pt x="1365108" y="549734"/>
                  </a:moveTo>
                  <a:lnTo>
                    <a:pt x="0" y="5658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96354" y="5130434"/>
            <a:ext cx="5139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alues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accessed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inside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squa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rac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ets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6920" y="5404754"/>
            <a:ext cx="26771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1980" marR="5080" indent="-589915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wel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get(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method 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darshan</a:t>
            </a:r>
            <a:endParaRPr sz="1800">
              <a:latin typeface="Roboto"/>
              <a:cs typeface="Roboto"/>
            </a:endParaRPr>
          </a:p>
          <a:p>
            <a:pPr marL="1400810">
              <a:lnSpc>
                <a:spcPct val="100000"/>
              </a:lnSpc>
            </a:pP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rajkot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2627" y="2204496"/>
            <a:ext cx="10238740" cy="668020"/>
            <a:chOff x="522627" y="2204496"/>
            <a:chExt cx="10238740" cy="668020"/>
          </a:xfrm>
        </p:grpSpPr>
        <p:sp>
          <p:nvSpPr>
            <p:cNvPr id="25" name="object 25"/>
            <p:cNvSpPr/>
            <p:nvPr/>
          </p:nvSpPr>
          <p:spPr>
            <a:xfrm>
              <a:off x="522641" y="2533680"/>
              <a:ext cx="10238740" cy="339090"/>
            </a:xfrm>
            <a:custGeom>
              <a:avLst/>
              <a:gdLst/>
              <a:ahLst/>
              <a:cxnLst/>
              <a:rect l="l" t="t" r="r" b="b"/>
              <a:pathLst>
                <a:path w="10238740" h="339089">
                  <a:moveTo>
                    <a:pt x="10238490" y="338553"/>
                  </a:moveTo>
                  <a:lnTo>
                    <a:pt x="0" y="338553"/>
                  </a:lnTo>
                  <a:lnTo>
                    <a:pt x="0" y="0"/>
                  </a:lnTo>
                  <a:lnTo>
                    <a:pt x="10238490" y="0"/>
                  </a:lnTo>
                  <a:lnTo>
                    <a:pt x="10238490" y="33855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2627" y="2204496"/>
              <a:ext cx="1779270" cy="329565"/>
            </a:xfrm>
            <a:custGeom>
              <a:avLst/>
              <a:gdLst/>
              <a:ahLst/>
              <a:cxnLst/>
              <a:rect l="l" t="t" r="r" b="b"/>
              <a:pathLst>
                <a:path w="1779270" h="329564">
                  <a:moveTo>
                    <a:pt x="1778778" y="329198"/>
                  </a:moveTo>
                  <a:lnTo>
                    <a:pt x="0" y="329177"/>
                  </a:lnTo>
                  <a:lnTo>
                    <a:pt x="14" y="54865"/>
                  </a:lnTo>
                  <a:lnTo>
                    <a:pt x="4326" y="33509"/>
                  </a:lnTo>
                  <a:lnTo>
                    <a:pt x="16084" y="16069"/>
                  </a:lnTo>
                  <a:lnTo>
                    <a:pt x="33523" y="4311"/>
                  </a:lnTo>
                  <a:lnTo>
                    <a:pt x="54879" y="0"/>
                  </a:lnTo>
                  <a:lnTo>
                    <a:pt x="1723919" y="0"/>
                  </a:lnTo>
                  <a:lnTo>
                    <a:pt x="1762715" y="16069"/>
                  </a:lnTo>
                  <a:lnTo>
                    <a:pt x="1778784" y="54865"/>
                  </a:lnTo>
                  <a:lnTo>
                    <a:pt x="177877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73695" y="756967"/>
            <a:ext cx="6793230" cy="20637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uno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de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collectio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pairs.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Dictionary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represented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curly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{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}.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mutable.</a:t>
            </a:r>
            <a:endParaRPr sz="2400">
              <a:latin typeface="Roboto"/>
              <a:cs typeface="Roboto"/>
            </a:endParaRPr>
          </a:p>
          <a:p>
            <a:pPr marL="977265">
              <a:lnSpc>
                <a:spcPct val="100000"/>
              </a:lnSpc>
              <a:spcBef>
                <a:spcPts val="85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  <a:p>
            <a:pPr marL="434340">
              <a:lnSpc>
                <a:spcPct val="100000"/>
              </a:lnSpc>
              <a:spcBef>
                <a:spcPts val="575"/>
              </a:spcBef>
            </a:pPr>
            <a:r>
              <a:rPr sz="1600" spc="-5" dirty="0">
                <a:latin typeface="Consolas"/>
                <a:cs typeface="Consolas"/>
              </a:rPr>
              <a:t>my_dict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</a:t>
            </a:r>
            <a:r>
              <a:rPr sz="1600" spc="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'key1'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'value1'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'key2'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'value2' </a:t>
            </a:r>
            <a:r>
              <a:rPr sz="160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24670" y="2804031"/>
            <a:ext cx="313690" cy="452120"/>
          </a:xfrm>
          <a:custGeom>
            <a:avLst/>
            <a:gdLst/>
            <a:ahLst/>
            <a:cxnLst/>
            <a:rect l="l" t="t" r="r" b="b"/>
            <a:pathLst>
              <a:path w="313689" h="452120">
                <a:moveTo>
                  <a:pt x="0" y="451824"/>
                </a:moveTo>
                <a:lnTo>
                  <a:pt x="313494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46187" y="3237429"/>
            <a:ext cx="275463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315"/>
              </a:spcBef>
            </a:pPr>
            <a:r>
              <a:rPr sz="1800" spc="-19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alue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sepe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ated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85474" y="2855790"/>
            <a:ext cx="2047239" cy="400685"/>
          </a:xfrm>
          <a:custGeom>
            <a:avLst/>
            <a:gdLst/>
            <a:ahLst/>
            <a:cxnLst/>
            <a:rect l="l" t="t" r="r" b="b"/>
            <a:pathLst>
              <a:path w="2047239" h="400685">
                <a:moveTo>
                  <a:pt x="2046872" y="400066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077575" y="3237429"/>
            <a:ext cx="3307079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15"/>
              </a:spcBef>
            </a:pPr>
            <a:r>
              <a:rPr sz="1800" spc="-19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alue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pair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sepe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ated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1800" spc="-16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Roboto Cn"/>
                <a:cs typeface="Roboto Cn"/>
              </a:rPr>
              <a:t>,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43" name="object 6"/>
          <p:cNvSpPr txBox="1">
            <a:spLocks/>
          </p:cNvSpPr>
          <p:nvPr/>
        </p:nvSpPr>
        <p:spPr>
          <a:xfrm>
            <a:off x="762000" y="64126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4" name="Picture 4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594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Dictionary</a:t>
            </a:r>
            <a:r>
              <a:rPr spc="-20" dirty="0"/>
              <a:t> </a:t>
            </a:r>
            <a:r>
              <a:rPr spc="10" dirty="0"/>
              <a:t>methods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13" name="object 13"/>
          <p:cNvSpPr/>
          <p:nvPr/>
        </p:nvSpPr>
        <p:spPr>
          <a:xfrm>
            <a:off x="1022629" y="1641335"/>
            <a:ext cx="8472805" cy="584835"/>
          </a:xfrm>
          <a:custGeom>
            <a:avLst/>
            <a:gdLst/>
            <a:ahLst/>
            <a:cxnLst/>
            <a:rect l="l" t="t" r="r" b="b"/>
            <a:pathLst>
              <a:path w="8472805" h="584835">
                <a:moveTo>
                  <a:pt x="8472272" y="0"/>
                </a:moveTo>
                <a:lnTo>
                  <a:pt x="0" y="0"/>
                </a:lnTo>
                <a:lnTo>
                  <a:pt x="0" y="473367"/>
                </a:lnTo>
                <a:lnTo>
                  <a:pt x="0" y="584771"/>
                </a:lnTo>
                <a:lnTo>
                  <a:pt x="8472272" y="584771"/>
                </a:lnTo>
                <a:lnTo>
                  <a:pt x="8472272" y="473367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22634" y="1658596"/>
            <a:ext cx="84728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67183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my_dict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{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'city'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'type'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"engineering"</a:t>
            </a:r>
            <a:r>
              <a:rPr sz="1600" spc="-5" dirty="0">
                <a:latin typeface="Consolas"/>
                <a:cs typeface="Consolas"/>
              </a:rPr>
              <a:t>}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print(my_dict.keys())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641" y="1641324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2627" y="13121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3695" y="654089"/>
            <a:ext cx="9214485" cy="95758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keys()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keys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associated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Dictionary.</a:t>
            </a:r>
            <a:endParaRPr sz="2400">
              <a:latin typeface="Roboto"/>
              <a:cs typeface="Roboto"/>
            </a:endParaRPr>
          </a:p>
          <a:p>
            <a:pPr marL="760730">
              <a:lnSpc>
                <a:spcPct val="100000"/>
              </a:lnSpc>
              <a:spcBef>
                <a:spcPts val="101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keydemo.py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2641" y="3436256"/>
            <a:ext cx="8972550" cy="584835"/>
            <a:chOff x="522641" y="3436256"/>
            <a:chExt cx="8972550" cy="584835"/>
          </a:xfrm>
        </p:grpSpPr>
        <p:sp>
          <p:nvSpPr>
            <p:cNvPr id="19" name="object 19"/>
            <p:cNvSpPr/>
            <p:nvPr/>
          </p:nvSpPr>
          <p:spPr>
            <a:xfrm>
              <a:off x="1022629" y="3436264"/>
              <a:ext cx="8472805" cy="584835"/>
            </a:xfrm>
            <a:custGeom>
              <a:avLst/>
              <a:gdLst/>
              <a:ahLst/>
              <a:cxnLst/>
              <a:rect l="l" t="t" r="r" b="b"/>
              <a:pathLst>
                <a:path w="8472805" h="584835">
                  <a:moveTo>
                    <a:pt x="8472272" y="0"/>
                  </a:moveTo>
                  <a:lnTo>
                    <a:pt x="0" y="0"/>
                  </a:lnTo>
                  <a:lnTo>
                    <a:pt x="0" y="300850"/>
                  </a:lnTo>
                  <a:lnTo>
                    <a:pt x="0" y="584771"/>
                  </a:lnTo>
                  <a:lnTo>
                    <a:pt x="8472272" y="584771"/>
                  </a:lnTo>
                  <a:lnTo>
                    <a:pt x="8472272" y="300850"/>
                  </a:lnTo>
                  <a:lnTo>
                    <a:pt x="84722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2641" y="3436256"/>
              <a:ext cx="500380" cy="584835"/>
            </a:xfrm>
            <a:custGeom>
              <a:avLst/>
              <a:gdLst/>
              <a:ahLst/>
              <a:cxnLst/>
              <a:rect l="l" t="t" r="r" b="b"/>
              <a:pathLst>
                <a:path w="500380" h="584835">
                  <a:moveTo>
                    <a:pt x="499992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5847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2516" y="3453529"/>
            <a:ext cx="8015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my_dict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{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'city'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'type'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"engineering"</a:t>
            </a: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print(my_dict.values())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2627" y="310707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3695" y="2523530"/>
            <a:ext cx="9679940" cy="88328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values()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associated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Dictionary.</a:t>
            </a:r>
            <a:endParaRPr sz="2400">
              <a:latin typeface="Roboto"/>
              <a:cs typeface="Roboto"/>
            </a:endParaRPr>
          </a:p>
          <a:p>
            <a:pPr marL="682625">
              <a:lnSpc>
                <a:spcPct val="100000"/>
              </a:lnSpc>
              <a:spcBef>
                <a:spcPts val="78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valuedemo.py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40576" y="3880648"/>
            <a:ext cx="2208530" cy="87630"/>
          </a:xfrm>
          <a:custGeom>
            <a:avLst/>
            <a:gdLst/>
            <a:ahLst/>
            <a:cxnLst/>
            <a:rect l="l" t="t" r="r" b="b"/>
            <a:pathLst>
              <a:path w="2208529" h="87629">
                <a:moveTo>
                  <a:pt x="2207970" y="87352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80498" y="3737107"/>
            <a:ext cx="5220970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[</a:t>
            </a:r>
            <a:r>
              <a:rPr sz="1800" i="1" spc="-11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50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i="1" spc="-254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ajkot'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engineering']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9575" y="4993804"/>
            <a:ext cx="8972550" cy="584835"/>
            <a:chOff x="539575" y="4993804"/>
            <a:chExt cx="8972550" cy="584835"/>
          </a:xfrm>
        </p:grpSpPr>
        <p:sp>
          <p:nvSpPr>
            <p:cNvPr id="27" name="object 27"/>
            <p:cNvSpPr/>
            <p:nvPr/>
          </p:nvSpPr>
          <p:spPr>
            <a:xfrm>
              <a:off x="1039558" y="4993804"/>
              <a:ext cx="8472805" cy="584835"/>
            </a:xfrm>
            <a:custGeom>
              <a:avLst/>
              <a:gdLst/>
              <a:ahLst/>
              <a:cxnLst/>
              <a:rect l="l" t="t" r="r" b="b"/>
              <a:pathLst>
                <a:path w="8472805" h="584835">
                  <a:moveTo>
                    <a:pt x="8472284" y="0"/>
                  </a:moveTo>
                  <a:lnTo>
                    <a:pt x="0" y="0"/>
                  </a:lnTo>
                  <a:lnTo>
                    <a:pt x="0" y="300850"/>
                  </a:lnTo>
                  <a:lnTo>
                    <a:pt x="0" y="584784"/>
                  </a:lnTo>
                  <a:lnTo>
                    <a:pt x="8472284" y="584784"/>
                  </a:lnTo>
                  <a:lnTo>
                    <a:pt x="8472284" y="300850"/>
                  </a:lnTo>
                  <a:lnTo>
                    <a:pt x="84722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9575" y="4993804"/>
              <a:ext cx="500380" cy="584835"/>
            </a:xfrm>
            <a:custGeom>
              <a:avLst/>
              <a:gdLst/>
              <a:ahLst/>
              <a:cxnLst/>
              <a:rect l="l" t="t" r="r" b="b"/>
              <a:pathLst>
                <a:path w="500380" h="584835">
                  <a:moveTo>
                    <a:pt x="499992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5847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9449" y="5011077"/>
            <a:ext cx="8015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my_dict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{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"darshan"</a:t>
            </a:r>
            <a:r>
              <a:rPr sz="1600" spc="-5" dirty="0"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'city'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'type'</a:t>
            </a:r>
            <a:r>
              <a:rPr sz="1600" spc="-5" dirty="0">
                <a:latin typeface="Consolas"/>
                <a:cs typeface="Consolas"/>
              </a:rPr>
              <a:t>: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"engineering"</a:t>
            </a: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print(my_dict.items())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9560" y="466462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3695" y="4166118"/>
            <a:ext cx="11498580" cy="7981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items()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tuples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key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pair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associated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Dictionary.</a:t>
            </a:r>
            <a:endParaRPr sz="2400">
              <a:latin typeface="Roboto"/>
              <a:cs typeface="Roboto"/>
            </a:endParaRPr>
          </a:p>
          <a:p>
            <a:pPr marL="687705">
              <a:lnSpc>
                <a:spcPct val="100000"/>
              </a:lnSpc>
              <a:spcBef>
                <a:spcPts val="51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itemsdemo.py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32587" y="5427576"/>
            <a:ext cx="2334895" cy="249554"/>
          </a:xfrm>
          <a:custGeom>
            <a:avLst/>
            <a:gdLst/>
            <a:ahLst/>
            <a:cxnLst/>
            <a:rect l="l" t="t" r="r" b="b"/>
            <a:pathLst>
              <a:path w="2334895" h="249554">
                <a:moveTo>
                  <a:pt x="2334764" y="249301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997431" y="5294655"/>
            <a:ext cx="4915535" cy="709930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1840230" marR="198120" indent="-1642110">
              <a:lnSpc>
                <a:spcPct val="100000"/>
              </a:lnSpc>
              <a:spcBef>
                <a:spcPts val="560"/>
              </a:spcBef>
            </a:pP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18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5" dirty="0">
                <a:solidFill>
                  <a:srgbClr val="212121"/>
                </a:solidFill>
                <a:latin typeface="Roboto"/>
                <a:cs typeface="Roboto"/>
              </a:rPr>
              <a:t>[('college',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0" dirty="0">
                <a:solidFill>
                  <a:srgbClr val="212121"/>
                </a:solidFill>
                <a:latin typeface="Roboto"/>
                <a:cs typeface="Roboto"/>
              </a:rPr>
              <a:t>'darshan'),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0" dirty="0">
                <a:solidFill>
                  <a:srgbClr val="212121"/>
                </a:solidFill>
                <a:latin typeface="Roboto"/>
                <a:cs typeface="Roboto"/>
              </a:rPr>
              <a:t>('city',</a:t>
            </a:r>
            <a:r>
              <a:rPr sz="1800" i="1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5" dirty="0">
                <a:solidFill>
                  <a:srgbClr val="212121"/>
                </a:solidFill>
                <a:latin typeface="Roboto"/>
                <a:cs typeface="Roboto"/>
              </a:rPr>
              <a:t>'rajkot'),</a:t>
            </a:r>
            <a:r>
              <a:rPr sz="18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00" dirty="0">
                <a:solidFill>
                  <a:srgbClr val="212121"/>
                </a:solidFill>
                <a:latin typeface="Roboto"/>
                <a:cs typeface="Roboto"/>
              </a:rPr>
              <a:t>('type', </a:t>
            </a:r>
            <a:r>
              <a:rPr sz="1800" i="1" spc="-43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'engineering')]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509466" y="2041026"/>
            <a:ext cx="7698740" cy="508634"/>
            <a:chOff x="3509466" y="2041026"/>
            <a:chExt cx="7698740" cy="508634"/>
          </a:xfrm>
        </p:grpSpPr>
        <p:sp>
          <p:nvSpPr>
            <p:cNvPr id="35" name="object 35"/>
            <p:cNvSpPr/>
            <p:nvPr/>
          </p:nvSpPr>
          <p:spPr>
            <a:xfrm>
              <a:off x="5980498" y="2114700"/>
              <a:ext cx="5220970" cy="428625"/>
            </a:xfrm>
            <a:custGeom>
              <a:avLst/>
              <a:gdLst/>
              <a:ahLst/>
              <a:cxnLst/>
              <a:rect l="l" t="t" r="r" b="b"/>
              <a:pathLst>
                <a:path w="5220970" h="428625">
                  <a:moveTo>
                    <a:pt x="5220900" y="428492"/>
                  </a:moveTo>
                  <a:lnTo>
                    <a:pt x="0" y="428492"/>
                  </a:lnTo>
                  <a:lnTo>
                    <a:pt x="0" y="0"/>
                  </a:lnTo>
                  <a:lnTo>
                    <a:pt x="5220900" y="0"/>
                  </a:lnTo>
                  <a:lnTo>
                    <a:pt x="5220900" y="42849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15816" y="2047376"/>
              <a:ext cx="7686040" cy="495934"/>
            </a:xfrm>
            <a:custGeom>
              <a:avLst/>
              <a:gdLst/>
              <a:ahLst/>
              <a:cxnLst/>
              <a:rect l="l" t="t" r="r" b="b"/>
              <a:pathLst>
                <a:path w="7686040" h="495935">
                  <a:moveTo>
                    <a:pt x="2464682" y="67324"/>
                  </a:moveTo>
                  <a:lnTo>
                    <a:pt x="7685582" y="67324"/>
                  </a:lnTo>
                  <a:lnTo>
                    <a:pt x="7685582" y="495817"/>
                  </a:lnTo>
                  <a:lnTo>
                    <a:pt x="2464682" y="495817"/>
                  </a:lnTo>
                  <a:lnTo>
                    <a:pt x="2464682" y="67324"/>
                  </a:lnTo>
                  <a:close/>
                </a:path>
                <a:path w="7686040" h="495935">
                  <a:moveTo>
                    <a:pt x="2432730" y="298218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86848" y="2226099"/>
            <a:ext cx="5208270" cy="31115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20"/>
              </a:lnSpc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70" dirty="0">
                <a:solidFill>
                  <a:srgbClr val="212121"/>
                </a:solidFill>
                <a:latin typeface="Roboto"/>
                <a:cs typeface="Roboto"/>
              </a:rPr>
              <a:t>[</a:t>
            </a:r>
            <a:r>
              <a:rPr sz="1800" i="1" spc="-110" dirty="0">
                <a:solidFill>
                  <a:srgbClr val="212121"/>
                </a:solidFill>
                <a:latin typeface="Roboto"/>
                <a:cs typeface="Roboto"/>
              </a:rPr>
              <a:t>'colleg</a:t>
            </a:r>
            <a:r>
              <a:rPr sz="1800" i="1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35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105" dirty="0">
                <a:solidFill>
                  <a:srgbClr val="212121"/>
                </a:solidFill>
                <a:latin typeface="Roboto"/>
                <a:cs typeface="Roboto"/>
              </a:rPr>
              <a:t>cit</a:t>
            </a:r>
            <a:r>
              <a:rPr sz="1800" i="1" spc="-12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1800" i="1" spc="-50" dirty="0">
                <a:solidFill>
                  <a:srgbClr val="212121"/>
                </a:solidFill>
                <a:latin typeface="Roboto"/>
                <a:cs typeface="Roboto"/>
              </a:rPr>
              <a:t>'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20" dirty="0">
                <a:solidFill>
                  <a:srgbClr val="212121"/>
                </a:solidFill>
                <a:latin typeface="Roboto"/>
                <a:cs typeface="Roboto"/>
              </a:rPr>
              <a:t>'typ</a:t>
            </a:r>
            <a:r>
              <a:rPr sz="1800" i="1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i="1" spc="-65" dirty="0">
                <a:solidFill>
                  <a:srgbClr val="212121"/>
                </a:solidFill>
                <a:latin typeface="Roboto"/>
                <a:cs typeface="Roboto"/>
              </a:rPr>
              <a:t>']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2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3" name="Picture 4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2317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Set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3128310"/>
            <a:ext cx="11784965" cy="1506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25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in-built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such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add(),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clear(),</a:t>
            </a:r>
            <a:r>
              <a:rPr sz="2400" spc="25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copy(),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pop(),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remove()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etc..</a:t>
            </a:r>
            <a:r>
              <a:rPr sz="2400" spc="25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simila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av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eviousl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seen.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Only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difference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between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only</a:t>
            </a:r>
            <a:r>
              <a:rPr sz="2400" spc="2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unique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2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2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3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duplicate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elements.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2641" y="2209549"/>
            <a:ext cx="8972550" cy="584835"/>
            <a:chOff x="522641" y="2209549"/>
            <a:chExt cx="8972550" cy="584835"/>
          </a:xfrm>
        </p:grpSpPr>
        <p:sp>
          <p:nvSpPr>
            <p:cNvPr id="5" name="object 5"/>
            <p:cNvSpPr/>
            <p:nvPr/>
          </p:nvSpPr>
          <p:spPr>
            <a:xfrm>
              <a:off x="1022634" y="2209549"/>
              <a:ext cx="8472805" cy="584835"/>
            </a:xfrm>
            <a:custGeom>
              <a:avLst/>
              <a:gdLst/>
              <a:ahLst/>
              <a:cxnLst/>
              <a:rect l="l" t="t" r="r" b="b"/>
              <a:pathLst>
                <a:path w="8472805" h="584835">
                  <a:moveTo>
                    <a:pt x="8472275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8472275" y="0"/>
                  </a:lnTo>
                  <a:lnTo>
                    <a:pt x="8472275" y="5847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641" y="2209549"/>
              <a:ext cx="500380" cy="584835"/>
            </a:xfrm>
            <a:custGeom>
              <a:avLst/>
              <a:gdLst/>
              <a:ahLst/>
              <a:cxnLst/>
              <a:rect l="l" t="t" r="r" b="b"/>
              <a:pathLst>
                <a:path w="500380" h="584835">
                  <a:moveTo>
                    <a:pt x="499992" y="584774"/>
                  </a:moveTo>
                  <a:lnTo>
                    <a:pt x="0" y="584774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5847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2516" y="2226821"/>
            <a:ext cx="3213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	</a:t>
            </a:r>
            <a:r>
              <a:rPr sz="1600" spc="-5" dirty="0">
                <a:latin typeface="Consolas"/>
                <a:cs typeface="Consolas"/>
              </a:rPr>
              <a:t>my_set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{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9</a:t>
            </a: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5275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	</a:t>
            </a:r>
            <a:r>
              <a:rPr sz="1600" spc="-5" dirty="0">
                <a:latin typeface="Consolas"/>
                <a:cs typeface="Consolas"/>
              </a:rPr>
              <a:t>print(my_set)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627" y="188036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756967"/>
            <a:ext cx="5957570" cy="14230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Se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uno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de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collectio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unique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objects.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represented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curly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{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}.</a:t>
            </a:r>
            <a:endParaRPr sz="2400">
              <a:latin typeface="Roboto"/>
              <a:cs typeface="Roboto"/>
            </a:endParaRPr>
          </a:p>
          <a:p>
            <a:pPr marL="694055">
              <a:lnSpc>
                <a:spcPct val="100000"/>
              </a:lnSpc>
              <a:spcBef>
                <a:spcPts val="19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tupledemo.py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32400" y="2498635"/>
            <a:ext cx="3368040" cy="147955"/>
          </a:xfrm>
          <a:custGeom>
            <a:avLst/>
            <a:gdLst/>
            <a:ahLst/>
            <a:cxnLst/>
            <a:rect l="l" t="t" r="r" b="b"/>
            <a:pathLst>
              <a:path w="3368040" h="147955">
                <a:moveTo>
                  <a:pt x="3367823" y="0"/>
                </a:moveTo>
                <a:lnTo>
                  <a:pt x="0" y="147641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35771" y="2267742"/>
            <a:ext cx="5808345" cy="42862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Outpu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5" dirty="0">
                <a:solidFill>
                  <a:srgbClr val="212121"/>
                </a:solidFill>
                <a:latin typeface="Roboto"/>
                <a:cs typeface="Roboto"/>
              </a:rPr>
              <a:t>{1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1800" i="1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114" dirty="0">
                <a:solidFill>
                  <a:srgbClr val="212121"/>
                </a:solidFill>
                <a:latin typeface="Roboto"/>
                <a:cs typeface="Roboto"/>
              </a:rPr>
              <a:t>9}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984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Operators</a:t>
            </a:r>
            <a:r>
              <a:rPr spc="5" dirty="0"/>
              <a:t> </a:t>
            </a:r>
            <a:r>
              <a:rPr spc="10" dirty="0"/>
              <a:t>in</a:t>
            </a:r>
            <a:r>
              <a:rPr spc="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06792"/>
            <a:ext cx="10916285" cy="37090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segregate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operators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following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groups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Arithmeti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Assignmen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Comparison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Logica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Identity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Membership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Bitwis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ors</a:t>
            </a:r>
            <a:endParaRPr sz="20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B84742"/>
              </a:buClr>
              <a:buFont typeface="Segoe UI Symbol"/>
              <a:buChar char="□"/>
            </a:pPr>
            <a:endParaRPr sz="355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discuss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operators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detail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next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slides.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8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8135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Arithmetic</a:t>
            </a:r>
            <a:r>
              <a:rPr dirty="0"/>
              <a:t> </a:t>
            </a:r>
            <a:r>
              <a:rPr spc="15" dirty="0"/>
              <a:t>Operators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415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conside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4800" y="2057400"/>
          <a:ext cx="11413490" cy="3371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2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Operator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Example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Output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Addition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+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-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Subtraction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-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/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Division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/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3.3333333333333335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Multiplication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%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Modulu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etur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emainder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%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/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Floo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divisio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quotient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/ 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**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Exponentiation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0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0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*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0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=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1000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899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Logical</a:t>
            </a:r>
            <a:r>
              <a:rPr spc="-30" dirty="0"/>
              <a:t> </a:t>
            </a:r>
            <a:r>
              <a:rPr spc="15" dirty="0"/>
              <a:t>Operators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415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conside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3362" y="1375215"/>
          <a:ext cx="11413490" cy="1874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Operator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Example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01854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Output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and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statement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&gt;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an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&lt;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or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statement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&gt;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r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&gt;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57070" marR="188595" indent="-176466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Negat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esult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esul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  </a:t>
                      </a:r>
                      <a:r>
                        <a:rPr sz="18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False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no</a:t>
                      </a:r>
                      <a:r>
                        <a:rPr sz="20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t</a:t>
                      </a:r>
                      <a:r>
                        <a:rPr sz="20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(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&gt;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)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059815" algn="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spc="-1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False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" name="Picture 2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2425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Identity</a:t>
            </a:r>
            <a:r>
              <a:rPr spc="20" dirty="0"/>
              <a:t> </a:t>
            </a:r>
            <a:r>
              <a:rPr spc="-85" dirty="0"/>
              <a:t>&amp;</a:t>
            </a:r>
            <a:r>
              <a:rPr spc="25" dirty="0"/>
              <a:t> </a:t>
            </a:r>
            <a:r>
              <a:rPr spc="40" dirty="0"/>
              <a:t>Member</a:t>
            </a:r>
            <a:r>
              <a:rPr spc="25" dirty="0"/>
              <a:t> </a:t>
            </a:r>
            <a:r>
              <a:rPr spc="15" dirty="0"/>
              <a:t>Operators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10"/>
          </p:nvPr>
        </p:nvSpPr>
        <p:spPr>
          <a:xfrm>
            <a:off x="911224" y="6632340"/>
            <a:ext cx="2974975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32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173694" y="756967"/>
            <a:ext cx="1072290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Identity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conside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[1,2]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[1,2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]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C=A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695" y="3429000"/>
            <a:ext cx="1072290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Membe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conside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[1,2,3]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04800" y="1752600"/>
          <a:ext cx="11658600" cy="1729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9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6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Operator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Example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Output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2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9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05939" marR="154940" indent="-164846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v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ariables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same  </a:t>
                      </a:r>
                      <a:r>
                        <a:rPr sz="18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96010" marR="10883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  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3150" marR="10655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ALSE  </a:t>
                      </a:r>
                      <a:r>
                        <a:rPr sz="2000" spc="-1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1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9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9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not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v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ariables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dif</a:t>
                      </a:r>
                      <a:r>
                        <a:rPr sz="1800" b="1" spc="-2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f</a:t>
                      </a: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</a:t>
                      </a:r>
                      <a:r>
                        <a:rPr sz="1800" b="1" spc="-2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r</a:t>
                      </a: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ent</a:t>
                      </a:r>
                      <a:endParaRPr sz="1800">
                        <a:latin typeface="Roboto Cn"/>
                        <a:cs typeface="Roboto C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spc="-1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65137" y="4419600"/>
          <a:ext cx="11498264" cy="2185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9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Operator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Example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07378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Output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8300" marR="365125" indent="1403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 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speciﬁed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value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present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14425" algn="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000" spc="-1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TRUE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</a:t>
                      </a: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9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317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5580" marR="193675" indent="3130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Return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ru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sequenc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wit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 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speciﬁed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value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present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8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object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no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B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54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068705" algn="r">
                        <a:lnSpc>
                          <a:spcPct val="100000"/>
                        </a:lnSpc>
                      </a:pPr>
                      <a:r>
                        <a:rPr sz="2000" spc="-1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FALSE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54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" name="Picture 3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209372" y="5963780"/>
            <a:ext cx="3191510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X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greater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than</a:t>
            </a:r>
            <a:r>
              <a:rPr sz="16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9379" y="5963780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9363" y="56345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723919" y="0"/>
                </a:lnTo>
                <a:lnTo>
                  <a:pt x="1762716" y="16069"/>
                </a:lnTo>
                <a:lnTo>
                  <a:pt x="1778785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6750" y="5664474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0515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If</a:t>
            </a:r>
            <a:r>
              <a:rPr spc="-35" dirty="0"/>
              <a:t> </a:t>
            </a:r>
            <a:r>
              <a:rPr spc="10" dirty="0"/>
              <a:t>statement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7" name="object 7"/>
          <p:cNvSpPr txBox="1"/>
          <p:nvPr/>
        </p:nvSpPr>
        <p:spPr>
          <a:xfrm>
            <a:off x="209177" y="770762"/>
            <a:ext cx="11784330" cy="20523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statement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written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if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keyword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followed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condition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colon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ts val="2735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1082675" algn="l"/>
                <a:tab pos="1479550" algn="l"/>
                <a:tab pos="2573655" algn="l"/>
                <a:tab pos="3364229" algn="l"/>
                <a:tab pos="3900170" algn="l"/>
                <a:tab pos="5175250" algn="l"/>
                <a:tab pos="5541010" algn="l"/>
                <a:tab pos="6170295" algn="l"/>
                <a:tab pos="6732905" algn="l"/>
                <a:tab pos="7183120" algn="l"/>
                <a:tab pos="8116570" algn="l"/>
                <a:tab pos="9100820" algn="l"/>
                <a:tab pos="9475470" algn="l"/>
                <a:tab pos="10012045" algn="l"/>
                <a:tab pos="10681335" algn="l"/>
                <a:tab pos="11268075" algn="l"/>
              </a:tabLst>
            </a:pP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Cod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ecut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whe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conditio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tru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ideally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writte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nex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line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endParaRPr sz="2400">
              <a:latin typeface="Roboto"/>
              <a:cs typeface="Roboto"/>
            </a:endParaRPr>
          </a:p>
          <a:p>
            <a:pPr marL="307975">
              <a:lnSpc>
                <a:spcPts val="2735"/>
              </a:lnSpc>
            </a:pP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Indentatio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n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(whit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space).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relies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indentation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deﬁne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scope</a:t>
            </a:r>
            <a:r>
              <a:rPr sz="2400" spc="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(Other</a:t>
            </a:r>
            <a:r>
              <a:rPr sz="2400" spc="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programming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languages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often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curly-brackets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this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purpose).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83703" y="3448532"/>
            <a:ext cx="8472805" cy="584835"/>
          </a:xfrm>
          <a:custGeom>
            <a:avLst/>
            <a:gdLst/>
            <a:ahLst/>
            <a:cxnLst/>
            <a:rect l="l" t="t" r="r" b="b"/>
            <a:pathLst>
              <a:path w="8472805" h="584835">
                <a:moveTo>
                  <a:pt x="8472272" y="0"/>
                </a:moveTo>
                <a:lnTo>
                  <a:pt x="0" y="0"/>
                </a:lnTo>
                <a:lnTo>
                  <a:pt x="0" y="227965"/>
                </a:lnTo>
                <a:lnTo>
                  <a:pt x="0" y="584784"/>
                </a:lnTo>
                <a:lnTo>
                  <a:pt x="8472272" y="584784"/>
                </a:lnTo>
                <a:lnTo>
                  <a:pt x="8472272" y="227965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3708" y="3465803"/>
            <a:ext cx="84728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</a:t>
            </a:r>
            <a:r>
              <a:rPr sz="1600" b="1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some_condition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420370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execute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when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condition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true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716" y="3448532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3705" y="3119347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4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4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6777" y="3149226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73890" y="3043614"/>
            <a:ext cx="5173980" cy="639445"/>
            <a:chOff x="3373890" y="3043614"/>
            <a:chExt cx="5173980" cy="639445"/>
          </a:xfrm>
        </p:grpSpPr>
        <p:sp>
          <p:nvSpPr>
            <p:cNvPr id="14" name="object 14"/>
            <p:cNvSpPr/>
            <p:nvPr/>
          </p:nvSpPr>
          <p:spPr>
            <a:xfrm>
              <a:off x="4045258" y="3049964"/>
              <a:ext cx="4495800" cy="626745"/>
            </a:xfrm>
            <a:custGeom>
              <a:avLst/>
              <a:gdLst/>
              <a:ahLst/>
              <a:cxnLst/>
              <a:rect l="l" t="t" r="r" b="b"/>
              <a:pathLst>
                <a:path w="4495800" h="626745">
                  <a:moveTo>
                    <a:pt x="4495800" y="626532"/>
                  </a:moveTo>
                  <a:lnTo>
                    <a:pt x="0" y="626532"/>
                  </a:lnTo>
                  <a:lnTo>
                    <a:pt x="0" y="0"/>
                  </a:lnTo>
                  <a:lnTo>
                    <a:pt x="4495800" y="0"/>
                  </a:lnTo>
                  <a:lnTo>
                    <a:pt x="4495800" y="62653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80240" y="3049964"/>
              <a:ext cx="5161280" cy="626745"/>
            </a:xfrm>
            <a:custGeom>
              <a:avLst/>
              <a:gdLst/>
              <a:ahLst/>
              <a:cxnLst/>
              <a:rect l="l" t="t" r="r" b="b"/>
              <a:pathLst>
                <a:path w="5161280" h="626745">
                  <a:moveTo>
                    <a:pt x="665018" y="0"/>
                  </a:moveTo>
                  <a:lnTo>
                    <a:pt x="5160819" y="0"/>
                  </a:lnTo>
                  <a:lnTo>
                    <a:pt x="5160819" y="626532"/>
                  </a:lnTo>
                  <a:lnTo>
                    <a:pt x="665018" y="626532"/>
                  </a:lnTo>
                  <a:lnTo>
                    <a:pt x="665018" y="0"/>
                  </a:lnTo>
                  <a:close/>
                </a:path>
                <a:path w="5161280" h="626745">
                  <a:moveTo>
                    <a:pt x="637504" y="337607"/>
                  </a:moveTo>
                  <a:lnTo>
                    <a:pt x="0" y="560915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51608" y="3056314"/>
            <a:ext cx="4483100" cy="39243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60655" rIns="0" bIns="0" rtlCol="0">
            <a:spAutoFit/>
          </a:bodyPr>
          <a:lstStyle/>
          <a:p>
            <a:pPr marL="1179195">
              <a:lnSpc>
                <a:spcPts val="1825"/>
              </a:lnSpc>
              <a:spcBef>
                <a:spcPts val="1265"/>
              </a:spcBef>
            </a:pP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statemen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72318" y="3917393"/>
            <a:ext cx="946150" cy="485775"/>
          </a:xfrm>
          <a:custGeom>
            <a:avLst/>
            <a:gdLst/>
            <a:ahLst/>
            <a:cxnLst/>
            <a:rect l="l" t="t" r="r" b="b"/>
            <a:pathLst>
              <a:path w="946150" h="485775">
                <a:moveTo>
                  <a:pt x="945736" y="485607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45568" y="4065392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315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Indentation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(tab/whitespace)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beginning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5834" y="5149701"/>
            <a:ext cx="4004310" cy="11080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25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187960" algn="ctr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"X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is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greater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than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10" dirty="0">
                <a:solidFill>
                  <a:srgbClr val="A31414"/>
                </a:solidFill>
                <a:latin typeface="Consolas"/>
                <a:cs typeface="Consolas"/>
              </a:rPr>
              <a:t>5"</a:t>
            </a:r>
            <a:r>
              <a:rPr sz="1600" spc="1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841" y="5149701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5831" y="4820517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8"/>
                </a:lnTo>
                <a:lnTo>
                  <a:pt x="10" y="54864"/>
                </a:lnTo>
                <a:lnTo>
                  <a:pt x="4322" y="33508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1" y="16069"/>
                </a:lnTo>
                <a:lnTo>
                  <a:pt x="1286191" y="54864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58065" y="4850395"/>
            <a:ext cx="8223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ifdemo.py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31632" y="5194929"/>
            <a:ext cx="3148965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python</a:t>
            </a:r>
            <a:r>
              <a:rPr sz="1600" b="1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ifdemo.py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31640" y="5194929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31624" y="486574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4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007999" y="4895623"/>
            <a:ext cx="1224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Ru</a:t>
            </a: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terminal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" name="Picture 2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137454" y="3919223"/>
            <a:ext cx="3191510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X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less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than</a:t>
            </a:r>
            <a:r>
              <a:rPr sz="16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7460" y="3919223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7445" y="359003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44832" y="361991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032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If</a:t>
            </a:r>
            <a:r>
              <a:rPr spc="-5" dirty="0"/>
              <a:t> </a:t>
            </a:r>
            <a:r>
              <a:rPr spc="50" dirty="0"/>
              <a:t>else</a:t>
            </a:r>
            <a:r>
              <a:rPr dirty="0"/>
              <a:t> </a:t>
            </a:r>
            <a:r>
              <a:rPr spc="10" dirty="0"/>
              <a:t>statement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7" name="object 7"/>
          <p:cNvSpPr txBox="1"/>
          <p:nvPr/>
        </p:nvSpPr>
        <p:spPr>
          <a:xfrm>
            <a:off x="1093983" y="1236959"/>
            <a:ext cx="8462010" cy="10775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</a:t>
            </a:r>
            <a:r>
              <a:rPr sz="1600" b="1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some_condition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74930" marR="3586479" indent="334645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 to execute when condition is true </a:t>
            </a:r>
            <a:r>
              <a:rPr sz="1600" b="1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else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409575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execute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when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condition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990" y="1236959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3705" y="907775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5">
                <a:moveTo>
                  <a:pt x="1286186" y="329194"/>
                </a:moveTo>
                <a:lnTo>
                  <a:pt x="0" y="329179"/>
                </a:lnTo>
                <a:lnTo>
                  <a:pt x="10" y="54865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46777" y="937654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0145" y="3140063"/>
          <a:ext cx="4503420" cy="1569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78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1600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16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600" spc="-2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187960" algn="ctr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"X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greater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than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1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5"</a:t>
                      </a:r>
                      <a:r>
                        <a:rPr sz="1600" spc="10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else</a:t>
                      </a:r>
                      <a:r>
                        <a:rPr sz="16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51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R="139065" algn="ctr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"X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less</a:t>
                      </a:r>
                      <a:r>
                        <a:rPr sz="1600" spc="-1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than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5"</a:t>
                      </a:r>
                      <a:r>
                        <a:rPr sz="1600" spc="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30131" y="2810879"/>
            <a:ext cx="1613535" cy="329565"/>
          </a:xfrm>
          <a:custGeom>
            <a:avLst/>
            <a:gdLst/>
            <a:ahLst/>
            <a:cxnLst/>
            <a:rect l="l" t="t" r="r" b="b"/>
            <a:pathLst>
              <a:path w="1613535" h="329564">
                <a:moveTo>
                  <a:pt x="1613332" y="329197"/>
                </a:moveTo>
                <a:lnTo>
                  <a:pt x="0" y="329177"/>
                </a:lnTo>
                <a:lnTo>
                  <a:pt x="13" y="54865"/>
                </a:lnTo>
                <a:lnTo>
                  <a:pt x="4325" y="33509"/>
                </a:lnTo>
                <a:lnTo>
                  <a:pt x="16083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558473" y="0"/>
                </a:lnTo>
                <a:lnTo>
                  <a:pt x="1597268" y="16069"/>
                </a:lnTo>
                <a:lnTo>
                  <a:pt x="1613338" y="54865"/>
                </a:lnTo>
                <a:lnTo>
                  <a:pt x="1613332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1277" y="2840758"/>
            <a:ext cx="11512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ifelsedemo.py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9713" y="3150372"/>
            <a:ext cx="3148965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python</a:t>
            </a:r>
            <a:r>
              <a:rPr sz="1600" b="1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ifelsedemo.py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59720" y="3150372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59706" y="2821188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36080" y="2851066"/>
            <a:ext cx="1224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Ru</a:t>
            </a: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terminal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" name="Picture 2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137454" y="4102103"/>
            <a:ext cx="3191510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X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greater</a:t>
            </a:r>
            <a:r>
              <a:rPr sz="16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than</a:t>
            </a:r>
            <a:r>
              <a:rPr sz="16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7460" y="4102103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7445" y="377291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8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44832" y="380279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947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If,</a:t>
            </a:r>
            <a:r>
              <a:rPr spc="15" dirty="0"/>
              <a:t> </a:t>
            </a:r>
            <a:r>
              <a:rPr spc="40" dirty="0"/>
              <a:t>elif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50" dirty="0"/>
              <a:t>else</a:t>
            </a:r>
            <a:r>
              <a:rPr spc="20" dirty="0"/>
              <a:t> </a:t>
            </a:r>
            <a:r>
              <a:rPr spc="10" dirty="0"/>
              <a:t>statement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7" name="object 7"/>
          <p:cNvSpPr txBox="1"/>
          <p:nvPr/>
        </p:nvSpPr>
        <p:spPr>
          <a:xfrm>
            <a:off x="1093983" y="1236959"/>
            <a:ext cx="8462010" cy="15697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</a:t>
            </a:r>
            <a:r>
              <a:rPr sz="1600" b="1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some_condition_1</a:t>
            </a:r>
            <a:r>
              <a:rPr sz="1600" b="1" spc="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74930" marR="3363595" indent="334645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 to execute when condition 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1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is true </a:t>
            </a:r>
            <a:r>
              <a:rPr sz="1600" b="1" spc="-869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elif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some_condition_2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74930" marR="3363595" indent="334645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 to execute when condition 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2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is true </a:t>
            </a:r>
            <a:r>
              <a:rPr sz="1600" b="1" spc="-869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else</a:t>
            </a: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409575">
              <a:lnSpc>
                <a:spcPct val="100000"/>
              </a:lnSpc>
            </a:pPr>
            <a:r>
              <a:rPr sz="1600" b="1" dirty="0">
                <a:solidFill>
                  <a:srgbClr val="212121"/>
                </a:solidFill>
                <a:latin typeface="Consolas"/>
                <a:cs typeface="Consolas"/>
              </a:rPr>
              <a:t>#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Code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execute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when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both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conditions</a:t>
            </a:r>
            <a:r>
              <a:rPr sz="16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are</a:t>
            </a:r>
            <a:r>
              <a:rPr sz="1600" b="1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990" y="1236959"/>
            <a:ext cx="500380" cy="156972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3705" y="907775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5">
                <a:moveTo>
                  <a:pt x="1286186" y="329194"/>
                </a:moveTo>
                <a:lnTo>
                  <a:pt x="0" y="329179"/>
                </a:lnTo>
                <a:lnTo>
                  <a:pt x="10" y="54865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46777" y="937654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0145" y="3322944"/>
          <a:ext cx="4503420" cy="20620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78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16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16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r>
                        <a:rPr sz="1600" spc="-2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299720" algn="ctr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"X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greater</a:t>
                      </a:r>
                      <a:r>
                        <a:rPr sz="1600" spc="-1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than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12"</a:t>
                      </a:r>
                      <a:r>
                        <a:rPr sz="1600" spc="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elif</a:t>
                      </a:r>
                      <a:r>
                        <a:rPr sz="16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6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16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600" spc="-2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187960" algn="ctr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"X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greater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than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1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5"</a:t>
                      </a:r>
                      <a:r>
                        <a:rPr sz="1600" spc="10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else</a:t>
                      </a:r>
                      <a:r>
                        <a:rPr sz="16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283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R="139065" algn="ctr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"X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less</a:t>
                      </a:r>
                      <a:r>
                        <a:rPr sz="1600" spc="-1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than</a:t>
                      </a:r>
                      <a:r>
                        <a:rPr sz="1600" spc="-20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5"</a:t>
                      </a:r>
                      <a:r>
                        <a:rPr sz="1600" spc="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30131" y="2993759"/>
            <a:ext cx="1613535" cy="329565"/>
          </a:xfrm>
          <a:custGeom>
            <a:avLst/>
            <a:gdLst/>
            <a:ahLst/>
            <a:cxnLst/>
            <a:rect l="l" t="t" r="r" b="b"/>
            <a:pathLst>
              <a:path w="1613535" h="329564">
                <a:moveTo>
                  <a:pt x="1613332" y="329197"/>
                </a:moveTo>
                <a:lnTo>
                  <a:pt x="0" y="329177"/>
                </a:lnTo>
                <a:lnTo>
                  <a:pt x="13" y="54864"/>
                </a:lnTo>
                <a:lnTo>
                  <a:pt x="4325" y="33509"/>
                </a:lnTo>
                <a:lnTo>
                  <a:pt x="16083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558473" y="0"/>
                </a:lnTo>
                <a:lnTo>
                  <a:pt x="1597268" y="16069"/>
                </a:lnTo>
                <a:lnTo>
                  <a:pt x="1613338" y="54864"/>
                </a:lnTo>
                <a:lnTo>
                  <a:pt x="1613332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59713" y="3333251"/>
            <a:ext cx="3148965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python</a:t>
            </a:r>
            <a:r>
              <a:rPr sz="1600" b="1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212121"/>
                </a:solidFill>
                <a:latin typeface="Consolas"/>
                <a:cs typeface="Consolas"/>
              </a:rPr>
              <a:t>ifelifdemo.py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9720" y="3333251"/>
            <a:ext cx="500380" cy="33909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59706" y="3004067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00906" y="3033946"/>
            <a:ext cx="62604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47615" algn="l"/>
              </a:tabLst>
            </a:pPr>
            <a:r>
              <a:rPr sz="2400" spc="-37" baseline="3472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2400" spc="-82" baseline="3472" dirty="0">
                <a:solidFill>
                  <a:srgbClr val="FFFFFF"/>
                </a:solidFill>
                <a:latin typeface="Roboto"/>
                <a:cs typeface="Roboto"/>
              </a:rPr>
              <a:t>feli</a:t>
            </a:r>
            <a:r>
              <a:rPr sz="2400" spc="-97" baseline="3472" dirty="0">
                <a:solidFill>
                  <a:srgbClr val="FFFFFF"/>
                </a:solidFill>
                <a:latin typeface="Roboto"/>
                <a:cs typeface="Roboto"/>
              </a:rPr>
              <a:t>f</a:t>
            </a:r>
            <a:r>
              <a:rPr sz="2400" spc="-172" baseline="3472" dirty="0">
                <a:solidFill>
                  <a:srgbClr val="FFFFFF"/>
                </a:solidFill>
                <a:latin typeface="Roboto"/>
                <a:cs typeface="Roboto"/>
              </a:rPr>
              <a:t>demo.</a:t>
            </a:r>
            <a:r>
              <a:rPr sz="2400" spc="-179" baseline="3472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2400" spc="-209" baseline="3472" dirty="0">
                <a:solidFill>
                  <a:srgbClr val="FFFFFF"/>
                </a:solidFill>
                <a:latin typeface="Roboto"/>
                <a:cs typeface="Roboto"/>
              </a:rPr>
              <a:t>y</a:t>
            </a:r>
            <a:r>
              <a:rPr sz="2400" baseline="3472" dirty="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Ru</a:t>
            </a: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terminal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" name="Picture 3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651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5" dirty="0"/>
              <a:t> </a:t>
            </a:r>
            <a:r>
              <a:rPr spc="10" dirty="0"/>
              <a:t>loop</a:t>
            </a:r>
            <a:r>
              <a:rPr dirty="0"/>
              <a:t> </a:t>
            </a:r>
            <a:r>
              <a:rPr spc="10" dirty="0"/>
              <a:t>in</a:t>
            </a:r>
            <a:r>
              <a:rPr spc="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06792"/>
            <a:ext cx="11419840" cy="1226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objects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iterable,</a:t>
            </a:r>
            <a:r>
              <a:rPr sz="2400" b="1" spc="5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meaning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iterate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over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every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object.</a:t>
            </a:r>
            <a:endParaRPr sz="2400">
              <a:latin typeface="Roboto"/>
              <a:cs typeface="Roboto"/>
            </a:endParaRPr>
          </a:p>
          <a:p>
            <a:pPr marL="474980">
              <a:lnSpc>
                <a:spcPct val="100000"/>
              </a:lnSpc>
              <a:spcBef>
                <a:spcPts val="265"/>
              </a:spcBef>
              <a:tabLst>
                <a:tab pos="852169" algn="l"/>
              </a:tabLst>
            </a:pPr>
            <a:r>
              <a:rPr sz="2000" spc="-525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such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every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List,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every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characters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etc..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loop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execute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block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iterable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object.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2819400"/>
            <a:ext cx="8472805" cy="584835"/>
          </a:xfrm>
          <a:custGeom>
            <a:avLst/>
            <a:gdLst/>
            <a:ahLst/>
            <a:cxnLst/>
            <a:rect l="l" t="t" r="r" b="b"/>
            <a:pathLst>
              <a:path w="8472805" h="584835">
                <a:moveTo>
                  <a:pt x="8472272" y="0"/>
                </a:moveTo>
                <a:lnTo>
                  <a:pt x="0" y="0"/>
                </a:lnTo>
                <a:lnTo>
                  <a:pt x="0" y="227965"/>
                </a:lnTo>
                <a:lnTo>
                  <a:pt x="0" y="584771"/>
                </a:lnTo>
                <a:lnTo>
                  <a:pt x="8472272" y="584771"/>
                </a:lnTo>
                <a:lnTo>
                  <a:pt x="8472272" y="227965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4400" y="2819400"/>
            <a:ext cx="381825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temp_item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iterable_object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" y="3124200"/>
            <a:ext cx="84728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Code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execute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each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object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iterable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213" y="2819396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777" y="2283375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10200" y="2590800"/>
            <a:ext cx="4419601" cy="457200"/>
            <a:chOff x="5004281" y="2177762"/>
            <a:chExt cx="5173980" cy="639445"/>
          </a:xfrm>
        </p:grpSpPr>
        <p:sp>
          <p:nvSpPr>
            <p:cNvPr id="11" name="object 11"/>
            <p:cNvSpPr/>
            <p:nvPr/>
          </p:nvSpPr>
          <p:spPr>
            <a:xfrm>
              <a:off x="5675650" y="2184112"/>
              <a:ext cx="4495800" cy="626745"/>
            </a:xfrm>
            <a:custGeom>
              <a:avLst/>
              <a:gdLst/>
              <a:ahLst/>
              <a:cxnLst/>
              <a:rect l="l" t="t" r="r" b="b"/>
              <a:pathLst>
                <a:path w="4495800" h="626744">
                  <a:moveTo>
                    <a:pt x="4495799" y="626532"/>
                  </a:moveTo>
                  <a:lnTo>
                    <a:pt x="0" y="626532"/>
                  </a:lnTo>
                  <a:lnTo>
                    <a:pt x="0" y="0"/>
                  </a:lnTo>
                  <a:lnTo>
                    <a:pt x="4495799" y="0"/>
                  </a:lnTo>
                  <a:lnTo>
                    <a:pt x="4495799" y="62653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10631" y="2184112"/>
              <a:ext cx="5161280" cy="626745"/>
            </a:xfrm>
            <a:custGeom>
              <a:avLst/>
              <a:gdLst/>
              <a:ahLst/>
              <a:cxnLst/>
              <a:rect l="l" t="t" r="r" b="b"/>
              <a:pathLst>
                <a:path w="5161280" h="626744">
                  <a:moveTo>
                    <a:pt x="665018" y="0"/>
                  </a:moveTo>
                  <a:lnTo>
                    <a:pt x="5160818" y="0"/>
                  </a:lnTo>
                  <a:lnTo>
                    <a:pt x="5160818" y="626532"/>
                  </a:lnTo>
                  <a:lnTo>
                    <a:pt x="665018" y="626532"/>
                  </a:lnTo>
                  <a:lnTo>
                    <a:pt x="665018" y="0"/>
                  </a:lnTo>
                  <a:close/>
                </a:path>
                <a:path w="5161280" h="626744">
                  <a:moveTo>
                    <a:pt x="637504" y="337607"/>
                  </a:moveTo>
                  <a:lnTo>
                    <a:pt x="0" y="560916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43600" y="2514600"/>
            <a:ext cx="4483100" cy="39243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60655" rIns="0" bIns="0" rtlCol="0">
            <a:spAutoFit/>
          </a:bodyPr>
          <a:lstStyle/>
          <a:p>
            <a:pPr algn="ctr">
              <a:lnSpc>
                <a:spcPts val="1825"/>
              </a:lnSpc>
              <a:spcBef>
                <a:spcPts val="1265"/>
              </a:spcBef>
            </a:pP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loop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19200" y="3276600"/>
            <a:ext cx="946150" cy="485775"/>
          </a:xfrm>
          <a:custGeom>
            <a:avLst/>
            <a:gdLst/>
            <a:ahLst/>
            <a:cxnLst/>
            <a:rect l="l" t="t" r="r" b="b"/>
            <a:pathLst>
              <a:path w="946150" h="485775">
                <a:moveTo>
                  <a:pt x="945736" y="485606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09800" y="3657600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315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Indentation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(tab/whitespace)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beginning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66800" y="4876800"/>
            <a:ext cx="2983865" cy="862330"/>
          </a:xfrm>
          <a:custGeom>
            <a:avLst/>
            <a:gdLst/>
            <a:ahLst/>
            <a:cxnLst/>
            <a:rect l="l" t="t" r="r" b="b"/>
            <a:pathLst>
              <a:path w="2983865" h="862329">
                <a:moveTo>
                  <a:pt x="0" y="861773"/>
                </a:moveTo>
                <a:lnTo>
                  <a:pt x="2983324" y="861773"/>
                </a:lnTo>
                <a:lnTo>
                  <a:pt x="2983324" y="0"/>
                </a:lnTo>
                <a:lnTo>
                  <a:pt x="0" y="0"/>
                </a:lnTo>
                <a:lnTo>
                  <a:pt x="0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66800" y="4495800"/>
            <a:ext cx="3000060" cy="1269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endParaRPr lang="en-US" sz="1600" spc="-5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endParaRPr lang="en-US" sz="1600" spc="-5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spc="-5">
                <a:latin typeface="Consolas"/>
                <a:cs typeface="Consolas"/>
              </a:rPr>
              <a:t>my_list</a:t>
            </a:r>
            <a:r>
              <a:rPr sz="1600" spc="18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185" dirty="0">
                <a:latin typeface="Consolas"/>
                <a:cs typeface="Consolas"/>
              </a:rPr>
              <a:t> </a:t>
            </a:r>
            <a:r>
              <a:rPr sz="1600" spc="5" dirty="0">
                <a:latin typeface="Consolas"/>
                <a:cs typeface="Consolas"/>
              </a:rPr>
              <a:t>[</a:t>
            </a:r>
            <a:r>
              <a:rPr sz="1600" spc="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5" dirty="0">
                <a:latin typeface="Consolas"/>
                <a:cs typeface="Consolas"/>
              </a:rPr>
              <a:t>,</a:t>
            </a:r>
            <a:r>
              <a:rPr sz="1600" spc="18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18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18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4</a:t>
            </a:r>
            <a:r>
              <a:rPr sz="1600" spc="-5" dirty="0">
                <a:latin typeface="Consolas"/>
                <a:cs typeface="Consolas"/>
              </a:rPr>
              <a:t>]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list_item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print(list_item)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600" y="4876800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400" y="4547235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4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4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9600" y="4547235"/>
            <a:ext cx="10401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fordemo1.py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77828" y="4861216"/>
            <a:ext cx="576580" cy="240665"/>
          </a:xfrm>
          <a:custGeom>
            <a:avLst/>
            <a:gdLst/>
            <a:ahLst/>
            <a:cxnLst/>
            <a:rect l="l" t="t" r="r" b="b"/>
            <a:pathLst>
              <a:path w="576579" h="240664">
                <a:moveTo>
                  <a:pt x="576073" y="0"/>
                </a:moveTo>
                <a:lnTo>
                  <a:pt x="0" y="240486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38600" y="4419600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53200" y="4724400"/>
            <a:ext cx="3561715" cy="1077595"/>
          </a:xfrm>
          <a:custGeom>
            <a:avLst/>
            <a:gdLst/>
            <a:ahLst/>
            <a:cxnLst/>
            <a:rect l="l" t="t" r="r" b="b"/>
            <a:pathLst>
              <a:path w="3561715" h="1077595">
                <a:moveTo>
                  <a:pt x="0" y="1077217"/>
                </a:moveTo>
                <a:lnTo>
                  <a:pt x="3561295" y="1077217"/>
                </a:lnTo>
                <a:lnTo>
                  <a:pt x="3561295" y="0"/>
                </a:lnTo>
                <a:lnTo>
                  <a:pt x="0" y="0"/>
                </a:lnTo>
                <a:lnTo>
                  <a:pt x="0" y="107721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53200" y="4800600"/>
            <a:ext cx="35553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4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6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7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8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9</a:t>
            </a:r>
            <a:r>
              <a:rPr sz="1600" spc="-5" dirty="0"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532130" marR="445770" indent="-447040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600" spc="-5" dirty="0">
                <a:latin typeface="Consolas"/>
                <a:cs typeface="Consolas"/>
              </a:rPr>
              <a:t>list_item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list_item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%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20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==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600" spc="-15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97790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print(list_item)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6000" y="4724400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72780" y="4389721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09" h="329564">
                <a:moveTo>
                  <a:pt x="1286186" y="329194"/>
                </a:moveTo>
                <a:lnTo>
                  <a:pt x="0" y="329179"/>
                </a:lnTo>
                <a:lnTo>
                  <a:pt x="10" y="54864"/>
                </a:lnTo>
                <a:lnTo>
                  <a:pt x="4322" y="33509"/>
                </a:lnTo>
                <a:lnTo>
                  <a:pt x="16080" y="16069"/>
                </a:lnTo>
                <a:lnTo>
                  <a:pt x="33520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4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96000" y="4419600"/>
            <a:ext cx="10401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fordemo2.py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378300" y="4852589"/>
            <a:ext cx="714375" cy="490855"/>
          </a:xfrm>
          <a:custGeom>
            <a:avLst/>
            <a:gdLst/>
            <a:ahLst/>
            <a:cxnLst/>
            <a:rect l="l" t="t" r="r" b="b"/>
            <a:pathLst>
              <a:path w="714375" h="490854">
                <a:moveTo>
                  <a:pt x="714092" y="0"/>
                </a:moveTo>
                <a:lnTo>
                  <a:pt x="0" y="490653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134600" y="4343400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6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6" name="object 8"/>
          <p:cNvSpPr/>
          <p:nvPr/>
        </p:nvSpPr>
        <p:spPr>
          <a:xfrm>
            <a:off x="381000" y="2514600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5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9"/>
          <p:cNvSpPr txBox="1"/>
          <p:nvPr/>
        </p:nvSpPr>
        <p:spPr>
          <a:xfrm>
            <a:off x="744072" y="2544479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6" name="Picture 4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01" y="6603898"/>
            <a:ext cx="12192635" cy="254635"/>
          </a:xfrm>
          <a:custGeom>
            <a:avLst/>
            <a:gdLst/>
            <a:ahLst/>
            <a:cxnLst/>
            <a:rect l="l" t="t" r="r" b="b"/>
            <a:pathLst>
              <a:path w="12192635" h="254634">
                <a:moveTo>
                  <a:pt x="101" y="101"/>
                </a:moveTo>
                <a:lnTo>
                  <a:pt x="12192099" y="101"/>
                </a:lnTo>
                <a:lnTo>
                  <a:pt x="12192099" y="254101"/>
                </a:lnTo>
                <a:lnTo>
                  <a:pt x="101" y="254101"/>
                </a:lnTo>
                <a:lnTo>
                  <a:pt x="101" y="101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4040" y="6621326"/>
            <a:ext cx="473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363636"/>
                </a:solidFill>
                <a:latin typeface="Roboto Lt"/>
                <a:cs typeface="Roboto Lt"/>
              </a:rPr>
              <a:t>#31507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4377" y="6623534"/>
            <a:ext cx="1481455" cy="2076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1</a:t>
            </a:r>
            <a:r>
              <a:rPr sz="1200" spc="-85" dirty="0">
                <a:solidFill>
                  <a:srgbClr val="363636"/>
                </a:solidFill>
                <a:latin typeface="Roboto Lt"/>
                <a:cs typeface="Roboto Lt"/>
              </a:rPr>
              <a:t>3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75" dirty="0">
                <a:solidFill>
                  <a:srgbClr val="363636"/>
                </a:solidFill>
                <a:latin typeface="Roboto Lt"/>
                <a:cs typeface="Roboto Lt"/>
              </a:rPr>
              <a:t>(PDS)</a:t>
            </a:r>
            <a:r>
              <a:rPr sz="1200" dirty="0">
                <a:solidFill>
                  <a:srgbClr val="363636"/>
                </a:solidFill>
                <a:latin typeface="Roboto Lt"/>
                <a:cs typeface="Roboto Lt"/>
              </a:rPr>
              <a:t>  </a:t>
            </a:r>
            <a:r>
              <a:rPr sz="1200" spc="-5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310" dirty="0">
                <a:solidFill>
                  <a:srgbClr val="363636"/>
                </a:solidFill>
                <a:latin typeface="Segoe UI Symbol"/>
                <a:cs typeface="Segoe UI Symbol"/>
              </a:rPr>
              <a:t>⬥</a:t>
            </a:r>
            <a:r>
              <a:rPr sz="1200" dirty="0">
                <a:solidFill>
                  <a:srgbClr val="363636"/>
                </a:solidFill>
                <a:latin typeface="Segoe UI Symbol"/>
                <a:cs typeface="Segoe UI Symbol"/>
              </a:rPr>
              <a:t> </a:t>
            </a:r>
            <a:r>
              <a:rPr sz="1200" spc="145" dirty="0">
                <a:solidFill>
                  <a:srgbClr val="363636"/>
                </a:solidFill>
                <a:latin typeface="Segoe UI Symbol"/>
                <a:cs typeface="Segoe UI Symbol"/>
              </a:rPr>
              <a:t> </a:t>
            </a:r>
            <a:r>
              <a:rPr sz="1200" spc="-80" dirty="0">
                <a:solidFill>
                  <a:srgbClr val="363636"/>
                </a:solidFill>
                <a:latin typeface="Roboto Lt"/>
                <a:cs typeface="Roboto Lt"/>
              </a:rPr>
              <a:t>Uni</a:t>
            </a:r>
            <a:r>
              <a:rPr sz="1200" spc="-50" dirty="0">
                <a:solidFill>
                  <a:srgbClr val="363636"/>
                </a:solidFill>
                <a:latin typeface="Roboto Lt"/>
                <a:cs typeface="Roboto Lt"/>
              </a:rPr>
              <a:t>t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0</a:t>
            </a:r>
            <a:r>
              <a:rPr sz="1200" spc="-85" dirty="0">
                <a:solidFill>
                  <a:srgbClr val="363636"/>
                </a:solidFill>
                <a:latin typeface="Roboto Lt"/>
                <a:cs typeface="Roboto Lt"/>
              </a:rPr>
              <a:t>1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150" dirty="0">
                <a:solidFill>
                  <a:srgbClr val="363636"/>
                </a:solidFill>
                <a:latin typeface="Roboto Lt"/>
                <a:cs typeface="Roboto Lt"/>
              </a:rPr>
              <a:t>–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105" dirty="0">
                <a:solidFill>
                  <a:srgbClr val="363636"/>
                </a:solidFill>
                <a:latin typeface="Roboto Lt"/>
                <a:cs typeface="Roboto Lt"/>
              </a:rPr>
              <a:t>O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2585" y="6621326"/>
            <a:ext cx="2210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v</a:t>
            </a:r>
            <a:r>
              <a:rPr sz="1200" spc="-75" dirty="0">
                <a:solidFill>
                  <a:srgbClr val="363636"/>
                </a:solidFill>
                <a:latin typeface="Roboto Lt"/>
                <a:cs typeface="Roboto Lt"/>
              </a:rPr>
              <a:t>e</a:t>
            </a:r>
            <a:r>
              <a:rPr sz="1200" spc="-45" dirty="0">
                <a:solidFill>
                  <a:srgbClr val="363636"/>
                </a:solidFill>
                <a:latin typeface="Roboto Lt"/>
                <a:cs typeface="Roboto Lt"/>
              </a:rPr>
              <a:t>r</a:t>
            </a:r>
            <a:r>
              <a:rPr sz="1200" spc="-70" dirty="0">
                <a:solidFill>
                  <a:srgbClr val="363636"/>
                </a:solidFill>
                <a:latin typeface="Roboto Lt"/>
                <a:cs typeface="Roboto Lt"/>
              </a:rPr>
              <a:t>vie</a:t>
            </a:r>
            <a:r>
              <a:rPr sz="1200" spc="-114" dirty="0">
                <a:solidFill>
                  <a:srgbClr val="363636"/>
                </a:solidFill>
                <a:latin typeface="Roboto Lt"/>
                <a:cs typeface="Roboto Lt"/>
              </a:rPr>
              <a:t>w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75" dirty="0">
                <a:solidFill>
                  <a:srgbClr val="363636"/>
                </a:solidFill>
                <a:latin typeface="Roboto Lt"/>
                <a:cs typeface="Roboto Lt"/>
              </a:rPr>
              <a:t>o</a:t>
            </a:r>
            <a:r>
              <a:rPr sz="1200" spc="-40" dirty="0">
                <a:solidFill>
                  <a:srgbClr val="363636"/>
                </a:solidFill>
                <a:latin typeface="Roboto Lt"/>
                <a:cs typeface="Roboto Lt"/>
              </a:rPr>
              <a:t>f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P</a:t>
            </a:r>
            <a:r>
              <a:rPr sz="1200" spc="-80" dirty="0">
                <a:solidFill>
                  <a:srgbClr val="363636"/>
                </a:solidFill>
                <a:latin typeface="Roboto Lt"/>
                <a:cs typeface="Roboto Lt"/>
              </a:rPr>
              <a:t>ytho</a:t>
            </a: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n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90" dirty="0">
                <a:solidFill>
                  <a:srgbClr val="363636"/>
                </a:solidFill>
                <a:latin typeface="Roboto Lt"/>
                <a:cs typeface="Roboto Lt"/>
              </a:rPr>
              <a:t>and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85" dirty="0">
                <a:solidFill>
                  <a:srgbClr val="363636"/>
                </a:solidFill>
                <a:latin typeface="Roboto Lt"/>
                <a:cs typeface="Roboto Lt"/>
              </a:rPr>
              <a:t>Data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75" dirty="0">
                <a:solidFill>
                  <a:srgbClr val="363636"/>
                </a:solidFill>
                <a:latin typeface="Roboto Lt"/>
                <a:cs typeface="Roboto Lt"/>
              </a:rPr>
              <a:t>Structu</a:t>
            </a:r>
            <a:r>
              <a:rPr sz="1200" spc="-70" dirty="0">
                <a:solidFill>
                  <a:srgbClr val="363636"/>
                </a:solidFill>
                <a:latin typeface="Roboto Lt"/>
                <a:cs typeface="Roboto Lt"/>
              </a:rPr>
              <a:t>re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01189" y="6621326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363636"/>
                </a:solidFill>
                <a:latin typeface="Roboto Cn"/>
                <a:cs typeface="Roboto Cn"/>
              </a:rPr>
              <a:t>37</a:t>
            </a:r>
            <a:endParaRPr sz="1200">
              <a:latin typeface="Roboto Cn"/>
              <a:cs typeface="Roboto C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660625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4519710" y="0"/>
                </a:lnTo>
              </a:path>
              <a:path w="12192000">
                <a:moveTo>
                  <a:pt x="5926346" y="0"/>
                </a:moveTo>
                <a:lnTo>
                  <a:pt x="12191999" y="0"/>
                </a:lnTo>
              </a:path>
            </a:pathLst>
          </a:custGeom>
          <a:ln w="12699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785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15" dirty="0"/>
              <a:t> </a:t>
            </a:r>
            <a:r>
              <a:rPr spc="10" dirty="0"/>
              <a:t>loop </a:t>
            </a:r>
            <a:r>
              <a:rPr spc="15" dirty="0"/>
              <a:t>(tuple</a:t>
            </a:r>
            <a:r>
              <a:rPr spc="20" dirty="0"/>
              <a:t> </a:t>
            </a:r>
            <a:r>
              <a:rPr spc="10" dirty="0"/>
              <a:t>unpacking)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3695" y="4826047"/>
            <a:ext cx="11188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range()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till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(not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including)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argument.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9185" y="2208092"/>
            <a:ext cx="4605655" cy="8312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),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4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6</a:t>
            </a:r>
            <a:r>
              <a:rPr sz="1600" spc="-5" dirty="0">
                <a:latin typeface="Consolas"/>
                <a:cs typeface="Consolas"/>
              </a:rPr>
              <a:t>),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7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8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9</a:t>
            </a:r>
            <a:r>
              <a:rPr sz="1600" spc="-5" dirty="0">
                <a:latin typeface="Consolas"/>
                <a:cs typeface="Consolas"/>
              </a:rPr>
              <a:t>)]</a:t>
            </a:r>
            <a:endParaRPr sz="1600">
              <a:latin typeface="Consolas"/>
              <a:cs typeface="Consolas"/>
            </a:endParaRPr>
          </a:p>
          <a:p>
            <a:pPr marL="531495" marR="1610360" indent="-446405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600" spc="-5" dirty="0">
                <a:latin typeface="Consolas"/>
                <a:cs typeface="Consolas"/>
              </a:rPr>
              <a:t>list_item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print(list_item[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192" y="2208092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70" y="1878908"/>
            <a:ext cx="2699385" cy="329565"/>
          </a:xfrm>
          <a:custGeom>
            <a:avLst/>
            <a:gdLst/>
            <a:ahLst/>
            <a:cxnLst/>
            <a:rect l="l" t="t" r="r" b="b"/>
            <a:pathLst>
              <a:path w="2699385" h="329564">
                <a:moveTo>
                  <a:pt x="2698857" y="329206"/>
                </a:moveTo>
                <a:lnTo>
                  <a:pt x="0" y="329173"/>
                </a:lnTo>
                <a:lnTo>
                  <a:pt x="22" y="54864"/>
                </a:lnTo>
                <a:lnTo>
                  <a:pt x="4334" y="33509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44002" y="0"/>
                </a:lnTo>
                <a:lnTo>
                  <a:pt x="2682797" y="16069"/>
                </a:lnTo>
                <a:lnTo>
                  <a:pt x="2698867" y="54864"/>
                </a:lnTo>
                <a:lnTo>
                  <a:pt x="2698857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04964" y="3022732"/>
            <a:ext cx="955675" cy="872490"/>
          </a:xfrm>
          <a:custGeom>
            <a:avLst/>
            <a:gdLst/>
            <a:ahLst/>
            <a:cxnLst/>
            <a:rect l="l" t="t" r="r" b="b"/>
            <a:pathLst>
              <a:path w="955675" h="872489">
                <a:moveTo>
                  <a:pt x="955640" y="872325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69212" y="3114136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39707" y="2208092"/>
            <a:ext cx="4424680" cy="831215"/>
          </a:xfrm>
          <a:custGeom>
            <a:avLst/>
            <a:gdLst/>
            <a:ahLst/>
            <a:cxnLst/>
            <a:rect l="l" t="t" r="r" b="b"/>
            <a:pathLst>
              <a:path w="4424680" h="831214">
                <a:moveTo>
                  <a:pt x="4424467" y="830996"/>
                </a:moveTo>
                <a:lnTo>
                  <a:pt x="0" y="830996"/>
                </a:lnTo>
                <a:lnTo>
                  <a:pt x="0" y="0"/>
                </a:lnTo>
                <a:lnTo>
                  <a:pt x="4424467" y="0"/>
                </a:lnTo>
                <a:lnTo>
                  <a:pt x="4424467" y="83099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12732" y="2225364"/>
            <a:ext cx="415797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5" dirty="0">
                <a:latin typeface="Consolas"/>
                <a:cs typeface="Consolas"/>
              </a:rPr>
              <a:t>),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4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6</a:t>
            </a:r>
            <a:r>
              <a:rPr sz="1600" spc="-5" dirty="0">
                <a:latin typeface="Consolas"/>
                <a:cs typeface="Consolas"/>
              </a:rPr>
              <a:t>),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7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8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9</a:t>
            </a:r>
            <a:r>
              <a:rPr sz="1600" spc="-5" dirty="0">
                <a:latin typeface="Consolas"/>
                <a:cs typeface="Consolas"/>
              </a:rPr>
              <a:t>)]</a:t>
            </a:r>
            <a:endParaRPr sz="1600">
              <a:latin typeface="Consolas"/>
              <a:cs typeface="Consolas"/>
            </a:endParaRPr>
          </a:p>
          <a:p>
            <a:pPr marL="458470" marR="1682114" indent="-446405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a,b,c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print(b)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39713" y="2208092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39691" y="1878908"/>
            <a:ext cx="2776855" cy="329565"/>
          </a:xfrm>
          <a:custGeom>
            <a:avLst/>
            <a:gdLst/>
            <a:ahLst/>
            <a:cxnLst/>
            <a:rect l="l" t="t" r="r" b="b"/>
            <a:pathLst>
              <a:path w="2776854" h="329564">
                <a:moveTo>
                  <a:pt x="2776494" y="329207"/>
                </a:moveTo>
                <a:lnTo>
                  <a:pt x="0" y="329173"/>
                </a:lnTo>
                <a:lnTo>
                  <a:pt x="23" y="54864"/>
                </a:lnTo>
                <a:lnTo>
                  <a:pt x="4334" y="33509"/>
                </a:lnTo>
                <a:lnTo>
                  <a:pt x="16092" y="16069"/>
                </a:lnTo>
                <a:lnTo>
                  <a:pt x="33532" y="4311"/>
                </a:lnTo>
                <a:lnTo>
                  <a:pt x="54888" y="0"/>
                </a:lnTo>
                <a:lnTo>
                  <a:pt x="2721640" y="0"/>
                </a:lnTo>
                <a:lnTo>
                  <a:pt x="2760435" y="16069"/>
                </a:lnTo>
                <a:lnTo>
                  <a:pt x="2776505" y="54864"/>
                </a:lnTo>
                <a:lnTo>
                  <a:pt x="2776494" y="3292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3694" y="847391"/>
            <a:ext cx="12018305" cy="13309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lang="en-US"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                          </a:t>
            </a:r>
            <a:r>
              <a:rPr sz="2400" spc="-625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Sometimes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nested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structure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like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List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tuples,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iterate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such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tuple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unpacking.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Roboto"/>
              <a:cs typeface="Roboto"/>
            </a:endParaRPr>
          </a:p>
          <a:p>
            <a:pPr marL="676910">
              <a:lnSpc>
                <a:spcPct val="100000"/>
              </a:lnSpc>
              <a:tabLst>
                <a:tab pos="6355080" algn="l"/>
              </a:tabLst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withouttupleunapacking.py	withtupleunpacking.py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34172" y="2970983"/>
            <a:ext cx="550545" cy="932815"/>
          </a:xfrm>
          <a:custGeom>
            <a:avLst/>
            <a:gdLst/>
            <a:ahLst/>
            <a:cxnLst/>
            <a:rect l="l" t="t" r="r" b="b"/>
            <a:pathLst>
              <a:path w="550545" h="932814">
                <a:moveTo>
                  <a:pt x="550191" y="932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392972" y="3122761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84959" y="2677675"/>
            <a:ext cx="381635" cy="424180"/>
          </a:xfrm>
          <a:custGeom>
            <a:avLst/>
            <a:gdLst/>
            <a:ahLst/>
            <a:cxnLst/>
            <a:rect l="l" t="t" r="r" b="b"/>
            <a:pathLst>
              <a:path w="381634" h="424180">
                <a:moveTo>
                  <a:pt x="0" y="423757"/>
                </a:moveTo>
                <a:lnTo>
                  <a:pt x="381465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012080" y="3131388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55575" marR="149860" indent="635" algn="ctr">
              <a:lnSpc>
                <a:spcPct val="100000"/>
              </a:lnSpc>
              <a:spcBef>
                <a:spcPts val="229"/>
              </a:spcBef>
            </a:pP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This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technique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is  </a:t>
            </a: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know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as 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tuple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unpacking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79185" y="5581022"/>
            <a:ext cx="3441065" cy="862330"/>
          </a:xfrm>
          <a:custGeom>
            <a:avLst/>
            <a:gdLst/>
            <a:ahLst/>
            <a:cxnLst/>
            <a:rect l="l" t="t" r="r" b="b"/>
            <a:pathLst>
              <a:path w="3441065" h="862329">
                <a:moveTo>
                  <a:pt x="0" y="861773"/>
                </a:moveTo>
                <a:lnTo>
                  <a:pt x="3440524" y="861773"/>
                </a:lnTo>
                <a:lnTo>
                  <a:pt x="3440524" y="0"/>
                </a:lnTo>
                <a:lnTo>
                  <a:pt x="0" y="0"/>
                </a:lnTo>
                <a:lnTo>
                  <a:pt x="0" y="861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79185" y="5598294"/>
            <a:ext cx="3434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my_list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range(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531495" marR="438784" indent="-446405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600" spc="-5" dirty="0">
                <a:latin typeface="Consolas"/>
                <a:cs typeface="Consolas"/>
              </a:rPr>
              <a:t>list_item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600" spc="-5" dirty="0">
                <a:latin typeface="Consolas"/>
                <a:cs typeface="Consolas"/>
              </a:rPr>
              <a:t>my_list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print(list_item)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9192" y="5581022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9170" y="5251837"/>
            <a:ext cx="2699385" cy="329565"/>
          </a:xfrm>
          <a:custGeom>
            <a:avLst/>
            <a:gdLst/>
            <a:ahLst/>
            <a:cxnLst/>
            <a:rect l="l" t="t" r="r" b="b"/>
            <a:pathLst>
              <a:path w="2699385" h="329564">
                <a:moveTo>
                  <a:pt x="2698857" y="329206"/>
                </a:moveTo>
                <a:lnTo>
                  <a:pt x="0" y="329173"/>
                </a:lnTo>
                <a:lnTo>
                  <a:pt x="22" y="54864"/>
                </a:lnTo>
                <a:lnTo>
                  <a:pt x="4334" y="33509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44002" y="0"/>
                </a:lnTo>
                <a:lnTo>
                  <a:pt x="2682797" y="16069"/>
                </a:lnTo>
                <a:lnTo>
                  <a:pt x="2698867" y="54864"/>
                </a:lnTo>
                <a:lnTo>
                  <a:pt x="2698857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347630" y="5281717"/>
            <a:ext cx="1162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rangedemo.py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36961" y="5184461"/>
            <a:ext cx="2489835" cy="1673860"/>
            <a:chOff x="3436961" y="5184461"/>
            <a:chExt cx="2489835" cy="1673860"/>
          </a:xfrm>
        </p:grpSpPr>
        <p:sp>
          <p:nvSpPr>
            <p:cNvPr id="38" name="object 38"/>
            <p:cNvSpPr/>
            <p:nvPr/>
          </p:nvSpPr>
          <p:spPr>
            <a:xfrm>
              <a:off x="4519711" y="5184461"/>
              <a:ext cx="1407160" cy="1673860"/>
            </a:xfrm>
            <a:custGeom>
              <a:avLst/>
              <a:gdLst/>
              <a:ahLst/>
              <a:cxnLst/>
              <a:rect l="l" t="t" r="r" b="b"/>
              <a:pathLst>
                <a:path w="1407160" h="1673859">
                  <a:moveTo>
                    <a:pt x="1406635" y="1673524"/>
                  </a:moveTo>
                  <a:lnTo>
                    <a:pt x="0" y="1673524"/>
                  </a:lnTo>
                  <a:lnTo>
                    <a:pt x="0" y="0"/>
                  </a:lnTo>
                  <a:lnTo>
                    <a:pt x="1406635" y="0"/>
                  </a:lnTo>
                  <a:lnTo>
                    <a:pt x="1406635" y="167352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43311" y="6086240"/>
              <a:ext cx="1068070" cy="200025"/>
            </a:xfrm>
            <a:custGeom>
              <a:avLst/>
              <a:gdLst/>
              <a:ahLst/>
              <a:cxnLst/>
              <a:rect l="l" t="t" r="r" b="b"/>
              <a:pathLst>
                <a:path w="1068070" h="200025">
                  <a:moveTo>
                    <a:pt x="1067791" y="0"/>
                  </a:moveTo>
                  <a:lnTo>
                    <a:pt x="0" y="199567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519710" y="5184461"/>
            <a:ext cx="1407160" cy="1673860"/>
          </a:xfrm>
          <a:prstGeom prst="rect">
            <a:avLst/>
          </a:prstGeom>
          <a:ln w="12699">
            <a:solidFill>
              <a:srgbClr val="FFC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" name="Picture 3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34607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While</a:t>
            </a:r>
            <a:r>
              <a:rPr spc="-40" dirty="0"/>
              <a:t> </a:t>
            </a:r>
            <a:r>
              <a:rPr spc="10" dirty="0"/>
              <a:t>loop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0385425" cy="16148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While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loop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continue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execute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block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until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condition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remains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True.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example,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whil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ellin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hung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28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ee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eating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while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internet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pack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available,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keep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watching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videos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3703" y="2798343"/>
            <a:ext cx="8472805" cy="584835"/>
          </a:xfrm>
          <a:custGeom>
            <a:avLst/>
            <a:gdLst/>
            <a:ahLst/>
            <a:cxnLst/>
            <a:rect l="l" t="t" r="r" b="b"/>
            <a:pathLst>
              <a:path w="8472805" h="584835">
                <a:moveTo>
                  <a:pt x="8472272" y="0"/>
                </a:moveTo>
                <a:lnTo>
                  <a:pt x="0" y="0"/>
                </a:lnTo>
                <a:lnTo>
                  <a:pt x="0" y="227965"/>
                </a:lnTo>
                <a:lnTo>
                  <a:pt x="0" y="584784"/>
                </a:lnTo>
                <a:lnTo>
                  <a:pt x="8472272" y="584784"/>
                </a:lnTo>
                <a:lnTo>
                  <a:pt x="8472272" y="227965"/>
                </a:lnTo>
                <a:lnTo>
                  <a:pt x="8472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6734" y="2815613"/>
            <a:ext cx="2478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16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some_condition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3708" y="3059453"/>
            <a:ext cx="84728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Code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execute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loop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716" y="2798341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3705" y="2469157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4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4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46777" y="2499035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67185" y="2393421"/>
            <a:ext cx="6510655" cy="639445"/>
            <a:chOff x="3667185" y="2393421"/>
            <a:chExt cx="6510655" cy="639445"/>
          </a:xfrm>
        </p:grpSpPr>
        <p:sp>
          <p:nvSpPr>
            <p:cNvPr id="11" name="object 11"/>
            <p:cNvSpPr/>
            <p:nvPr/>
          </p:nvSpPr>
          <p:spPr>
            <a:xfrm>
              <a:off x="5675649" y="2399771"/>
              <a:ext cx="4495800" cy="626745"/>
            </a:xfrm>
            <a:custGeom>
              <a:avLst/>
              <a:gdLst/>
              <a:ahLst/>
              <a:cxnLst/>
              <a:rect l="l" t="t" r="r" b="b"/>
              <a:pathLst>
                <a:path w="4495800" h="626744">
                  <a:moveTo>
                    <a:pt x="4495799" y="626532"/>
                  </a:moveTo>
                  <a:lnTo>
                    <a:pt x="0" y="626532"/>
                  </a:lnTo>
                  <a:lnTo>
                    <a:pt x="0" y="0"/>
                  </a:lnTo>
                  <a:lnTo>
                    <a:pt x="4495799" y="0"/>
                  </a:lnTo>
                  <a:lnTo>
                    <a:pt x="4495799" y="62653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73535" y="2399771"/>
              <a:ext cx="6497955" cy="626745"/>
            </a:xfrm>
            <a:custGeom>
              <a:avLst/>
              <a:gdLst/>
              <a:ahLst/>
              <a:cxnLst/>
              <a:rect l="l" t="t" r="r" b="b"/>
              <a:pathLst>
                <a:path w="6497955" h="626744">
                  <a:moveTo>
                    <a:pt x="2002114" y="0"/>
                  </a:moveTo>
                  <a:lnTo>
                    <a:pt x="6497914" y="0"/>
                  </a:lnTo>
                  <a:lnTo>
                    <a:pt x="6497914" y="626532"/>
                  </a:lnTo>
                  <a:lnTo>
                    <a:pt x="2002114" y="626532"/>
                  </a:lnTo>
                  <a:lnTo>
                    <a:pt x="2002114" y="0"/>
                  </a:lnTo>
                  <a:close/>
                </a:path>
                <a:path w="6497955" h="626744">
                  <a:moveTo>
                    <a:pt x="1974599" y="337607"/>
                  </a:moveTo>
                  <a:lnTo>
                    <a:pt x="0" y="595419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82000" y="2406121"/>
            <a:ext cx="4483100" cy="39243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60655" rIns="0" bIns="0" rtlCol="0">
            <a:spAutoFit/>
          </a:bodyPr>
          <a:lstStyle/>
          <a:p>
            <a:pPr marL="1265555">
              <a:lnSpc>
                <a:spcPts val="1825"/>
              </a:lnSpc>
              <a:spcBef>
                <a:spcPts val="1265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whil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loop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72318" y="3267202"/>
            <a:ext cx="946150" cy="485775"/>
          </a:xfrm>
          <a:custGeom>
            <a:avLst/>
            <a:gdLst/>
            <a:ahLst/>
            <a:cxnLst/>
            <a:rect l="l" t="t" r="r" b="b"/>
            <a:pathLst>
              <a:path w="946150" h="485775">
                <a:moveTo>
                  <a:pt x="945736" y="485607"/>
                </a:moveTo>
                <a:lnTo>
                  <a:pt x="0" y="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45568" y="3415202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315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Indentation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(tab/whitespace)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beginning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9185" y="4528598"/>
            <a:ext cx="4415790" cy="1077595"/>
          </a:xfrm>
          <a:custGeom>
            <a:avLst/>
            <a:gdLst/>
            <a:ahLst/>
            <a:cxnLst/>
            <a:rect l="l" t="t" r="r" b="b"/>
            <a:pathLst>
              <a:path w="4415790" h="1077595">
                <a:moveTo>
                  <a:pt x="0" y="1077218"/>
                </a:moveTo>
                <a:lnTo>
                  <a:pt x="4415309" y="1077218"/>
                </a:lnTo>
                <a:lnTo>
                  <a:pt x="4415309" y="0"/>
                </a:lnTo>
                <a:lnTo>
                  <a:pt x="0" y="0"/>
                </a:lnTo>
                <a:lnTo>
                  <a:pt x="0" y="107721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79185" y="4545870"/>
            <a:ext cx="44094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endParaRPr sz="16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25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print(x)</a:t>
            </a:r>
            <a:endParaRPr sz="16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  <a:tabLst>
                <a:tab pos="1649095" algn="l"/>
              </a:tabLst>
            </a:pPr>
            <a:r>
              <a:rPr sz="1600" dirty="0">
                <a:latin typeface="Consolas"/>
                <a:cs typeface="Consolas"/>
              </a:rPr>
              <a:t>x</a:t>
            </a:r>
            <a:r>
              <a:rPr sz="1600" spc="-5" dirty="0">
                <a:latin typeface="Consolas"/>
                <a:cs typeface="Consolas"/>
              </a:rPr>
              <a:t> +=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1	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x++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valid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python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192" y="4528598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78" y="4199414"/>
            <a:ext cx="1681480" cy="329565"/>
          </a:xfrm>
          <a:custGeom>
            <a:avLst/>
            <a:gdLst/>
            <a:ahLst/>
            <a:cxnLst/>
            <a:rect l="l" t="t" r="r" b="b"/>
            <a:pathLst>
              <a:path w="1681480" h="329564">
                <a:moveTo>
                  <a:pt x="1680935" y="329197"/>
                </a:moveTo>
                <a:lnTo>
                  <a:pt x="0" y="329177"/>
                </a:lnTo>
                <a:lnTo>
                  <a:pt x="13" y="54864"/>
                </a:lnTo>
                <a:lnTo>
                  <a:pt x="4325" y="33509"/>
                </a:lnTo>
                <a:lnTo>
                  <a:pt x="16083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626076" y="0"/>
                </a:lnTo>
                <a:lnTo>
                  <a:pt x="1664872" y="16069"/>
                </a:lnTo>
                <a:lnTo>
                  <a:pt x="1680941" y="54864"/>
                </a:lnTo>
                <a:lnTo>
                  <a:pt x="1680935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3848" y="4229293"/>
            <a:ext cx="1130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whiledemo.py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37536" y="5042370"/>
            <a:ext cx="2948940" cy="163195"/>
          </a:xfrm>
          <a:custGeom>
            <a:avLst/>
            <a:gdLst/>
            <a:ahLst/>
            <a:cxnLst/>
            <a:rect l="l" t="t" r="r" b="b"/>
            <a:pathLst>
              <a:path w="2948940" h="163195">
                <a:moveTo>
                  <a:pt x="2948351" y="0"/>
                </a:moveTo>
                <a:lnTo>
                  <a:pt x="0" y="162850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94496" y="4261448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14490" y="4045517"/>
            <a:ext cx="4678045" cy="1569720"/>
          </a:xfrm>
          <a:custGeom>
            <a:avLst/>
            <a:gdLst/>
            <a:ahLst/>
            <a:cxnLst/>
            <a:rect l="l" t="t" r="r" b="b"/>
            <a:pathLst>
              <a:path w="4678045" h="1569720">
                <a:moveTo>
                  <a:pt x="4677509" y="1569659"/>
                </a:moveTo>
                <a:lnTo>
                  <a:pt x="0" y="1569659"/>
                </a:lnTo>
                <a:lnTo>
                  <a:pt x="0" y="0"/>
                </a:lnTo>
                <a:lnTo>
                  <a:pt x="4677509" y="0"/>
                </a:lnTo>
                <a:lnTo>
                  <a:pt x="4677509" y="15696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51218" y="4794310"/>
            <a:ext cx="27006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x++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valid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python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33742" y="5281989"/>
            <a:ext cx="31534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"X</a:t>
            </a:r>
            <a:r>
              <a:rPr sz="1600" spc="-2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is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greater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than</a:t>
            </a:r>
            <a:r>
              <a:rPr sz="1600" spc="-2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10" dirty="0">
                <a:solidFill>
                  <a:srgbClr val="A31414"/>
                </a:solidFill>
                <a:latin typeface="Consolas"/>
                <a:cs typeface="Consolas"/>
              </a:rPr>
              <a:t>3"</a:t>
            </a:r>
            <a:r>
              <a:rPr sz="1600" spc="1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14497" y="4045517"/>
            <a:ext cx="500380" cy="1569720"/>
          </a:xfrm>
          <a:custGeom>
            <a:avLst/>
            <a:gdLst/>
            <a:ahLst/>
            <a:cxnLst/>
            <a:rect l="l" t="t" r="r" b="b"/>
            <a:pathLst>
              <a:path w="500379" h="1569720">
                <a:moveTo>
                  <a:pt x="499992" y="1569659"/>
                </a:moveTo>
                <a:lnTo>
                  <a:pt x="0" y="1569659"/>
                </a:lnTo>
                <a:lnTo>
                  <a:pt x="0" y="0"/>
                </a:lnTo>
                <a:lnTo>
                  <a:pt x="499992" y="0"/>
                </a:lnTo>
                <a:lnTo>
                  <a:pt x="499992" y="1569659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04373" y="4062789"/>
            <a:ext cx="17608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	</a:t>
            </a: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2"/>
              <a:tabLst>
                <a:tab pos="295275" algn="l"/>
                <a:tab pos="295910" algn="l"/>
              </a:tabLst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x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3</a:t>
            </a:r>
            <a:r>
              <a:rPr sz="1600" spc="-30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741680" indent="-729615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2"/>
              <a:tabLst>
                <a:tab pos="741680" algn="l"/>
                <a:tab pos="742315" algn="l"/>
              </a:tabLst>
            </a:pPr>
            <a:r>
              <a:rPr sz="1600" spc="-5" dirty="0">
                <a:latin typeface="Consolas"/>
                <a:cs typeface="Consolas"/>
              </a:rPr>
              <a:t>print(x)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741680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	</a:t>
            </a:r>
            <a:r>
              <a:rPr sz="1600" dirty="0">
                <a:latin typeface="Consolas"/>
                <a:cs typeface="Consolas"/>
              </a:rPr>
              <a:t>x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+=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5275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	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16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14487" y="3716334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09" h="329564">
                <a:moveTo>
                  <a:pt x="1286186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93305" y="3746212"/>
            <a:ext cx="9271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withelse.py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93297" y="4050330"/>
            <a:ext cx="1887855" cy="1250315"/>
          </a:xfrm>
          <a:custGeom>
            <a:avLst/>
            <a:gdLst/>
            <a:ahLst/>
            <a:cxnLst/>
            <a:rect l="l" t="t" r="r" b="b"/>
            <a:pathLst>
              <a:path w="1887854" h="1250314">
                <a:moveTo>
                  <a:pt x="1887283" y="0"/>
                </a:moveTo>
                <a:lnTo>
                  <a:pt x="0" y="1249779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489189" y="3269408"/>
            <a:ext cx="1407160" cy="144970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marL="421640" marR="182880" indent="-232410">
              <a:lnSpc>
                <a:spcPct val="100000"/>
              </a:lnSpc>
            </a:pPr>
            <a:r>
              <a:rPr sz="1800" spc="-15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eater  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tha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bject 6"/>
          <p:cNvSpPr txBox="1">
            <a:spLocks/>
          </p:cNvSpPr>
          <p:nvPr/>
        </p:nvSpPr>
        <p:spPr>
          <a:xfrm>
            <a:off x="11430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2" name="Picture 4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2833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break,</a:t>
            </a:r>
            <a:r>
              <a:rPr spc="15" dirty="0"/>
              <a:t> </a:t>
            </a:r>
            <a:r>
              <a:rPr spc="5" dirty="0"/>
              <a:t>continue</a:t>
            </a:r>
            <a:r>
              <a:rPr spc="15" dirty="0"/>
              <a:t> </a:t>
            </a:r>
            <a:r>
              <a:rPr spc="-85" dirty="0"/>
              <a:t>&amp;</a:t>
            </a:r>
            <a:r>
              <a:rPr spc="20" dirty="0"/>
              <a:t> </a:t>
            </a:r>
            <a:r>
              <a:rPr spc="25" dirty="0"/>
              <a:t>pass</a:t>
            </a:r>
            <a:r>
              <a:rPr spc="20" dirty="0"/>
              <a:t> </a:t>
            </a:r>
            <a:r>
              <a:rPr spc="10" dirty="0"/>
              <a:t>keywords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53225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5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lang="en-US" sz="2400" spc="-615" dirty="0">
                <a:solidFill>
                  <a:srgbClr val="B84742"/>
                </a:solidFill>
                <a:latin typeface="Segoe UI Symbol"/>
                <a:cs typeface="Segoe UI Symbol"/>
              </a:rPr>
              <a:t>                   </a:t>
            </a:r>
            <a:r>
              <a:rPr sz="2400" spc="-160">
                <a:solidFill>
                  <a:srgbClr val="212121"/>
                </a:solidFill>
                <a:latin typeface="Roboto"/>
                <a:cs typeface="Roboto"/>
              </a:rPr>
              <a:t>break</a:t>
            </a:r>
            <a:r>
              <a:rPr sz="2400" spc="19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Breaks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out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current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closest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enclosin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loop.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3001310"/>
            <a:ext cx="532130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continu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Goe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cur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ent 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closes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enclosin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loop.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95" y="5155231"/>
            <a:ext cx="533146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 algn="just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27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Pass</a:t>
            </a:r>
            <a:r>
              <a:rPr sz="2400" spc="2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Does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nothing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 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all,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placeholder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conditions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where</a:t>
            </a:r>
            <a:r>
              <a:rPr sz="2400" spc="2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you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do</a:t>
            </a:r>
            <a:r>
              <a:rPr sz="2400" spc="-27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wan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writ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anything.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3606" y="1302321"/>
            <a:ext cx="4605655" cy="1323975"/>
          </a:xfrm>
          <a:custGeom>
            <a:avLst/>
            <a:gdLst/>
            <a:ahLst/>
            <a:cxnLst/>
            <a:rect l="l" t="t" r="r" b="b"/>
            <a:pathLst>
              <a:path w="4605655" h="1323975">
                <a:moveTo>
                  <a:pt x="4605617" y="0"/>
                </a:moveTo>
                <a:lnTo>
                  <a:pt x="0" y="0"/>
                </a:lnTo>
                <a:lnTo>
                  <a:pt x="0" y="1276972"/>
                </a:lnTo>
                <a:lnTo>
                  <a:pt x="0" y="1323441"/>
                </a:lnTo>
                <a:lnTo>
                  <a:pt x="4605617" y="1323441"/>
                </a:lnTo>
                <a:lnTo>
                  <a:pt x="4605617" y="1276972"/>
                </a:lnTo>
                <a:lnTo>
                  <a:pt x="460561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9333" y="1319593"/>
            <a:ext cx="2470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600" spc="-5" dirty="0">
                <a:latin typeface="Consolas"/>
                <a:cs typeface="Consolas"/>
              </a:rPr>
              <a:t>temp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600" spc="-5" dirty="0">
                <a:latin typeface="Consolas"/>
                <a:cs typeface="Consolas"/>
              </a:rPr>
              <a:t>range(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9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6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temp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==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10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R="116839" algn="ctr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5561" y="2294952"/>
            <a:ext cx="12401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print(temp)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3615" y="1302320"/>
            <a:ext cx="500380" cy="132397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03593" y="973137"/>
            <a:ext cx="2699385" cy="329565"/>
          </a:xfrm>
          <a:custGeom>
            <a:avLst/>
            <a:gdLst/>
            <a:ahLst/>
            <a:cxnLst/>
            <a:rect l="l" t="t" r="r" b="b"/>
            <a:pathLst>
              <a:path w="2699384" h="329565">
                <a:moveTo>
                  <a:pt x="2698857" y="329206"/>
                </a:moveTo>
                <a:lnTo>
                  <a:pt x="0" y="329173"/>
                </a:lnTo>
                <a:lnTo>
                  <a:pt x="22" y="54865"/>
                </a:lnTo>
                <a:lnTo>
                  <a:pt x="4334" y="33509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44002" y="0"/>
                </a:lnTo>
                <a:lnTo>
                  <a:pt x="2682798" y="16069"/>
                </a:lnTo>
                <a:lnTo>
                  <a:pt x="2698867" y="54865"/>
                </a:lnTo>
                <a:lnTo>
                  <a:pt x="2698857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75326" y="1003015"/>
            <a:ext cx="11557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breakdemo.py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55935" y="899410"/>
            <a:ext cx="2901315" cy="1686560"/>
            <a:chOff x="8655935" y="899410"/>
            <a:chExt cx="2901315" cy="1686560"/>
          </a:xfrm>
        </p:grpSpPr>
        <p:sp>
          <p:nvSpPr>
            <p:cNvPr id="13" name="object 13"/>
            <p:cNvSpPr/>
            <p:nvPr/>
          </p:nvSpPr>
          <p:spPr>
            <a:xfrm>
              <a:off x="10144134" y="905760"/>
              <a:ext cx="1407160" cy="1673860"/>
            </a:xfrm>
            <a:custGeom>
              <a:avLst/>
              <a:gdLst/>
              <a:ahLst/>
              <a:cxnLst/>
              <a:rect l="l" t="t" r="r" b="b"/>
              <a:pathLst>
                <a:path w="1407159" h="1673860">
                  <a:moveTo>
                    <a:pt x="1406635" y="1673524"/>
                  </a:moveTo>
                  <a:lnTo>
                    <a:pt x="0" y="1673524"/>
                  </a:lnTo>
                  <a:lnTo>
                    <a:pt x="0" y="0"/>
                  </a:lnTo>
                  <a:lnTo>
                    <a:pt x="1406635" y="0"/>
                  </a:lnTo>
                  <a:lnTo>
                    <a:pt x="1406635" y="167352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62285" y="905760"/>
              <a:ext cx="2888615" cy="1673860"/>
            </a:xfrm>
            <a:custGeom>
              <a:avLst/>
              <a:gdLst/>
              <a:ahLst/>
              <a:cxnLst/>
              <a:rect l="l" t="t" r="r" b="b"/>
              <a:pathLst>
                <a:path w="2888615" h="1673860">
                  <a:moveTo>
                    <a:pt x="1481849" y="0"/>
                  </a:moveTo>
                  <a:lnTo>
                    <a:pt x="2888484" y="0"/>
                  </a:lnTo>
                  <a:lnTo>
                    <a:pt x="2888484" y="1673524"/>
                  </a:lnTo>
                  <a:lnTo>
                    <a:pt x="1481849" y="1673524"/>
                  </a:lnTo>
                  <a:lnTo>
                    <a:pt x="1481849" y="0"/>
                  </a:lnTo>
                  <a:close/>
                </a:path>
                <a:path w="2888615" h="1673860">
                  <a:moveTo>
                    <a:pt x="1473239" y="901778"/>
                  </a:moveTo>
                  <a:lnTo>
                    <a:pt x="0" y="799426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50484" y="1309198"/>
            <a:ext cx="14008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03606" y="3355416"/>
            <a:ext cx="4605655" cy="1323975"/>
          </a:xfrm>
          <a:custGeom>
            <a:avLst/>
            <a:gdLst/>
            <a:ahLst/>
            <a:cxnLst/>
            <a:rect l="l" t="t" r="r" b="b"/>
            <a:pathLst>
              <a:path w="4605655" h="1323975">
                <a:moveTo>
                  <a:pt x="4605617" y="0"/>
                </a:moveTo>
                <a:lnTo>
                  <a:pt x="0" y="0"/>
                </a:lnTo>
                <a:lnTo>
                  <a:pt x="0" y="1276959"/>
                </a:lnTo>
                <a:lnTo>
                  <a:pt x="0" y="1323441"/>
                </a:lnTo>
                <a:lnTo>
                  <a:pt x="4605617" y="1323441"/>
                </a:lnTo>
                <a:lnTo>
                  <a:pt x="4605617" y="1276959"/>
                </a:lnTo>
                <a:lnTo>
                  <a:pt x="460561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89333" y="3372680"/>
            <a:ext cx="2470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405" marR="5080" indent="-44704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600" spc="-5" dirty="0">
                <a:latin typeface="Consolas"/>
                <a:cs typeface="Consolas"/>
              </a:rPr>
              <a:t>temp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600" spc="-5" dirty="0">
                <a:latin typeface="Consolas"/>
                <a:cs typeface="Consolas"/>
              </a:rPr>
              <a:t>range(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temp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==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15" dirty="0">
                <a:solidFill>
                  <a:srgbClr val="098658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893444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continue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35561" y="4348039"/>
            <a:ext cx="12401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print(temp)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03615" y="3355407"/>
            <a:ext cx="500380" cy="132397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03593" y="3026224"/>
            <a:ext cx="2699385" cy="329565"/>
          </a:xfrm>
          <a:custGeom>
            <a:avLst/>
            <a:gdLst/>
            <a:ahLst/>
            <a:cxnLst/>
            <a:rect l="l" t="t" r="r" b="b"/>
            <a:pathLst>
              <a:path w="2699384" h="329564">
                <a:moveTo>
                  <a:pt x="2698857" y="329206"/>
                </a:moveTo>
                <a:lnTo>
                  <a:pt x="0" y="329173"/>
                </a:lnTo>
                <a:lnTo>
                  <a:pt x="22" y="54864"/>
                </a:lnTo>
                <a:lnTo>
                  <a:pt x="4334" y="33509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44002" y="0"/>
                </a:lnTo>
                <a:lnTo>
                  <a:pt x="2682798" y="16069"/>
                </a:lnTo>
                <a:lnTo>
                  <a:pt x="2698867" y="54864"/>
                </a:lnTo>
                <a:lnTo>
                  <a:pt x="2698857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50242" y="3056102"/>
            <a:ext cx="14039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continuedemo.py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655935" y="2952496"/>
            <a:ext cx="2901315" cy="1686560"/>
            <a:chOff x="8655935" y="2952496"/>
            <a:chExt cx="2901315" cy="1686560"/>
          </a:xfrm>
        </p:grpSpPr>
        <p:sp>
          <p:nvSpPr>
            <p:cNvPr id="23" name="object 23"/>
            <p:cNvSpPr/>
            <p:nvPr/>
          </p:nvSpPr>
          <p:spPr>
            <a:xfrm>
              <a:off x="10144134" y="2958846"/>
              <a:ext cx="1407160" cy="1673860"/>
            </a:xfrm>
            <a:custGeom>
              <a:avLst/>
              <a:gdLst/>
              <a:ahLst/>
              <a:cxnLst/>
              <a:rect l="l" t="t" r="r" b="b"/>
              <a:pathLst>
                <a:path w="1407159" h="1673860">
                  <a:moveTo>
                    <a:pt x="1406635" y="1673524"/>
                  </a:moveTo>
                  <a:lnTo>
                    <a:pt x="0" y="1673524"/>
                  </a:lnTo>
                  <a:lnTo>
                    <a:pt x="0" y="0"/>
                  </a:lnTo>
                  <a:lnTo>
                    <a:pt x="1406635" y="0"/>
                  </a:lnTo>
                  <a:lnTo>
                    <a:pt x="1406635" y="167352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62285" y="2958846"/>
              <a:ext cx="2888615" cy="1673860"/>
            </a:xfrm>
            <a:custGeom>
              <a:avLst/>
              <a:gdLst/>
              <a:ahLst/>
              <a:cxnLst/>
              <a:rect l="l" t="t" r="r" b="b"/>
              <a:pathLst>
                <a:path w="2888615" h="1673860">
                  <a:moveTo>
                    <a:pt x="1481849" y="0"/>
                  </a:moveTo>
                  <a:lnTo>
                    <a:pt x="2888484" y="0"/>
                  </a:lnTo>
                  <a:lnTo>
                    <a:pt x="2888484" y="1673524"/>
                  </a:lnTo>
                  <a:lnTo>
                    <a:pt x="1481849" y="1673524"/>
                  </a:lnTo>
                  <a:lnTo>
                    <a:pt x="1481849" y="0"/>
                  </a:lnTo>
                  <a:close/>
                </a:path>
                <a:path w="2888615" h="1673860">
                  <a:moveTo>
                    <a:pt x="1473239" y="901778"/>
                  </a:moveTo>
                  <a:lnTo>
                    <a:pt x="0" y="799425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150484" y="2965196"/>
            <a:ext cx="1394460" cy="39052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35255" rIns="0" bIns="0" rtlCol="0">
            <a:spAutoFit/>
          </a:bodyPr>
          <a:lstStyle/>
          <a:p>
            <a:pPr marL="330835">
              <a:lnSpc>
                <a:spcPts val="2005"/>
              </a:lnSpc>
              <a:spcBef>
                <a:spcPts val="1065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50484" y="3362285"/>
            <a:ext cx="14008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03606" y="5296356"/>
            <a:ext cx="4605655" cy="584835"/>
          </a:xfrm>
          <a:custGeom>
            <a:avLst/>
            <a:gdLst/>
            <a:ahLst/>
            <a:cxnLst/>
            <a:rect l="l" t="t" r="r" b="b"/>
            <a:pathLst>
              <a:path w="4605655" h="584835">
                <a:moveTo>
                  <a:pt x="4605617" y="0"/>
                </a:moveTo>
                <a:lnTo>
                  <a:pt x="0" y="0"/>
                </a:lnTo>
                <a:lnTo>
                  <a:pt x="0" y="250418"/>
                </a:lnTo>
                <a:lnTo>
                  <a:pt x="0" y="584771"/>
                </a:lnTo>
                <a:lnTo>
                  <a:pt x="4605617" y="584771"/>
                </a:lnTo>
                <a:lnTo>
                  <a:pt x="4605617" y="250418"/>
                </a:lnTo>
                <a:lnTo>
                  <a:pt x="460561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776633" y="5313623"/>
            <a:ext cx="2482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temp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range(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latin typeface="Consolas"/>
                <a:cs typeface="Consolas"/>
              </a:rPr>
              <a:t>)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3609" y="5557463"/>
            <a:ext cx="46056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pass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03615" y="5296351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03593" y="4967167"/>
            <a:ext cx="2699385" cy="329565"/>
          </a:xfrm>
          <a:custGeom>
            <a:avLst/>
            <a:gdLst/>
            <a:ahLst/>
            <a:cxnLst/>
            <a:rect l="l" t="t" r="r" b="b"/>
            <a:pathLst>
              <a:path w="2699384" h="329564">
                <a:moveTo>
                  <a:pt x="2698857" y="329206"/>
                </a:moveTo>
                <a:lnTo>
                  <a:pt x="0" y="329173"/>
                </a:lnTo>
                <a:lnTo>
                  <a:pt x="22" y="54864"/>
                </a:lnTo>
                <a:lnTo>
                  <a:pt x="4334" y="33508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44002" y="0"/>
                </a:lnTo>
                <a:lnTo>
                  <a:pt x="2682798" y="16069"/>
                </a:lnTo>
                <a:lnTo>
                  <a:pt x="2698867" y="54864"/>
                </a:lnTo>
                <a:lnTo>
                  <a:pt x="2698857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005084" y="4997045"/>
            <a:ext cx="1096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passdemo.py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585847" y="5109114"/>
            <a:ext cx="3612515" cy="555625"/>
            <a:chOff x="8585847" y="5109114"/>
            <a:chExt cx="3612515" cy="555625"/>
          </a:xfrm>
        </p:grpSpPr>
        <p:sp>
          <p:nvSpPr>
            <p:cNvPr id="34" name="object 34"/>
            <p:cNvSpPr/>
            <p:nvPr/>
          </p:nvSpPr>
          <p:spPr>
            <a:xfrm>
              <a:off x="10040615" y="5115464"/>
              <a:ext cx="2151380" cy="431800"/>
            </a:xfrm>
            <a:custGeom>
              <a:avLst/>
              <a:gdLst/>
              <a:ahLst/>
              <a:cxnLst/>
              <a:rect l="l" t="t" r="r" b="b"/>
              <a:pathLst>
                <a:path w="2151379" h="431800">
                  <a:moveTo>
                    <a:pt x="2151383" y="431306"/>
                  </a:moveTo>
                  <a:lnTo>
                    <a:pt x="0" y="431306"/>
                  </a:lnTo>
                  <a:lnTo>
                    <a:pt x="0" y="0"/>
                  </a:lnTo>
                  <a:lnTo>
                    <a:pt x="2151383" y="0"/>
                  </a:lnTo>
                  <a:lnTo>
                    <a:pt x="2151383" y="43130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592197" y="5115464"/>
              <a:ext cx="3599815" cy="542925"/>
            </a:xfrm>
            <a:custGeom>
              <a:avLst/>
              <a:gdLst/>
              <a:ahLst/>
              <a:cxnLst/>
              <a:rect l="l" t="t" r="r" b="b"/>
              <a:pathLst>
                <a:path w="3599815" h="542925">
                  <a:moveTo>
                    <a:pt x="1448417" y="0"/>
                  </a:moveTo>
                  <a:lnTo>
                    <a:pt x="3599801" y="0"/>
                  </a:lnTo>
                  <a:lnTo>
                    <a:pt x="3599801" y="431306"/>
                  </a:lnTo>
                  <a:lnTo>
                    <a:pt x="1448417" y="431306"/>
                  </a:lnTo>
                  <a:lnTo>
                    <a:pt x="1448417" y="0"/>
                  </a:lnTo>
                  <a:close/>
                </a:path>
                <a:path w="3599815" h="542925">
                  <a:moveTo>
                    <a:pt x="1435251" y="232409"/>
                  </a:moveTo>
                  <a:lnTo>
                    <a:pt x="0" y="542458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046965" y="5172113"/>
            <a:ext cx="214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1800" b="1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(nothing)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2582680"/>
            <a:ext cx="12192635" cy="4275455"/>
            <a:chOff x="-101" y="2582680"/>
            <a:chExt cx="12192635" cy="427545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0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3704" y="2582684"/>
              <a:ext cx="8952230" cy="584835"/>
            </a:xfrm>
            <a:custGeom>
              <a:avLst/>
              <a:gdLst/>
              <a:ahLst/>
              <a:cxnLst/>
              <a:rect l="l" t="t" r="r" b="b"/>
              <a:pathLst>
                <a:path w="8952230" h="584835">
                  <a:moveTo>
                    <a:pt x="8952141" y="0"/>
                  </a:moveTo>
                  <a:lnTo>
                    <a:pt x="0" y="0"/>
                  </a:lnTo>
                  <a:lnTo>
                    <a:pt x="0" y="227965"/>
                  </a:lnTo>
                  <a:lnTo>
                    <a:pt x="0" y="584771"/>
                  </a:lnTo>
                  <a:lnTo>
                    <a:pt x="8952141" y="584771"/>
                  </a:lnTo>
                  <a:lnTo>
                    <a:pt x="8952141" y="227965"/>
                  </a:lnTo>
                  <a:lnTo>
                    <a:pt x="895214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213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5" dirty="0"/>
              <a:t> </a:t>
            </a:r>
            <a:r>
              <a:rPr spc="10" dirty="0"/>
              <a:t>in</a:t>
            </a:r>
            <a:r>
              <a:rPr spc="-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40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73695" y="756967"/>
            <a:ext cx="10209530" cy="13944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clean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repeatable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key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part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becoming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effective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programmer.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block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only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runs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called.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deﬁned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def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keyword: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741" y="2599952"/>
            <a:ext cx="4930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function_name()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459105">
              <a:lnSpc>
                <a:spcPct val="100000"/>
              </a:lnSpc>
            </a:pP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#code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execute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called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3705" y="2253496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5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6777" y="2283375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61072" y="2521719"/>
            <a:ext cx="2587625" cy="257810"/>
          </a:xfrm>
          <a:custGeom>
            <a:avLst/>
            <a:gdLst/>
            <a:ahLst/>
            <a:cxnLst/>
            <a:rect l="l" t="t" r="r" b="b"/>
            <a:pathLst>
              <a:path w="2587625" h="257810">
                <a:moveTo>
                  <a:pt x="2587062" y="0"/>
                </a:moveTo>
                <a:lnTo>
                  <a:pt x="0" y="257812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75650" y="2184112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7800" y="3053819"/>
            <a:ext cx="5869940" cy="779145"/>
            <a:chOff x="877800" y="3053819"/>
            <a:chExt cx="5869940" cy="779145"/>
          </a:xfrm>
        </p:grpSpPr>
        <p:sp>
          <p:nvSpPr>
            <p:cNvPr id="21" name="object 21"/>
            <p:cNvSpPr/>
            <p:nvPr/>
          </p:nvSpPr>
          <p:spPr>
            <a:xfrm>
              <a:off x="2245569" y="3199542"/>
              <a:ext cx="4495800" cy="626745"/>
            </a:xfrm>
            <a:custGeom>
              <a:avLst/>
              <a:gdLst/>
              <a:ahLst/>
              <a:cxnLst/>
              <a:rect l="l" t="t" r="r" b="b"/>
              <a:pathLst>
                <a:path w="4495800" h="626745">
                  <a:moveTo>
                    <a:pt x="4495799" y="626532"/>
                  </a:moveTo>
                  <a:lnTo>
                    <a:pt x="0" y="626532"/>
                  </a:lnTo>
                  <a:lnTo>
                    <a:pt x="0" y="0"/>
                  </a:lnTo>
                  <a:lnTo>
                    <a:pt x="4495799" y="0"/>
                  </a:lnTo>
                  <a:lnTo>
                    <a:pt x="4495799" y="62653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4150" y="3060169"/>
              <a:ext cx="5857240" cy="766445"/>
            </a:xfrm>
            <a:custGeom>
              <a:avLst/>
              <a:gdLst/>
              <a:ahLst/>
              <a:cxnLst/>
              <a:rect l="l" t="t" r="r" b="b"/>
              <a:pathLst>
                <a:path w="5857240" h="766445">
                  <a:moveTo>
                    <a:pt x="1361418" y="139372"/>
                  </a:moveTo>
                  <a:lnTo>
                    <a:pt x="5857217" y="139372"/>
                  </a:lnTo>
                  <a:lnTo>
                    <a:pt x="5857217" y="765905"/>
                  </a:lnTo>
                  <a:lnTo>
                    <a:pt x="1361418" y="765905"/>
                  </a:lnTo>
                  <a:lnTo>
                    <a:pt x="1361418" y="139372"/>
                  </a:lnTo>
                  <a:close/>
                </a:path>
                <a:path w="5857240" h="766445">
                  <a:moveTo>
                    <a:pt x="1333903" y="47697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21750" y="3353804"/>
            <a:ext cx="41357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Indentation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(tab/whitespace)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beginning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9192" y="4528598"/>
            <a:ext cx="6149975" cy="2062480"/>
            <a:chOff x="579192" y="4528598"/>
            <a:chExt cx="6149975" cy="2062480"/>
          </a:xfrm>
        </p:grpSpPr>
        <p:sp>
          <p:nvSpPr>
            <p:cNvPr id="25" name="object 25"/>
            <p:cNvSpPr/>
            <p:nvPr/>
          </p:nvSpPr>
          <p:spPr>
            <a:xfrm>
              <a:off x="1079185" y="4528598"/>
              <a:ext cx="5649595" cy="2062480"/>
            </a:xfrm>
            <a:custGeom>
              <a:avLst/>
              <a:gdLst/>
              <a:ahLst/>
              <a:cxnLst/>
              <a:rect l="l" t="t" r="r" b="b"/>
              <a:pathLst>
                <a:path w="5649595" h="2062479">
                  <a:moveTo>
                    <a:pt x="5649417" y="2062103"/>
                  </a:moveTo>
                  <a:lnTo>
                    <a:pt x="0" y="2062103"/>
                  </a:lnTo>
                  <a:lnTo>
                    <a:pt x="0" y="0"/>
                  </a:lnTo>
                  <a:lnTo>
                    <a:pt x="5649417" y="0"/>
                  </a:lnTo>
                  <a:lnTo>
                    <a:pt x="5649417" y="206210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92" y="4528598"/>
              <a:ext cx="500380" cy="2062480"/>
            </a:xfrm>
            <a:custGeom>
              <a:avLst/>
              <a:gdLst/>
              <a:ahLst/>
              <a:cxnLst/>
              <a:rect l="l" t="t" r="r" b="b"/>
              <a:pathLst>
                <a:path w="500380" h="2062479">
                  <a:moveTo>
                    <a:pt x="499992" y="2062103"/>
                  </a:moveTo>
                  <a:lnTo>
                    <a:pt x="0" y="2062103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206210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69067" y="4545870"/>
            <a:ext cx="511175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	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seperator()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741680" algn="l"/>
              </a:tabLst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	</a:t>
            </a: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'=============================='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"hello</a:t>
            </a:r>
            <a:r>
              <a:rPr sz="1600" spc="-4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world"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seperator()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"from</a:t>
            </a:r>
            <a:r>
              <a:rPr sz="1600" spc="-4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darshan</a:t>
            </a:r>
            <a:r>
              <a:rPr sz="1600" spc="-3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college"</a:t>
            </a:r>
            <a:r>
              <a:rPr sz="160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seperator()</a:t>
            </a:r>
            <a:endParaRPr sz="1600">
              <a:latin typeface="Consolas"/>
              <a:cs typeface="Consolas"/>
            </a:endParaRPr>
          </a:p>
          <a:p>
            <a:pPr marL="295275" indent="-28321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295275" algn="l"/>
                <a:tab pos="295910" algn="l"/>
              </a:tabLst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"rajkot"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9178" y="4199414"/>
            <a:ext cx="1681480" cy="329565"/>
          </a:xfrm>
          <a:custGeom>
            <a:avLst/>
            <a:gdLst/>
            <a:ahLst/>
            <a:cxnLst/>
            <a:rect l="l" t="t" r="r" b="b"/>
            <a:pathLst>
              <a:path w="1681480" h="329564">
                <a:moveTo>
                  <a:pt x="1680935" y="329197"/>
                </a:moveTo>
                <a:lnTo>
                  <a:pt x="0" y="329177"/>
                </a:lnTo>
                <a:lnTo>
                  <a:pt x="13" y="54864"/>
                </a:lnTo>
                <a:lnTo>
                  <a:pt x="4325" y="33509"/>
                </a:lnTo>
                <a:lnTo>
                  <a:pt x="16083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626076" y="0"/>
                </a:lnTo>
                <a:lnTo>
                  <a:pt x="1664872" y="16069"/>
                </a:lnTo>
                <a:lnTo>
                  <a:pt x="1680941" y="54864"/>
                </a:lnTo>
                <a:lnTo>
                  <a:pt x="1680935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2285" y="4229293"/>
            <a:ext cx="13741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functiondemo.py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54017" y="3772020"/>
            <a:ext cx="6546850" cy="1999614"/>
            <a:chOff x="5054017" y="3772020"/>
            <a:chExt cx="6546850" cy="1999614"/>
          </a:xfrm>
        </p:grpSpPr>
        <p:sp>
          <p:nvSpPr>
            <p:cNvPr id="31" name="object 31"/>
            <p:cNvSpPr/>
            <p:nvPr/>
          </p:nvSpPr>
          <p:spPr>
            <a:xfrm>
              <a:off x="7228403" y="3778370"/>
              <a:ext cx="4365625" cy="1811655"/>
            </a:xfrm>
            <a:custGeom>
              <a:avLst/>
              <a:gdLst/>
              <a:ahLst/>
              <a:cxnLst/>
              <a:rect l="l" t="t" r="r" b="b"/>
              <a:pathLst>
                <a:path w="4365625" h="1811654">
                  <a:moveTo>
                    <a:pt x="4365496" y="1811547"/>
                  </a:moveTo>
                  <a:lnTo>
                    <a:pt x="0" y="1811547"/>
                  </a:lnTo>
                  <a:lnTo>
                    <a:pt x="0" y="0"/>
                  </a:lnTo>
                  <a:lnTo>
                    <a:pt x="4365496" y="0"/>
                  </a:lnTo>
                  <a:lnTo>
                    <a:pt x="4365496" y="181154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60367" y="3778370"/>
              <a:ext cx="6534150" cy="1986914"/>
            </a:xfrm>
            <a:custGeom>
              <a:avLst/>
              <a:gdLst/>
              <a:ahLst/>
              <a:cxnLst/>
              <a:rect l="l" t="t" r="r" b="b"/>
              <a:pathLst>
                <a:path w="6534150" h="1986914">
                  <a:moveTo>
                    <a:pt x="2168036" y="0"/>
                  </a:moveTo>
                  <a:lnTo>
                    <a:pt x="6533533" y="0"/>
                  </a:lnTo>
                  <a:lnTo>
                    <a:pt x="6533533" y="1811547"/>
                  </a:lnTo>
                  <a:lnTo>
                    <a:pt x="2168036" y="1811547"/>
                  </a:lnTo>
                  <a:lnTo>
                    <a:pt x="2168036" y="0"/>
                  </a:lnTo>
                  <a:close/>
                </a:path>
                <a:path w="6534150" h="1986914">
                  <a:moveTo>
                    <a:pt x="2141320" y="976152"/>
                  </a:moveTo>
                  <a:lnTo>
                    <a:pt x="0" y="1986288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55949" y="3839339"/>
            <a:ext cx="331089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Roboto Cn"/>
                <a:cs typeface="Roboto Cn"/>
              </a:rPr>
              <a:t>Output</a:t>
            </a:r>
            <a:r>
              <a:rPr sz="1800" b="1" spc="-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180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hell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world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==============================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darsha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college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55" dirty="0">
                <a:solidFill>
                  <a:srgbClr val="212121"/>
                </a:solidFill>
                <a:latin typeface="Roboto"/>
                <a:cs typeface="Roboto"/>
              </a:rPr>
              <a:t>==============================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rajkot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8" name="object 6"/>
          <p:cNvSpPr txBox="1">
            <a:spLocks/>
          </p:cNvSpPr>
          <p:nvPr/>
        </p:nvSpPr>
        <p:spPr>
          <a:xfrm>
            <a:off x="1143000" y="66412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" name="Picture 3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1995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</a:t>
            </a:r>
            <a:r>
              <a:rPr spc="5" dirty="0"/>
              <a:t> </a:t>
            </a:r>
            <a:r>
              <a:rPr spc="25" dirty="0"/>
              <a:t>(cont.)</a:t>
            </a:r>
            <a:r>
              <a:rPr spc="10" dirty="0"/>
              <a:t> </a:t>
            </a:r>
            <a:r>
              <a:rPr spc="25" dirty="0"/>
              <a:t>(DOCSTRIGN</a:t>
            </a:r>
            <a:r>
              <a:rPr spc="10" dirty="0"/>
              <a:t> </a:t>
            </a:r>
            <a:r>
              <a:rPr spc="-85" dirty="0"/>
              <a:t>&amp;</a:t>
            </a:r>
            <a:r>
              <a:rPr spc="10" dirty="0"/>
              <a:t> </a:t>
            </a:r>
            <a:r>
              <a:rPr spc="25" dirty="0"/>
              <a:t>return)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xfrm>
            <a:off x="4024040" y="6610834"/>
            <a:ext cx="4138929" cy="23852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95" dirty="0"/>
              <a:t>Python for Data Science (DAKSHAY PRAJAPATI)</a:t>
            </a:r>
            <a:endParaRPr spc="-75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376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Doc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helps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deﬁne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documentation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about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within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itself.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3704" y="1651037"/>
            <a:ext cx="8952230" cy="1816100"/>
          </a:xfrm>
          <a:custGeom>
            <a:avLst/>
            <a:gdLst/>
            <a:ahLst/>
            <a:cxnLst/>
            <a:rect l="l" t="t" r="r" b="b"/>
            <a:pathLst>
              <a:path w="8952230" h="1816100">
                <a:moveTo>
                  <a:pt x="8952141" y="0"/>
                </a:moveTo>
                <a:lnTo>
                  <a:pt x="0" y="0"/>
                </a:lnTo>
                <a:lnTo>
                  <a:pt x="0" y="227965"/>
                </a:lnTo>
                <a:lnTo>
                  <a:pt x="0" y="1815884"/>
                </a:lnTo>
                <a:lnTo>
                  <a:pt x="8952141" y="1815884"/>
                </a:lnTo>
                <a:lnTo>
                  <a:pt x="8952141" y="227965"/>
                </a:lnTo>
                <a:lnTo>
                  <a:pt x="895214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6741" y="1668307"/>
            <a:ext cx="493014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105" marR="2568575" indent="-44704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6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function_name()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'''</a:t>
            </a:r>
            <a:endParaRPr sz="1600">
              <a:latin typeface="Consolas"/>
              <a:cs typeface="Consolas"/>
            </a:endParaRPr>
          </a:p>
          <a:p>
            <a:pPr marL="469900" marR="450215" indent="434975">
              <a:lnSpc>
                <a:spcPct val="100000"/>
              </a:lnSpc>
            </a:pP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DOCSTRING: explains the function </a:t>
            </a:r>
            <a:r>
              <a:rPr sz="1600" spc="-869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INPUT:</a:t>
            </a:r>
            <a:r>
              <a:rPr sz="1600" spc="-1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explains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input</a:t>
            </a:r>
            <a:endParaRPr sz="1600">
              <a:latin typeface="Consolas"/>
              <a:cs typeface="Consolas"/>
            </a:endParaRPr>
          </a:p>
          <a:p>
            <a:pPr marL="458470" marR="1888489" indent="10795">
              <a:lnSpc>
                <a:spcPct val="100000"/>
              </a:lnSpc>
            </a:pP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OUTPUT:</a:t>
            </a:r>
            <a:r>
              <a:rPr sz="1600" spc="-5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explains</a:t>
            </a:r>
            <a:r>
              <a:rPr sz="1600" spc="-5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output </a:t>
            </a:r>
            <a:r>
              <a:rPr sz="1600" spc="-865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'''</a:t>
            </a:r>
            <a:endParaRPr sz="1600">
              <a:latin typeface="Consolas"/>
              <a:cs typeface="Consolas"/>
            </a:endParaRPr>
          </a:p>
          <a:p>
            <a:pPr marL="459105">
              <a:lnSpc>
                <a:spcPct val="100000"/>
              </a:lnSpc>
            </a:pP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#code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execute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sz="16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8000"/>
                </a:solidFill>
                <a:latin typeface="Consolas"/>
                <a:cs typeface="Consolas"/>
              </a:rPr>
              <a:t>called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3705" y="1321851"/>
            <a:ext cx="1286510" cy="329565"/>
          </a:xfrm>
          <a:custGeom>
            <a:avLst/>
            <a:gdLst/>
            <a:ahLst/>
            <a:cxnLst/>
            <a:rect l="l" t="t" r="r" b="b"/>
            <a:pathLst>
              <a:path w="1286510" h="329564">
                <a:moveTo>
                  <a:pt x="1286186" y="329194"/>
                </a:moveTo>
                <a:lnTo>
                  <a:pt x="0" y="329179"/>
                </a:lnTo>
                <a:lnTo>
                  <a:pt x="10" y="54865"/>
                </a:lnTo>
                <a:lnTo>
                  <a:pt x="4322" y="33509"/>
                </a:lnTo>
                <a:lnTo>
                  <a:pt x="16080" y="16069"/>
                </a:lnTo>
                <a:lnTo>
                  <a:pt x="33519" y="4311"/>
                </a:lnTo>
                <a:lnTo>
                  <a:pt x="54875" y="0"/>
                </a:lnTo>
                <a:lnTo>
                  <a:pt x="1231326" y="0"/>
                </a:lnTo>
                <a:lnTo>
                  <a:pt x="1270122" y="16069"/>
                </a:lnTo>
                <a:lnTo>
                  <a:pt x="1286191" y="54865"/>
                </a:lnTo>
                <a:lnTo>
                  <a:pt x="1286186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46777" y="1351730"/>
            <a:ext cx="5607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91049" y="1590074"/>
            <a:ext cx="4157345" cy="465455"/>
          </a:xfrm>
          <a:custGeom>
            <a:avLst/>
            <a:gdLst/>
            <a:ahLst/>
            <a:cxnLst/>
            <a:rect l="l" t="t" r="r" b="b"/>
            <a:pathLst>
              <a:path w="4157345" h="465455">
                <a:moveTo>
                  <a:pt x="4157086" y="0"/>
                </a:moveTo>
                <a:lnTo>
                  <a:pt x="0" y="464843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75650" y="1252466"/>
            <a:ext cx="4495800" cy="626745"/>
          </a:xfrm>
          <a:prstGeom prst="rect">
            <a:avLst/>
          </a:prstGeom>
          <a:solidFill>
            <a:srgbClr val="D8D8D8"/>
          </a:solidFill>
          <a:ln w="12699">
            <a:solidFill>
              <a:srgbClr val="FFC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Enclose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withi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0" dirty="0">
                <a:solidFill>
                  <a:srgbClr val="212121"/>
                </a:solidFill>
                <a:latin typeface="Roboto"/>
                <a:cs typeface="Roboto"/>
              </a:rPr>
              <a:t>tripl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quotes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9185" y="4661601"/>
            <a:ext cx="4881880" cy="1816100"/>
          </a:xfrm>
          <a:custGeom>
            <a:avLst/>
            <a:gdLst/>
            <a:ahLst/>
            <a:cxnLst/>
            <a:rect l="l" t="t" r="r" b="b"/>
            <a:pathLst>
              <a:path w="4881880" h="1816100">
                <a:moveTo>
                  <a:pt x="4881666" y="1815881"/>
                </a:moveTo>
                <a:lnTo>
                  <a:pt x="0" y="1815881"/>
                </a:lnTo>
                <a:lnTo>
                  <a:pt x="0" y="0"/>
                </a:lnTo>
                <a:lnTo>
                  <a:pt x="4881666" y="0"/>
                </a:lnTo>
                <a:lnTo>
                  <a:pt x="4881666" y="181588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9192" y="4661601"/>
            <a:ext cx="500380" cy="1816100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178" y="4332418"/>
            <a:ext cx="1681480" cy="329565"/>
          </a:xfrm>
          <a:custGeom>
            <a:avLst/>
            <a:gdLst/>
            <a:ahLst/>
            <a:cxnLst/>
            <a:rect l="l" t="t" r="r" b="b"/>
            <a:pathLst>
              <a:path w="1681480" h="329564">
                <a:moveTo>
                  <a:pt x="1680935" y="329197"/>
                </a:moveTo>
                <a:lnTo>
                  <a:pt x="0" y="329177"/>
                </a:lnTo>
                <a:lnTo>
                  <a:pt x="13" y="54865"/>
                </a:lnTo>
                <a:lnTo>
                  <a:pt x="4325" y="33509"/>
                </a:lnTo>
                <a:lnTo>
                  <a:pt x="16083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626076" y="0"/>
                </a:lnTo>
                <a:lnTo>
                  <a:pt x="1664872" y="16069"/>
                </a:lnTo>
                <a:lnTo>
                  <a:pt x="1680941" y="54865"/>
                </a:lnTo>
                <a:lnTo>
                  <a:pt x="1680935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3694" y="3584495"/>
            <a:ext cx="12018306" cy="104451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lang="en-US"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                </a:t>
            </a:r>
            <a:r>
              <a:rPr sz="2400" b="1" spc="15">
                <a:solidFill>
                  <a:srgbClr val="212121"/>
                </a:solidFill>
                <a:latin typeface="Roboto Cn"/>
                <a:cs typeface="Roboto Cn"/>
              </a:rPr>
              <a:t>return</a:t>
            </a:r>
            <a:r>
              <a:rPr sz="2400" b="1" spc="55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statement</a:t>
            </a:r>
            <a:r>
              <a:rPr sz="2400" b="1" spc="7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allows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assign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output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variable,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send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back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result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function,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instead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just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printing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out.</a:t>
            </a:r>
            <a:endParaRPr sz="2400">
              <a:latin typeface="Roboto"/>
              <a:cs typeface="Roboto"/>
            </a:endParaRPr>
          </a:p>
          <a:p>
            <a:pPr marL="692785">
              <a:lnSpc>
                <a:spcPct val="100000"/>
              </a:lnSpc>
              <a:spcBef>
                <a:spcPts val="62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whiledemo.py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72835" y="4661601"/>
          <a:ext cx="5149214" cy="207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2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91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863">
                <a:tc>
                  <a:txBody>
                    <a:bodyPr/>
                    <a:lstStyle/>
                    <a:p>
                      <a:pPr marL="85725">
                        <a:lnSpc>
                          <a:spcPts val="100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sz="1600" spc="-3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add_number(n1,n2)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: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C000"/>
                      </a:solidFill>
                      <a:prstDash val="solid"/>
                    </a:lnL>
                    <a:lnT w="12700">
                      <a:solidFill>
                        <a:srgbClr val="FFC000"/>
                      </a:solidFill>
                      <a:prstDash val="solid"/>
                    </a:lnT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57">
                <a:tc>
                  <a:txBody>
                    <a:bodyPr/>
                    <a:lstStyle/>
                    <a:p>
                      <a:pPr marL="532130">
                        <a:lnSpc>
                          <a:spcPts val="1670"/>
                        </a:lnSpc>
                      </a:pPr>
                      <a:r>
                        <a:rPr sz="16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6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n1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n2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5430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Output</a:t>
                      </a:r>
                      <a:r>
                        <a:rPr sz="1800" b="1" spc="-3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: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C000"/>
                      </a:solidFill>
                      <a:prstDash val="solid"/>
                    </a:lnL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88">
                <a:tc>
                  <a:txBody>
                    <a:bodyPr/>
                    <a:lstStyle/>
                    <a:p>
                      <a:pPr marL="85725">
                        <a:lnSpc>
                          <a:spcPts val="191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sum1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add_number(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,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2860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 algn="ctr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FFC000"/>
                      </a:solidFill>
                      <a:prstDash val="solid"/>
                    </a:lnL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marL="85725">
                        <a:lnSpc>
                          <a:spcPts val="183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sum2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add_number(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,</a:t>
                      </a:r>
                      <a:r>
                        <a:rPr sz="16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 algn="ctr">
                        <a:lnSpc>
                          <a:spcPts val="202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FFC000"/>
                      </a:solidFill>
                      <a:prstDash val="solid"/>
                    </a:lnL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43">
                <a:tc>
                  <a:txBody>
                    <a:bodyPr/>
                    <a:lstStyle/>
                    <a:p>
                      <a:pPr marL="85725">
                        <a:lnSpc>
                          <a:spcPts val="1575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print(sum1)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C000"/>
                      </a:solidFill>
                      <a:prstDash val="solid"/>
                    </a:lnL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726">
                <a:tc gridSpan="2">
                  <a:txBody>
                    <a:bodyPr/>
                    <a:lstStyle/>
                    <a:p>
                      <a:pPr marL="85725">
                        <a:lnSpc>
                          <a:spcPts val="111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print(sum2)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C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2537526" y="5589440"/>
            <a:ext cx="2275840" cy="586105"/>
          </a:xfrm>
          <a:custGeom>
            <a:avLst/>
            <a:gdLst/>
            <a:ahLst/>
            <a:cxnLst/>
            <a:rect l="l" t="t" r="r" b="b"/>
            <a:pathLst>
              <a:path w="2275840" h="586104">
                <a:moveTo>
                  <a:pt x="2275501" y="0"/>
                </a:moveTo>
                <a:lnTo>
                  <a:pt x="0" y="585564"/>
                </a:lnTo>
              </a:path>
            </a:pathLst>
          </a:custGeom>
          <a:ln w="1269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"/>
          <p:cNvSpPr txBox="1">
            <a:spLocks/>
          </p:cNvSpPr>
          <p:nvPr/>
        </p:nvSpPr>
        <p:spPr>
          <a:xfrm>
            <a:off x="1143000" y="6641274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ANTRIX COMPUTER ACADEMY</a:t>
            </a:r>
            <a:endParaRPr kumimoji="0" lang="en-US" sz="1400" b="0" i="0" u="none" strike="noStrike" kern="1200" cap="none" spc="-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2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5910</Words>
  <Application>Microsoft Office PowerPoint</Application>
  <PresentationFormat>Widescreen</PresentationFormat>
  <Paragraphs>1020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MS PGothic</vt:lpstr>
      <vt:lpstr>Bookman Old Style</vt:lpstr>
      <vt:lpstr>Consolas</vt:lpstr>
      <vt:lpstr>Gill Sans MT</vt:lpstr>
      <vt:lpstr>Nirmala UI</vt:lpstr>
      <vt:lpstr>Roboto</vt:lpstr>
      <vt:lpstr>Roboto Cn</vt:lpstr>
      <vt:lpstr>Roboto Lt</vt:lpstr>
      <vt:lpstr>Segoe UI Symbol</vt:lpstr>
      <vt:lpstr>Times New Roman</vt:lpstr>
      <vt:lpstr>Wingdings</vt:lpstr>
      <vt:lpstr>Wingdings 3</vt:lpstr>
      <vt:lpstr>Origin</vt:lpstr>
      <vt:lpstr>Unit-01 Overview of Python  and Data Structure</vt:lpstr>
      <vt:lpstr>PowerPoint Presentation</vt:lpstr>
      <vt:lpstr>Introduction to Python</vt:lpstr>
      <vt:lpstr>Why Python?</vt:lpstr>
      <vt:lpstr>Installing Python</vt:lpstr>
      <vt:lpstr>Hello World using Python</vt:lpstr>
      <vt:lpstr>Data types in Python</vt:lpstr>
      <vt:lpstr>Variables in Python</vt:lpstr>
      <vt:lpstr>Example of Python variable</vt:lpstr>
      <vt:lpstr>String in python</vt:lpstr>
      <vt:lpstr>String functions in python</vt:lpstr>
      <vt:lpstr>String methods (cont.)</vt:lpstr>
      <vt:lpstr>String methods (cont.)</vt:lpstr>
      <vt:lpstr>String methods (cont.)</vt:lpstr>
      <vt:lpstr>String methods (cont.)</vt:lpstr>
      <vt:lpstr>String methods (cont.)</vt:lpstr>
      <vt:lpstr>String Slicing</vt:lpstr>
      <vt:lpstr>String print format</vt:lpstr>
      <vt:lpstr>String print format (cont.)</vt:lpstr>
      <vt:lpstr>Data structures in python</vt:lpstr>
      <vt:lpstr>List</vt:lpstr>
      <vt:lpstr>List methods</vt:lpstr>
      <vt:lpstr>List methods (cont.)</vt:lpstr>
      <vt:lpstr>List methods (cont.)</vt:lpstr>
      <vt:lpstr>Tuple</vt:lpstr>
      <vt:lpstr>Dictionary</vt:lpstr>
      <vt:lpstr>Dictionary methods</vt:lpstr>
      <vt:lpstr>Set</vt:lpstr>
      <vt:lpstr>Operators in python</vt:lpstr>
      <vt:lpstr>Arithmetic Operators</vt:lpstr>
      <vt:lpstr>Logical Operators</vt:lpstr>
      <vt:lpstr>Identity &amp; Member Operators</vt:lpstr>
      <vt:lpstr>If statement</vt:lpstr>
      <vt:lpstr>If else statement</vt:lpstr>
      <vt:lpstr>If, elif and else statement</vt:lpstr>
      <vt:lpstr>For loop in python</vt:lpstr>
      <vt:lpstr>For loop (tuple unpacking)</vt:lpstr>
      <vt:lpstr>While loop</vt:lpstr>
      <vt:lpstr>break, continue &amp; pass keywords</vt:lpstr>
      <vt:lpstr>Functions in python</vt:lpstr>
      <vt:lpstr>Function (cont.) (DOCSTRIGN &amp; return)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3150713_Python_GTU_Study_Material_Presentations_Unit-1_26062020080547AM.pptx</dc:title>
  <cp:lastModifiedBy>dhrumil3103@outlook.com</cp:lastModifiedBy>
  <cp:revision>13</cp:revision>
  <dcterms:created xsi:type="dcterms:W3CDTF">2023-07-24T07:35:14Z</dcterms:created>
  <dcterms:modified xsi:type="dcterms:W3CDTF">2026-05-26T10:42:55Z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