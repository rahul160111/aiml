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5520" autoAdjust="0"/>
  </p:normalViewPr>
  <p:slideViewPr>
    <p:cSldViewPr>
      <p:cViewPr varScale="1">
        <p:scale>
          <a:sx n="85" d="100"/>
          <a:sy n="85" d="100"/>
        </p:scale>
        <p:origin x="638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34175" y="1629118"/>
            <a:ext cx="5314950" cy="440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4003" y="0"/>
            <a:ext cx="1777996" cy="299180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01568"/>
            <a:ext cx="543945" cy="77215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5905331"/>
            <a:ext cx="1901825" cy="953135"/>
          </a:xfrm>
          <a:custGeom>
            <a:avLst/>
            <a:gdLst/>
            <a:ahLst/>
            <a:cxnLst/>
            <a:rect l="l" t="t" r="r" b="b"/>
            <a:pathLst>
              <a:path w="1901825" h="953134">
                <a:moveTo>
                  <a:pt x="1901424" y="952667"/>
                </a:moveTo>
                <a:lnTo>
                  <a:pt x="0" y="952667"/>
                </a:lnTo>
                <a:lnTo>
                  <a:pt x="0" y="0"/>
                </a:lnTo>
                <a:lnTo>
                  <a:pt x="54274" y="4477"/>
                </a:lnTo>
                <a:lnTo>
                  <a:pt x="108156" y="9724"/>
                </a:lnTo>
                <a:lnTo>
                  <a:pt x="161634" y="15738"/>
                </a:lnTo>
                <a:lnTo>
                  <a:pt x="214698" y="22519"/>
                </a:lnTo>
                <a:lnTo>
                  <a:pt x="267336" y="30066"/>
                </a:lnTo>
                <a:lnTo>
                  <a:pt x="319539" y="38380"/>
                </a:lnTo>
                <a:lnTo>
                  <a:pt x="371295" y="47458"/>
                </a:lnTo>
                <a:lnTo>
                  <a:pt x="422594" y="57301"/>
                </a:lnTo>
                <a:lnTo>
                  <a:pt x="473425" y="67907"/>
                </a:lnTo>
                <a:lnTo>
                  <a:pt x="523777" y="79276"/>
                </a:lnTo>
                <a:lnTo>
                  <a:pt x="573640" y="91408"/>
                </a:lnTo>
                <a:lnTo>
                  <a:pt x="623002" y="104301"/>
                </a:lnTo>
                <a:lnTo>
                  <a:pt x="671854" y="117956"/>
                </a:lnTo>
                <a:lnTo>
                  <a:pt x="720185" y="132370"/>
                </a:lnTo>
                <a:lnTo>
                  <a:pt x="767983" y="147544"/>
                </a:lnTo>
                <a:lnTo>
                  <a:pt x="815239" y="163478"/>
                </a:lnTo>
                <a:lnTo>
                  <a:pt x="861941" y="180169"/>
                </a:lnTo>
                <a:lnTo>
                  <a:pt x="908078" y="197619"/>
                </a:lnTo>
                <a:lnTo>
                  <a:pt x="953641" y="215825"/>
                </a:lnTo>
                <a:lnTo>
                  <a:pt x="998618" y="234787"/>
                </a:lnTo>
                <a:lnTo>
                  <a:pt x="1042999" y="254505"/>
                </a:lnTo>
                <a:lnTo>
                  <a:pt x="1086773" y="274978"/>
                </a:lnTo>
                <a:lnTo>
                  <a:pt x="1129929" y="296205"/>
                </a:lnTo>
                <a:lnTo>
                  <a:pt x="1172457" y="318186"/>
                </a:lnTo>
                <a:lnTo>
                  <a:pt x="1214345" y="340920"/>
                </a:lnTo>
                <a:lnTo>
                  <a:pt x="1255584" y="364406"/>
                </a:lnTo>
                <a:lnTo>
                  <a:pt x="1296162" y="388643"/>
                </a:lnTo>
                <a:lnTo>
                  <a:pt x="1336069" y="413632"/>
                </a:lnTo>
                <a:lnTo>
                  <a:pt x="1375294" y="439370"/>
                </a:lnTo>
                <a:lnTo>
                  <a:pt x="1413827" y="465858"/>
                </a:lnTo>
                <a:lnTo>
                  <a:pt x="1451656" y="493096"/>
                </a:lnTo>
                <a:lnTo>
                  <a:pt x="1488771" y="521081"/>
                </a:lnTo>
                <a:lnTo>
                  <a:pt x="1525161" y="549813"/>
                </a:lnTo>
                <a:lnTo>
                  <a:pt x="1560816" y="579293"/>
                </a:lnTo>
                <a:lnTo>
                  <a:pt x="1595725" y="609519"/>
                </a:lnTo>
                <a:lnTo>
                  <a:pt x="1629877" y="640490"/>
                </a:lnTo>
                <a:lnTo>
                  <a:pt x="1663262" y="672206"/>
                </a:lnTo>
                <a:lnTo>
                  <a:pt x="1695868" y="704666"/>
                </a:lnTo>
                <a:lnTo>
                  <a:pt x="1727686" y="737870"/>
                </a:lnTo>
                <a:lnTo>
                  <a:pt x="1758704" y="771817"/>
                </a:lnTo>
                <a:lnTo>
                  <a:pt x="1788911" y="806505"/>
                </a:lnTo>
                <a:lnTo>
                  <a:pt x="1818298" y="841935"/>
                </a:lnTo>
                <a:lnTo>
                  <a:pt x="1846853" y="878106"/>
                </a:lnTo>
                <a:lnTo>
                  <a:pt x="1874565" y="915017"/>
                </a:lnTo>
                <a:lnTo>
                  <a:pt x="1901424" y="952667"/>
                </a:lnTo>
                <a:close/>
              </a:path>
            </a:pathLst>
          </a:custGeom>
          <a:solidFill>
            <a:srgbClr val="F6C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7223" y="6087939"/>
            <a:ext cx="2554142" cy="58745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437224" y="6087938"/>
            <a:ext cx="2554605" cy="588010"/>
          </a:xfrm>
          <a:custGeom>
            <a:avLst/>
            <a:gdLst/>
            <a:ahLst/>
            <a:cxnLst/>
            <a:rect l="l" t="t" r="r" b="b"/>
            <a:pathLst>
              <a:path w="2554604" h="588009">
                <a:moveTo>
                  <a:pt x="2554141" y="587453"/>
                </a:moveTo>
                <a:lnTo>
                  <a:pt x="0" y="587453"/>
                </a:lnTo>
                <a:lnTo>
                  <a:pt x="0" y="0"/>
                </a:lnTo>
                <a:lnTo>
                  <a:pt x="2554141" y="0"/>
                </a:lnTo>
                <a:lnTo>
                  <a:pt x="2554141" y="587453"/>
                </a:lnTo>
                <a:close/>
              </a:path>
            </a:pathLst>
          </a:custGeom>
          <a:solidFill>
            <a:srgbClr val="FFFFFF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91445" y="106"/>
            <a:ext cx="0" cy="683260"/>
          </a:xfrm>
          <a:custGeom>
            <a:avLst/>
            <a:gdLst/>
            <a:ahLst/>
            <a:cxnLst/>
            <a:rect l="l" t="t" r="r" b="b"/>
            <a:pathLst>
              <a:path h="683260">
                <a:moveTo>
                  <a:pt x="0" y="0"/>
                </a:moveTo>
                <a:lnTo>
                  <a:pt x="0" y="682799"/>
                </a:lnTo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91445" y="5063613"/>
            <a:ext cx="0" cy="1794510"/>
          </a:xfrm>
          <a:custGeom>
            <a:avLst/>
            <a:gdLst/>
            <a:ahLst/>
            <a:cxnLst/>
            <a:rect l="l" t="t" r="r" b="b"/>
            <a:pathLst>
              <a:path h="1794509">
                <a:moveTo>
                  <a:pt x="0" y="0"/>
                </a:moveTo>
                <a:lnTo>
                  <a:pt x="0" y="1794386"/>
                </a:lnTo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54165" y="682905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237280" y="474561"/>
                </a:moveTo>
                <a:lnTo>
                  <a:pt x="189460" y="469741"/>
                </a:lnTo>
                <a:lnTo>
                  <a:pt x="144920" y="455915"/>
                </a:lnTo>
                <a:lnTo>
                  <a:pt x="104614" y="434038"/>
                </a:lnTo>
                <a:lnTo>
                  <a:pt x="69497" y="405064"/>
                </a:lnTo>
                <a:lnTo>
                  <a:pt x="40523" y="369947"/>
                </a:lnTo>
                <a:lnTo>
                  <a:pt x="18646" y="329641"/>
                </a:lnTo>
                <a:lnTo>
                  <a:pt x="4820" y="285101"/>
                </a:lnTo>
                <a:lnTo>
                  <a:pt x="0" y="237280"/>
                </a:lnTo>
                <a:lnTo>
                  <a:pt x="4820" y="189460"/>
                </a:lnTo>
                <a:lnTo>
                  <a:pt x="18646" y="144920"/>
                </a:lnTo>
                <a:lnTo>
                  <a:pt x="40523" y="104614"/>
                </a:lnTo>
                <a:lnTo>
                  <a:pt x="69497" y="69497"/>
                </a:lnTo>
                <a:lnTo>
                  <a:pt x="104614" y="40523"/>
                </a:lnTo>
                <a:lnTo>
                  <a:pt x="144920" y="18646"/>
                </a:lnTo>
                <a:lnTo>
                  <a:pt x="189460" y="4820"/>
                </a:lnTo>
                <a:lnTo>
                  <a:pt x="237280" y="0"/>
                </a:lnTo>
                <a:lnTo>
                  <a:pt x="283788" y="4601"/>
                </a:lnTo>
                <a:lnTo>
                  <a:pt x="328084" y="18061"/>
                </a:lnTo>
                <a:lnTo>
                  <a:pt x="368924" y="39865"/>
                </a:lnTo>
                <a:lnTo>
                  <a:pt x="405063" y="69497"/>
                </a:lnTo>
                <a:lnTo>
                  <a:pt x="434696" y="105637"/>
                </a:lnTo>
                <a:lnTo>
                  <a:pt x="456500" y="146477"/>
                </a:lnTo>
                <a:lnTo>
                  <a:pt x="469960" y="190773"/>
                </a:lnTo>
                <a:lnTo>
                  <a:pt x="474561" y="237280"/>
                </a:lnTo>
                <a:lnTo>
                  <a:pt x="469741" y="285101"/>
                </a:lnTo>
                <a:lnTo>
                  <a:pt x="455915" y="329641"/>
                </a:lnTo>
                <a:lnTo>
                  <a:pt x="434038" y="369947"/>
                </a:lnTo>
                <a:lnTo>
                  <a:pt x="405064" y="405064"/>
                </a:lnTo>
                <a:lnTo>
                  <a:pt x="369947" y="434038"/>
                </a:lnTo>
                <a:lnTo>
                  <a:pt x="329641" y="455915"/>
                </a:lnTo>
                <a:lnTo>
                  <a:pt x="285101" y="469741"/>
                </a:lnTo>
                <a:lnTo>
                  <a:pt x="237280" y="474561"/>
                </a:lnTo>
                <a:close/>
              </a:path>
            </a:pathLst>
          </a:custGeom>
          <a:solidFill>
            <a:srgbClr val="8BC1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954165" y="682905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0" y="237280"/>
                </a:moveTo>
                <a:lnTo>
                  <a:pt x="4820" y="189460"/>
                </a:lnTo>
                <a:lnTo>
                  <a:pt x="18646" y="144920"/>
                </a:lnTo>
                <a:lnTo>
                  <a:pt x="40523" y="104614"/>
                </a:lnTo>
                <a:lnTo>
                  <a:pt x="69497" y="69497"/>
                </a:lnTo>
                <a:lnTo>
                  <a:pt x="104614" y="40523"/>
                </a:lnTo>
                <a:lnTo>
                  <a:pt x="144920" y="18646"/>
                </a:lnTo>
                <a:lnTo>
                  <a:pt x="189460" y="4820"/>
                </a:lnTo>
                <a:lnTo>
                  <a:pt x="237280" y="0"/>
                </a:lnTo>
                <a:lnTo>
                  <a:pt x="283788" y="4601"/>
                </a:lnTo>
                <a:lnTo>
                  <a:pt x="328084" y="18061"/>
                </a:lnTo>
                <a:lnTo>
                  <a:pt x="368924" y="39865"/>
                </a:lnTo>
                <a:lnTo>
                  <a:pt x="405063" y="69497"/>
                </a:lnTo>
                <a:lnTo>
                  <a:pt x="434696" y="105637"/>
                </a:lnTo>
                <a:lnTo>
                  <a:pt x="456500" y="146477"/>
                </a:lnTo>
                <a:lnTo>
                  <a:pt x="469960" y="190773"/>
                </a:lnTo>
                <a:lnTo>
                  <a:pt x="474561" y="237280"/>
                </a:lnTo>
                <a:lnTo>
                  <a:pt x="469741" y="285101"/>
                </a:lnTo>
                <a:lnTo>
                  <a:pt x="455915" y="329641"/>
                </a:lnTo>
                <a:lnTo>
                  <a:pt x="434038" y="369947"/>
                </a:lnTo>
                <a:lnTo>
                  <a:pt x="405064" y="405064"/>
                </a:lnTo>
                <a:lnTo>
                  <a:pt x="369947" y="434038"/>
                </a:lnTo>
                <a:lnTo>
                  <a:pt x="329641" y="455915"/>
                </a:lnTo>
                <a:lnTo>
                  <a:pt x="285101" y="469741"/>
                </a:lnTo>
                <a:lnTo>
                  <a:pt x="237280" y="474561"/>
                </a:lnTo>
                <a:lnTo>
                  <a:pt x="189460" y="469741"/>
                </a:lnTo>
                <a:lnTo>
                  <a:pt x="144920" y="455915"/>
                </a:lnTo>
                <a:lnTo>
                  <a:pt x="104614" y="434038"/>
                </a:lnTo>
                <a:lnTo>
                  <a:pt x="69497" y="405064"/>
                </a:lnTo>
                <a:lnTo>
                  <a:pt x="40523" y="369947"/>
                </a:lnTo>
                <a:lnTo>
                  <a:pt x="18646" y="329641"/>
                </a:lnTo>
                <a:lnTo>
                  <a:pt x="4820" y="285101"/>
                </a:lnTo>
                <a:lnTo>
                  <a:pt x="0" y="237280"/>
                </a:lnTo>
                <a:close/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91446" y="1157468"/>
            <a:ext cx="0" cy="2465705"/>
          </a:xfrm>
          <a:custGeom>
            <a:avLst/>
            <a:gdLst/>
            <a:ahLst/>
            <a:cxnLst/>
            <a:rect l="l" t="t" r="r" b="b"/>
            <a:pathLst>
              <a:path h="2465704">
                <a:moveTo>
                  <a:pt x="0" y="0"/>
                </a:moveTo>
                <a:lnTo>
                  <a:pt x="0" y="2465408"/>
                </a:lnTo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76895" y="5890392"/>
            <a:ext cx="2554141" cy="58745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576895" y="5890392"/>
            <a:ext cx="2554605" cy="588010"/>
          </a:xfrm>
          <a:custGeom>
            <a:avLst/>
            <a:gdLst/>
            <a:ahLst/>
            <a:cxnLst/>
            <a:rect l="l" t="t" r="r" b="b"/>
            <a:pathLst>
              <a:path w="2554604" h="588010">
                <a:moveTo>
                  <a:pt x="2554142" y="587453"/>
                </a:moveTo>
                <a:lnTo>
                  <a:pt x="0" y="587453"/>
                </a:lnTo>
                <a:lnTo>
                  <a:pt x="0" y="0"/>
                </a:lnTo>
                <a:lnTo>
                  <a:pt x="2554142" y="0"/>
                </a:lnTo>
                <a:lnTo>
                  <a:pt x="2554142" y="587453"/>
                </a:lnTo>
                <a:close/>
              </a:path>
            </a:pathLst>
          </a:custGeom>
          <a:solidFill>
            <a:srgbClr val="FFFFFF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101" y="6603898"/>
            <a:ext cx="12192635" cy="254635"/>
          </a:xfrm>
          <a:custGeom>
            <a:avLst/>
            <a:gdLst/>
            <a:ahLst/>
            <a:cxnLst/>
            <a:rect l="l" t="t" r="r" b="b"/>
            <a:pathLst>
              <a:path w="12192635" h="254634">
                <a:moveTo>
                  <a:pt x="101" y="101"/>
                </a:moveTo>
                <a:lnTo>
                  <a:pt x="12192099" y="101"/>
                </a:lnTo>
                <a:lnTo>
                  <a:pt x="12192099" y="254101"/>
                </a:lnTo>
                <a:lnTo>
                  <a:pt x="101" y="254101"/>
                </a:lnTo>
                <a:lnTo>
                  <a:pt x="101" y="101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599901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0" y="0"/>
                </a:moveTo>
                <a:lnTo>
                  <a:pt x="12191999" y="0"/>
                </a:lnTo>
                <a:lnTo>
                  <a:pt x="12191999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BEBEBE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1999" cy="711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704851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0" y="0"/>
                </a:moveTo>
                <a:lnTo>
                  <a:pt x="12191999" y="0"/>
                </a:lnTo>
                <a:lnTo>
                  <a:pt x="12191999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"/>
            <a:ext cx="12192000" cy="711200"/>
          </a:xfrm>
          <a:custGeom>
            <a:avLst/>
            <a:gdLst/>
            <a:ahLst/>
            <a:cxnLst/>
            <a:rect l="l" t="t" r="r" b="b"/>
            <a:pathLst>
              <a:path w="12192000" h="711200">
                <a:moveTo>
                  <a:pt x="12191999" y="711199"/>
                </a:moveTo>
                <a:lnTo>
                  <a:pt x="0" y="711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1199"/>
                </a:lnTo>
                <a:close/>
              </a:path>
            </a:pathLst>
          </a:custGeom>
          <a:solidFill>
            <a:srgbClr val="C0C0C0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850" y="33833"/>
            <a:ext cx="1179829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2641" y="1960454"/>
            <a:ext cx="5240655" cy="341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1225" y="6632340"/>
            <a:ext cx="107823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63636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5789" y="6632340"/>
            <a:ext cx="230504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63636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hyperlink" Target="mailto:antrixcomputer@gmail.com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hyperlink" Target="mailto:antrixcomputer@gmail.com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hyperlink" Target="mailto:antrixcomputer@gmail.com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ilto:d@d.com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rshan.ac.in/DIET/CE/Faculty')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05330"/>
              <a:ext cx="1901424" cy="9526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4514" y="1"/>
              <a:ext cx="5255701" cy="9917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334" y="4602222"/>
              <a:ext cx="3383665" cy="2255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26694" y="6124097"/>
              <a:ext cx="4356100" cy="0"/>
            </a:xfrm>
            <a:custGeom>
              <a:avLst/>
              <a:gdLst/>
              <a:ahLst/>
              <a:cxnLst/>
              <a:rect l="l" t="t" r="r" b="b"/>
              <a:pathLst>
                <a:path w="4356100">
                  <a:moveTo>
                    <a:pt x="0" y="0"/>
                  </a:moveTo>
                  <a:lnTo>
                    <a:pt x="4356000" y="0"/>
                  </a:lnTo>
                </a:path>
              </a:pathLst>
            </a:custGeom>
            <a:ln w="95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8063" y="6232297"/>
              <a:ext cx="182879" cy="182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8063" y="6505319"/>
              <a:ext cx="182879" cy="1828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7" y="837716"/>
              <a:ext cx="1087892" cy="7721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3568" y="5211250"/>
              <a:ext cx="1353599" cy="1353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25597" y="2015064"/>
              <a:ext cx="3758417" cy="18795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10700" y="5251139"/>
            <a:ext cx="4871099" cy="179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15" dirty="0">
                <a:solidFill>
                  <a:srgbClr val="BB770B"/>
                </a:solidFill>
                <a:latin typeface="Roboto Cn"/>
                <a:cs typeface="Roboto Cn"/>
              </a:rPr>
              <a:t>ANTRIX COMPUTER ACADEMY</a:t>
            </a:r>
            <a:endParaRPr sz="1800"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US" sz="1600" spc="-120" dirty="0">
                <a:solidFill>
                  <a:srgbClr val="212121"/>
                </a:solidFill>
                <a:latin typeface="Roboto"/>
                <a:cs typeface="Roboto"/>
              </a:rPr>
              <a:t>DAKSHAY PRAJAPATI</a:t>
            </a:r>
            <a:endParaRPr lang="en-US" sz="16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600" spc="-130" dirty="0" err="1">
                <a:solidFill>
                  <a:srgbClr val="212121"/>
                </a:solidFill>
                <a:latin typeface="Roboto"/>
                <a:cs typeface="Roboto"/>
              </a:rPr>
              <a:t>Vastrapur</a:t>
            </a:r>
            <a:r>
              <a:rPr lang="en-US" sz="1600" spc="-130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lang="en-US" sz="1600" spc="-130" dirty="0" err="1">
                <a:solidFill>
                  <a:srgbClr val="212121"/>
                </a:solidFill>
                <a:latin typeface="Roboto"/>
                <a:cs typeface="Roboto"/>
              </a:rPr>
              <a:t>Ahmedabad</a:t>
            </a:r>
            <a:endParaRPr lang="en-US" sz="1600" dirty="0">
              <a:latin typeface="Roboto"/>
              <a:cs typeface="Roboto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z="1600" spc="-95" dirty="0">
                <a:solidFill>
                  <a:srgbClr val="212121"/>
                </a:solidFill>
                <a:latin typeface="Roboto Lt"/>
                <a:cs typeface="Roboto Lt"/>
                <a:hlinkClick r:id="rId11"/>
              </a:rPr>
              <a:t>antrixcomputer@gmail.com</a:t>
            </a:r>
            <a:endParaRPr lang="en-US" sz="1600" spc="-95" dirty="0">
              <a:solidFill>
                <a:srgbClr val="212121"/>
              </a:solidFill>
              <a:latin typeface="Roboto Lt"/>
              <a:cs typeface="Roboto Lt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z="1600" spc="-114" dirty="0">
                <a:solidFill>
                  <a:srgbClr val="212121"/>
                </a:solidFill>
                <a:latin typeface="Roboto Lt"/>
                <a:cs typeface="Roboto Lt"/>
              </a:rPr>
              <a:t>9998155657</a:t>
            </a:r>
            <a:endParaRPr lang="en-US" sz="160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30451" y="220476"/>
            <a:ext cx="3741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800" spc="-135" dirty="0">
                <a:solidFill>
                  <a:srgbClr val="FFFFFF"/>
                </a:solidFill>
                <a:latin typeface="Roboto"/>
                <a:cs typeface="Roboto"/>
              </a:rPr>
              <a:t>ytho</a:t>
            </a:r>
            <a:r>
              <a:rPr sz="1800" spc="-150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8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Roboto"/>
                <a:cs typeface="Roboto"/>
              </a:rPr>
              <a:t>fo</a:t>
            </a:r>
            <a:r>
              <a:rPr sz="1800" spc="-65" dirty="0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Roboto"/>
                <a:cs typeface="Roboto"/>
              </a:rPr>
              <a:t>Dat</a:t>
            </a:r>
            <a:r>
              <a:rPr sz="1800" spc="-14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Roboto"/>
                <a:cs typeface="Roboto"/>
              </a:rPr>
              <a:t>Science</a:t>
            </a:r>
            <a:r>
              <a:rPr sz="18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Roboto"/>
                <a:cs typeface="Roboto"/>
              </a:rPr>
              <a:t>(PDS</a:t>
            </a:r>
            <a:r>
              <a:rPr sz="1800" spc="-75" dirty="0">
                <a:solidFill>
                  <a:srgbClr val="FFFFFF"/>
                </a:solidFill>
                <a:latin typeface="Roboto"/>
                <a:cs typeface="Roboto"/>
              </a:rPr>
              <a:t>)</a:t>
            </a:r>
            <a:r>
              <a:rPr sz="18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Roboto"/>
                <a:cs typeface="Roboto"/>
              </a:rPr>
              <a:t>(3150713)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8806" y="5206488"/>
            <a:ext cx="1363345" cy="1363345"/>
          </a:xfrm>
          <a:custGeom>
            <a:avLst/>
            <a:gdLst/>
            <a:ahLst/>
            <a:cxnLst/>
            <a:rect l="l" t="t" r="r" b="b"/>
            <a:pathLst>
              <a:path w="1363345" h="1363345">
                <a:moveTo>
                  <a:pt x="0" y="0"/>
                </a:moveTo>
                <a:lnTo>
                  <a:pt x="1363123" y="0"/>
                </a:lnTo>
                <a:lnTo>
                  <a:pt x="1363123" y="1363123"/>
                </a:lnTo>
                <a:lnTo>
                  <a:pt x="0" y="136312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30488" y="1064858"/>
            <a:ext cx="7440295" cy="2564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50"/>
              </a:lnSpc>
              <a:spcBef>
                <a:spcPts val="100"/>
              </a:spcBef>
            </a:pPr>
            <a:r>
              <a:rPr sz="4800" b="0" spc="-365" dirty="0">
                <a:latin typeface="Roboto Lt"/>
                <a:cs typeface="Roboto Lt"/>
              </a:rPr>
              <a:t>Unit-03</a:t>
            </a:r>
            <a:endParaRPr sz="4800">
              <a:latin typeface="Roboto Lt"/>
              <a:cs typeface="Roboto Lt"/>
            </a:endParaRPr>
          </a:p>
          <a:p>
            <a:pPr marL="12700" marR="5080">
              <a:lnSpc>
                <a:spcPts val="7130"/>
              </a:lnSpc>
              <a:spcBef>
                <a:spcPts val="475"/>
              </a:spcBef>
            </a:pPr>
            <a:r>
              <a:rPr sz="6600" spc="35" dirty="0"/>
              <a:t>Capturing, </a:t>
            </a:r>
            <a:r>
              <a:rPr sz="6600" spc="55" dirty="0"/>
              <a:t>Preparing </a:t>
            </a:r>
            <a:r>
              <a:rPr sz="6600" spc="60" dirty="0"/>
              <a:t> </a:t>
            </a:r>
            <a:r>
              <a:rPr sz="6600" spc="5" dirty="0"/>
              <a:t>and</a:t>
            </a:r>
            <a:r>
              <a:rPr sz="6600" spc="15" dirty="0"/>
              <a:t> </a:t>
            </a:r>
            <a:r>
              <a:rPr sz="6600" spc="10" dirty="0"/>
              <a:t>Working</a:t>
            </a:r>
            <a:r>
              <a:rPr sz="6600" spc="25" dirty="0"/>
              <a:t> </a:t>
            </a:r>
            <a:r>
              <a:rPr sz="6600" spc="-5" dirty="0"/>
              <a:t>with</a:t>
            </a:r>
            <a:r>
              <a:rPr sz="6600" spc="20" dirty="0"/>
              <a:t> </a:t>
            </a:r>
            <a:r>
              <a:rPr sz="6600" spc="5" dirty="0"/>
              <a:t>data</a:t>
            </a:r>
            <a:endParaRPr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1066800" y="251460"/>
            <a:ext cx="5381625" cy="279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675" indent="-435609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116666"/>
              <a:buFont typeface="MS PGothic"/>
              <a:buChar char="✓"/>
              <a:tabLst>
                <a:tab pos="448309" algn="l"/>
              </a:tabLst>
            </a:pPr>
            <a:r>
              <a:rPr sz="3600" b="1" spc="7" baseline="1157" dirty="0">
                <a:solidFill>
                  <a:srgbClr val="212121"/>
                </a:solidFill>
                <a:latin typeface="Roboto Cn"/>
                <a:cs typeface="Roboto Cn"/>
              </a:rPr>
              <a:t>Outline</a:t>
            </a:r>
            <a:endParaRPr sz="3600" baseline="1157">
              <a:latin typeface="Roboto Cn"/>
              <a:cs typeface="Roboto Cn"/>
            </a:endParaRPr>
          </a:p>
          <a:p>
            <a:pPr marL="338455">
              <a:lnSpc>
                <a:spcPct val="100000"/>
              </a:lnSpc>
              <a:spcBef>
                <a:spcPts val="2135"/>
              </a:spcBef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Basi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Fil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IO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200" dirty="0">
                <a:solidFill>
                  <a:srgbClr val="212121"/>
                </a:solidFill>
                <a:latin typeface="Roboto"/>
                <a:cs typeface="Roboto"/>
              </a:rPr>
              <a:t>Num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V/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andas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(wha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use?)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8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Accessing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text,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CSV,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Excel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ﬁles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Accessin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SQ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Database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Sc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rapping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BeautifulSoup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5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838200" y="6400800"/>
            <a:ext cx="3124200" cy="21672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/>
              <a:t>ANTRIX COMPUTER ACADEMY</a:t>
            </a:r>
            <a:endParaRPr spc="-75" dirty="0"/>
          </a:p>
        </p:txBody>
      </p:sp>
      <p:pic>
        <p:nvPicPr>
          <p:cNvPr id="6" name="Picture 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785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Basic</a:t>
            </a:r>
            <a:r>
              <a:rPr spc="15" dirty="0"/>
              <a:t> IO operations </a:t>
            </a:r>
            <a:r>
              <a:rPr spc="10" dirty="0"/>
              <a:t>in </a:t>
            </a:r>
            <a:r>
              <a:rPr spc="5" dirty="0"/>
              <a:t>Python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039" y="1998736"/>
            <a:ext cx="11311255" cy="13131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359"/>
              </a:spcBef>
              <a:buClr>
                <a:srgbClr val="B84742"/>
              </a:buClr>
              <a:buFont typeface="Segoe UI Symbol"/>
              <a:buChar char="□"/>
              <a:tabLst>
                <a:tab pos="389890" algn="l"/>
                <a:tab pos="390525" algn="l"/>
              </a:tabLst>
            </a:pP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ﬁlenam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Roboto"/>
                <a:cs typeface="Roboto"/>
              </a:rPr>
              <a:t>nam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ﬁl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0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wan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open.</a:t>
            </a:r>
            <a:endParaRPr sz="2000">
              <a:latin typeface="Roboto"/>
              <a:cs typeface="Roboto"/>
            </a:endParaRPr>
          </a:p>
          <a:p>
            <a:pPr marL="389890" indent="-377825">
              <a:lnSpc>
                <a:spcPct val="100000"/>
              </a:lnSpc>
              <a:spcBef>
                <a:spcPts val="259"/>
              </a:spcBef>
              <a:buClr>
                <a:srgbClr val="B84742"/>
              </a:buClr>
              <a:buFont typeface="Segoe UI Symbol"/>
              <a:buChar char="□"/>
              <a:tabLst>
                <a:tab pos="389890" algn="l"/>
                <a:tab pos="390525" algn="l"/>
              </a:tabLst>
            </a:pP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accessmode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determines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mode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has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opened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(list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possible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below)</a:t>
            </a:r>
            <a:endParaRPr sz="2000">
              <a:latin typeface="Roboto"/>
              <a:cs typeface="Roboto"/>
            </a:endParaRPr>
          </a:p>
          <a:p>
            <a:pPr marL="389890" marR="5080" indent="-377825">
              <a:lnSpc>
                <a:spcPts val="2160"/>
              </a:lnSpc>
              <a:spcBef>
                <a:spcPts val="530"/>
              </a:spcBef>
              <a:buClr>
                <a:srgbClr val="B84742"/>
              </a:buClr>
              <a:buFont typeface="Segoe UI Symbol"/>
              <a:buChar char="□"/>
              <a:tabLst>
                <a:tab pos="389890" algn="l"/>
                <a:tab pos="390525" algn="l"/>
              </a:tabLst>
            </a:pPr>
            <a:r>
              <a:rPr sz="2000" spc="-50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buffering</a:t>
            </a:r>
            <a:r>
              <a:rPr sz="2000" b="1" spc="7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0,</a:t>
            </a:r>
            <a:r>
              <a:rPr sz="20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buffering</a:t>
            </a:r>
            <a:r>
              <a:rPr sz="20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happen,</a:t>
            </a:r>
            <a:r>
              <a:rPr sz="20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0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line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buffering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happen,</a:t>
            </a:r>
            <a:r>
              <a:rPr sz="20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0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grater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than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r>
              <a:rPr sz="20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then</a:t>
            </a:r>
            <a:r>
              <a:rPr sz="20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the </a:t>
            </a:r>
            <a:r>
              <a:rPr sz="2000" spc="-4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buffer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if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negative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follow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system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default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buffering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behaviour.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2641" y="1565714"/>
            <a:ext cx="6527165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fileobject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b="1" spc="-5" dirty="0">
                <a:latin typeface="Consolas"/>
                <a:cs typeface="Consolas"/>
              </a:rPr>
              <a:t>open</a:t>
            </a:r>
            <a:r>
              <a:rPr sz="1600" spc="-5" dirty="0">
                <a:latin typeface="Consolas"/>
                <a:cs typeface="Consolas"/>
              </a:rPr>
              <a:t>(filename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[,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accessmode][,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buffering])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2627" y="123653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3695" y="719795"/>
            <a:ext cx="11248390" cy="81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5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Before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read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write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ﬁle,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open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Python's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built-in</a:t>
            </a:r>
            <a:r>
              <a:rPr sz="2400" spc="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open()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function.</a:t>
            </a:r>
            <a:endParaRPr sz="2400">
              <a:latin typeface="Roboto"/>
              <a:cs typeface="Roboto"/>
            </a:endParaRPr>
          </a:p>
          <a:p>
            <a:pPr marL="977265">
              <a:lnSpc>
                <a:spcPct val="100000"/>
              </a:lnSpc>
              <a:spcBef>
                <a:spcPts val="1425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898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22" name="object 22"/>
          <p:cNvSpPr txBox="1"/>
          <p:nvPr/>
        </p:nvSpPr>
        <p:spPr>
          <a:xfrm>
            <a:off x="11152882" y="6632340"/>
            <a:ext cx="153670" cy="2044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200" b="1" spc="-25" dirty="0">
                <a:solidFill>
                  <a:srgbClr val="363636"/>
                </a:solidFill>
                <a:latin typeface="Roboto Cn"/>
                <a:cs typeface="Roboto Cn"/>
              </a:rPr>
              <a:pPr marL="38100">
                <a:lnSpc>
                  <a:spcPct val="100000"/>
                </a:lnSpc>
                <a:spcBef>
                  <a:spcPts val="10"/>
                </a:spcBef>
              </a:pPr>
              <a:t>3</a:t>
            </a:fld>
            <a:endParaRPr sz="1200">
              <a:latin typeface="Roboto Cn"/>
              <a:cs typeface="Roboto C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61678" y="3588962"/>
          <a:ext cx="3514090" cy="2588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M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429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onl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(default)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rb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onl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bina</a:t>
                      </a:r>
                      <a:r>
                        <a:rPr sz="2000" spc="1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format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2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both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rb+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</a:t>
                      </a:r>
                      <a:endParaRPr sz="2000">
                        <a:latin typeface="Roboto"/>
                        <a:cs typeface="Roboto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bina</a:t>
                      </a:r>
                      <a:r>
                        <a:rPr sz="2000" spc="1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format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412683" y="3588962"/>
          <a:ext cx="3514090" cy="272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M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r>
                        <a:rPr sz="1800" b="1" spc="4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400" b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(create ﬁle</a:t>
                      </a:r>
                      <a:r>
                        <a:rPr sz="14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400" b="1" spc="1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if</a:t>
                      </a:r>
                      <a:r>
                        <a:rPr sz="14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not</a:t>
                      </a:r>
                      <a:r>
                        <a:rPr sz="1400" b="1" spc="10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exist)</a:t>
                      </a:r>
                      <a:endParaRPr sz="14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only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wb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onl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bina</a:t>
                      </a:r>
                      <a:r>
                        <a:rPr sz="2000" spc="1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format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00" spc="-1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508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both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431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900" spc="-1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wb+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9558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2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bot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20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</a:t>
                      </a:r>
                      <a:endParaRPr sz="2000">
                        <a:latin typeface="Roboto"/>
                        <a:cs typeface="Roboto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bina</a:t>
                      </a:r>
                      <a:r>
                        <a:rPr sz="2000" spc="1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20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2000" spc="-4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format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8382000" y="3276600"/>
          <a:ext cx="3514089" cy="3848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M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480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5" dirty="0">
                          <a:solidFill>
                            <a:srgbClr val="212121"/>
                          </a:solidFill>
                          <a:latin typeface="Roboto Cn"/>
                          <a:cs typeface="Roboto Cn"/>
                        </a:rPr>
                        <a:t>Description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5905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4980" marR="82550" indent="-353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Open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ﬁl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append,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ﬁl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not  exis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wil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l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c</a:t>
                      </a:r>
                      <a:r>
                        <a:rPr sz="1800" spc="-2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eat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write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9539" marR="81280" indent="177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Appen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bina</a:t>
                      </a:r>
                      <a:r>
                        <a:rPr sz="1800" spc="1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format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ﬁle  no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exis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wil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l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c</a:t>
                      </a:r>
                      <a:r>
                        <a:rPr sz="1800" spc="-2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eat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write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4495" marR="81915" indent="-1390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Append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ﬁl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no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exis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it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will  c</a:t>
                      </a:r>
                      <a:r>
                        <a:rPr sz="1800" spc="-2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eat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ea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&amp;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writ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both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ab+</a:t>
                      </a:r>
                      <a:endParaRPr sz="1900">
                        <a:latin typeface="Roboto"/>
                        <a:cs typeface="Roboto"/>
                      </a:endParaRPr>
                    </a:p>
                  </a:txBody>
                  <a:tcPr marL="0" marR="0" marT="165100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Rea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d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rit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bot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800" spc="-4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bina</a:t>
                      </a:r>
                      <a:r>
                        <a:rPr sz="1800" spc="1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y</a:t>
                      </a:r>
                      <a:endParaRPr sz="1800">
                        <a:latin typeface="Roboto"/>
                        <a:cs typeface="Roboto"/>
                      </a:endParaRPr>
                    </a:p>
                    <a:p>
                      <a:pPr marR="78105" algn="r">
                        <a:lnSpc>
                          <a:spcPct val="100000"/>
                        </a:lnSpc>
                      </a:pPr>
                      <a:r>
                        <a:rPr sz="1800" spc="-114" dirty="0">
                          <a:solidFill>
                            <a:srgbClr val="1C6FA9"/>
                          </a:solidFill>
                          <a:latin typeface="Roboto"/>
                          <a:cs typeface="Roboto"/>
                        </a:rPr>
                        <a:t>format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619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101" y="5265844"/>
            <a:ext cx="12192635" cy="1592580"/>
            <a:chOff x="-101" y="5265844"/>
            <a:chExt cx="12192635" cy="1592580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0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81719" y="5265844"/>
              <a:ext cx="6527165" cy="1323975"/>
            </a:xfrm>
            <a:custGeom>
              <a:avLst/>
              <a:gdLst/>
              <a:ahLst/>
              <a:cxnLst/>
              <a:rect l="l" t="t" r="r" b="b"/>
              <a:pathLst>
                <a:path w="6527165" h="1323975">
                  <a:moveTo>
                    <a:pt x="6526744" y="1323439"/>
                  </a:moveTo>
                  <a:lnTo>
                    <a:pt x="0" y="1323439"/>
                  </a:lnTo>
                  <a:lnTo>
                    <a:pt x="0" y="0"/>
                  </a:lnTo>
                  <a:lnTo>
                    <a:pt x="6526744" y="0"/>
                  </a:lnTo>
                  <a:lnTo>
                    <a:pt x="6526744" y="13234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108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Example</a:t>
            </a:r>
            <a:r>
              <a:rPr spc="10" dirty="0"/>
              <a:t> </a:t>
            </a:r>
            <a:r>
              <a:rPr spc="35" dirty="0"/>
              <a:t>:</a:t>
            </a:r>
            <a:r>
              <a:rPr spc="10" dirty="0"/>
              <a:t> </a:t>
            </a:r>
            <a:r>
              <a:rPr spc="20" dirty="0"/>
              <a:t>Read</a:t>
            </a:r>
            <a:r>
              <a:rPr spc="10" dirty="0"/>
              <a:t> </a:t>
            </a:r>
            <a:r>
              <a:rPr spc="25" dirty="0"/>
              <a:t>ﬁle</a:t>
            </a:r>
            <a:r>
              <a:rPr spc="5" dirty="0"/>
              <a:t> </a:t>
            </a:r>
            <a:r>
              <a:rPr spc="10" dirty="0"/>
              <a:t>in</a:t>
            </a:r>
            <a:r>
              <a:rPr spc="5" dirty="0"/>
              <a:t> Python</a:t>
            </a: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22641" y="1652129"/>
          <a:ext cx="4537710" cy="83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78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open(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'college.txt'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data</a:t>
                      </a:r>
                      <a:r>
                        <a:rPr sz="16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f.read()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76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print(data)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22627" y="13229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81719" y="1650775"/>
            <a:ext cx="6527165" cy="8312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090" marR="193040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Darshan Institute of Engineering and Technology </a:t>
            </a:r>
            <a:r>
              <a:rPr sz="1600" dirty="0">
                <a:latin typeface="Consolas"/>
                <a:cs typeface="Consolas"/>
              </a:rPr>
              <a:t>- </a:t>
            </a:r>
            <a:r>
              <a:rPr sz="1600" spc="-5" dirty="0">
                <a:latin typeface="Consolas"/>
                <a:cs typeface="Consolas"/>
              </a:rPr>
              <a:t>Rajkot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At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Hadala,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Rajkot </a:t>
            </a:r>
            <a:r>
              <a:rPr sz="1600" dirty="0">
                <a:latin typeface="Consolas"/>
                <a:cs typeface="Consolas"/>
              </a:rPr>
              <a:t>-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Morbi Highway,</a:t>
            </a:r>
            <a:endParaRPr sz="1600">
              <a:latin typeface="Consolas"/>
              <a:cs typeface="Consolas"/>
            </a:endParaRPr>
          </a:p>
          <a:p>
            <a:pPr marL="8509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Gujarat-363650,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INDIA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81706" y="132159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3695" y="637881"/>
            <a:ext cx="11635105" cy="98425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5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read(size)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read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bytes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don’t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size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whole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400">
              <a:latin typeface="Roboto"/>
              <a:cs typeface="Roboto"/>
            </a:endParaRPr>
          </a:p>
          <a:p>
            <a:pPr marL="822325">
              <a:lnSpc>
                <a:spcPct val="100000"/>
              </a:lnSpc>
              <a:spcBef>
                <a:spcPts val="1100"/>
              </a:spcBef>
              <a:tabLst>
                <a:tab pos="5676265" algn="l"/>
              </a:tabLst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readﬁle.py	</a:t>
            </a:r>
            <a:r>
              <a:rPr sz="1600" spc="-80" dirty="0">
                <a:solidFill>
                  <a:srgbClr val="FFFFFF"/>
                </a:solidFill>
                <a:latin typeface="Roboto"/>
                <a:cs typeface="Roboto"/>
              </a:rPr>
              <a:t>college.txt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22641" y="3480930"/>
          <a:ext cx="4537710" cy="83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78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open(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'college.txt'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lines</a:t>
                      </a:r>
                      <a:r>
                        <a:rPr sz="16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f.readlines()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76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print(lines)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522627" y="31517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81719" y="3479574"/>
            <a:ext cx="6527165" cy="8312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090" marR="750570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['Darshan Institute of Engineering and Technology </a:t>
            </a:r>
            <a:r>
              <a:rPr sz="1600" dirty="0">
                <a:latin typeface="Consolas"/>
                <a:cs typeface="Consolas"/>
              </a:rPr>
              <a:t>-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Rajkot\n', 'At Hadala, Rajkot </a:t>
            </a:r>
            <a:r>
              <a:rPr sz="1600" dirty="0">
                <a:latin typeface="Consolas"/>
                <a:cs typeface="Consolas"/>
              </a:rPr>
              <a:t>- </a:t>
            </a:r>
            <a:r>
              <a:rPr sz="1600" spc="-5" dirty="0">
                <a:latin typeface="Consolas"/>
                <a:cs typeface="Consolas"/>
              </a:rPr>
              <a:t>Morbi Highway,\n',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'Gujarat-363650,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INDIA']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81706" y="315039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3695" y="2456520"/>
            <a:ext cx="6798945" cy="99441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6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reallines()</a:t>
            </a:r>
            <a:r>
              <a:rPr sz="2400" b="1" spc="4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lines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400">
              <a:latin typeface="Roboto"/>
              <a:cs typeface="Roboto"/>
            </a:endParaRPr>
          </a:p>
          <a:p>
            <a:pPr marL="753110">
              <a:lnSpc>
                <a:spcPct val="100000"/>
              </a:lnSpc>
              <a:spcBef>
                <a:spcPts val="1135"/>
              </a:spcBef>
              <a:tabLst>
                <a:tab pos="5760085" algn="l"/>
              </a:tabLst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readlines.py	</a:t>
            </a: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2634" y="5267199"/>
            <a:ext cx="4038600" cy="107759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 marR="1376045">
              <a:lnSpc>
                <a:spcPct val="100000"/>
              </a:lnSpc>
              <a:spcBef>
                <a:spcPts val="235"/>
              </a:spcBef>
            </a:pPr>
            <a:r>
              <a:rPr sz="1600" dirty="0">
                <a:latin typeface="Consolas"/>
                <a:cs typeface="Consolas"/>
              </a:rPr>
              <a:t>f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open(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'college.txt'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lines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f.readlines()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lines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53149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print(l)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2641" y="5267199"/>
            <a:ext cx="500380" cy="107759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2627" y="4938016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67444" y="5283117"/>
            <a:ext cx="62528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Darshan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Institute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of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Engineering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and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Technology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-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Rajkot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67444" y="5770796"/>
            <a:ext cx="38023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At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Hadala,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Rajkot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-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Morbi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Highway,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67444" y="6258476"/>
            <a:ext cx="23533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nsolas"/>
                <a:cs typeface="Consolas"/>
              </a:rPr>
              <a:t>Gujarat-363650,</a:t>
            </a:r>
            <a:r>
              <a:rPr sz="1600" spc="-9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INDIA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81706" y="493666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3695" y="4338956"/>
            <a:ext cx="6447155" cy="89852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45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loop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line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separately,</a:t>
            </a:r>
            <a:endParaRPr sz="2400">
              <a:latin typeface="Roboto"/>
              <a:cs typeface="Roboto"/>
            </a:endParaRPr>
          </a:p>
          <a:p>
            <a:pPr marL="645160">
              <a:lnSpc>
                <a:spcPct val="100000"/>
              </a:lnSpc>
              <a:spcBef>
                <a:spcPts val="830"/>
              </a:spcBef>
              <a:tabLst>
                <a:tab pos="5760085" algn="l"/>
              </a:tabLst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readlinesfor.py	</a:t>
            </a: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17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137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spc="-25" dirty="0"/>
              <a:t>to</a:t>
            </a:r>
            <a:r>
              <a:rPr spc="5" dirty="0"/>
              <a:t> </a:t>
            </a:r>
            <a:r>
              <a:rPr spc="20" dirty="0"/>
              <a:t>write</a:t>
            </a:r>
            <a:r>
              <a:rPr dirty="0"/>
              <a:t> path?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2641" y="4235842"/>
          <a:ext cx="4537710" cy="10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78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open(</a:t>
                      </a:r>
                      <a:r>
                        <a:rPr sz="1600" spc="-5" dirty="0">
                          <a:solidFill>
                            <a:srgbClr val="A31414"/>
                          </a:solidFill>
                          <a:latin typeface="Consolas"/>
                          <a:cs typeface="Consolas"/>
                        </a:rPr>
                        <a:t>'college.txt'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298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data</a:t>
                      </a:r>
                      <a:r>
                        <a:rPr sz="16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6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600" spc="-5" dirty="0">
                          <a:latin typeface="Consolas"/>
                          <a:cs typeface="Consolas"/>
                        </a:rPr>
                        <a:t>f.read()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spc="-5" dirty="0">
                          <a:latin typeface="Consolas"/>
                          <a:cs typeface="Consolas"/>
                        </a:rPr>
                        <a:t>print(data)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757">
                <a:tc>
                  <a:txBody>
                    <a:bodyPr/>
                    <a:lstStyle/>
                    <a:p>
                      <a:pPr marR="77470" algn="r">
                        <a:lnSpc>
                          <a:spcPts val="1670"/>
                        </a:lnSpc>
                      </a:pPr>
                      <a:r>
                        <a:rPr sz="16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70"/>
                        </a:lnSpc>
                      </a:pPr>
                      <a:r>
                        <a:rPr sz="1600" b="1" spc="-5" dirty="0">
                          <a:latin typeface="Consolas"/>
                          <a:cs typeface="Consolas"/>
                        </a:rPr>
                        <a:t>f.close()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22627" y="3906657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847391"/>
            <a:ext cx="11774170" cy="33585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12065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relative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path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argument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open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method,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alternatively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specify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absolute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path.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3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absolute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path,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windows,</a:t>
            </a:r>
            <a:r>
              <a:rPr sz="20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f=open(‘D: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\\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folder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\\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subfolder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\\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filename.txt’)</a:t>
            </a:r>
            <a:endParaRPr sz="2000">
              <a:latin typeface="Arial MT"/>
              <a:cs typeface="Arial MT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ma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&amp;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linux,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f=open(</a:t>
            </a:r>
            <a:r>
              <a:rPr sz="2000" spc="5" dirty="0">
                <a:solidFill>
                  <a:srgbClr val="212121"/>
                </a:solidFill>
                <a:latin typeface="Arial MT"/>
                <a:cs typeface="Arial MT"/>
              </a:rPr>
              <a:t>‘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/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user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/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folde</a:t>
            </a:r>
            <a:r>
              <a:rPr sz="2000" spc="5" dirty="0">
                <a:solidFill>
                  <a:srgbClr val="212121"/>
                </a:solidFill>
                <a:latin typeface="Arial MT"/>
                <a:cs typeface="Arial MT"/>
              </a:rPr>
              <a:t>r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/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subfolde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r</a:t>
            </a:r>
            <a:r>
              <a:rPr sz="2000" b="1" spc="-5" dirty="0">
                <a:solidFill>
                  <a:srgbClr val="212121"/>
                </a:solidFill>
                <a:latin typeface="Arial"/>
                <a:cs typeface="Arial"/>
              </a:rPr>
              <a:t>/</a:t>
            </a: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filename.txt’)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B84742"/>
              </a:buClr>
              <a:buFont typeface="Segoe UI Symbol"/>
              <a:buChar char="□"/>
            </a:pPr>
            <a:endParaRPr sz="2900">
              <a:latin typeface="Arial MT"/>
              <a:cs typeface="Arial MT"/>
            </a:endParaRPr>
          </a:p>
          <a:p>
            <a:pPr marL="307975" indent="-295910">
              <a:lnSpc>
                <a:spcPts val="2735"/>
              </a:lnSpc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807720" algn="l"/>
                <a:tab pos="1955800" algn="l"/>
                <a:tab pos="2325370" algn="l"/>
                <a:tab pos="3096895" algn="l"/>
                <a:tab pos="3605529" algn="l"/>
                <a:tab pos="4095750" algn="l"/>
                <a:tab pos="4806950" algn="l"/>
                <a:tab pos="5276215" algn="l"/>
                <a:tab pos="5784215" algn="l"/>
                <a:tab pos="6508115" algn="l"/>
                <a:tab pos="7289800" algn="l"/>
                <a:tab pos="7799070" algn="l"/>
                <a:tab pos="8288655" algn="l"/>
                <a:tab pos="8635365" algn="l"/>
                <a:tab pos="9144000" algn="l"/>
                <a:tab pos="10107930" algn="l"/>
                <a:tab pos="109131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suppose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close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	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	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once	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done	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	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	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	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close()</a:t>
            </a:r>
            <a:endParaRPr sz="2400">
              <a:latin typeface="Roboto Cn"/>
              <a:cs typeface="Roboto Cn"/>
            </a:endParaRPr>
          </a:p>
          <a:p>
            <a:pPr marL="307975">
              <a:lnSpc>
                <a:spcPts val="2735"/>
              </a:lnSpc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method.</a:t>
            </a:r>
            <a:endParaRPr sz="2400">
              <a:latin typeface="Roboto"/>
              <a:cs typeface="Roboto"/>
            </a:endParaRPr>
          </a:p>
          <a:p>
            <a:pPr marL="783590">
              <a:lnSpc>
                <a:spcPct val="100000"/>
              </a:lnSpc>
              <a:spcBef>
                <a:spcPts val="1095"/>
              </a:spcBef>
            </a:pPr>
            <a:r>
              <a:rPr sz="1600" spc="-90" dirty="0">
                <a:solidFill>
                  <a:srgbClr val="FFFFFF"/>
                </a:solidFill>
                <a:latin typeface="Roboto"/>
                <a:cs typeface="Roboto"/>
              </a:rPr>
              <a:t>closeﬁle.py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822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11" name="Picture 1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0318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Handling</a:t>
            </a:r>
            <a:r>
              <a:rPr spc="10" dirty="0"/>
              <a:t> </a:t>
            </a:r>
            <a:r>
              <a:rPr spc="45" dirty="0"/>
              <a:t>errors</a:t>
            </a:r>
            <a:r>
              <a:rPr spc="20" dirty="0"/>
              <a:t> </a:t>
            </a:r>
            <a:r>
              <a:rPr spc="15" dirty="0"/>
              <a:t>using</a:t>
            </a:r>
            <a:r>
              <a:rPr spc="20" dirty="0"/>
              <a:t> </a:t>
            </a:r>
            <a:r>
              <a:rPr spc="-25" dirty="0"/>
              <a:t>“with”</a:t>
            </a:r>
            <a:r>
              <a:rPr spc="20" dirty="0"/>
              <a:t> </a:t>
            </a:r>
            <a:r>
              <a:rPr spc="5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3457495"/>
            <a:ext cx="7325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Whe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open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ﬁl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nee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no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clos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2634" y="2513367"/>
            <a:ext cx="4038600" cy="8312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531495" marR="482600" indent="-446405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with </a:t>
            </a:r>
            <a:r>
              <a:rPr sz="1600" spc="-5" dirty="0">
                <a:latin typeface="Consolas"/>
                <a:cs typeface="Consolas"/>
              </a:rPr>
              <a:t>open(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'college.txt'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as </a:t>
            </a:r>
            <a:r>
              <a:rPr sz="1600" dirty="0">
                <a:latin typeface="Consolas"/>
                <a:cs typeface="Consolas"/>
              </a:rPr>
              <a:t>f 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data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f.read()</a:t>
            </a:r>
            <a:endParaRPr sz="1600">
              <a:latin typeface="Consolas"/>
              <a:cs typeface="Consolas"/>
            </a:endParaRPr>
          </a:p>
          <a:p>
            <a:pPr marL="53149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print(data)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641" y="2513367"/>
            <a:ext cx="500380" cy="83121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2627" y="218418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695" y="847391"/>
            <a:ext cx="11785600" cy="16363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possible</a:t>
            </a:r>
            <a:r>
              <a:rPr sz="2400" spc="2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may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typo</a:t>
            </a:r>
            <a:r>
              <a:rPr sz="2400" spc="2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ﬁlename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2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2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moved/deleted,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suc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er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whil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runnin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handle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situations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syntax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opening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with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keyword.</a:t>
            </a:r>
            <a:endParaRPr sz="2400">
              <a:latin typeface="Roboto"/>
              <a:cs typeface="Roboto"/>
            </a:endParaRPr>
          </a:p>
          <a:p>
            <a:pPr marL="612775">
              <a:lnSpc>
                <a:spcPct val="100000"/>
              </a:lnSpc>
              <a:spcBef>
                <a:spcPts val="170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ﬁleusingwith.py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762000" y="6672052"/>
            <a:ext cx="2365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337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Example</a:t>
            </a:r>
            <a:r>
              <a:rPr spc="10" dirty="0"/>
              <a:t> </a:t>
            </a:r>
            <a:r>
              <a:rPr spc="35" dirty="0"/>
              <a:t>:</a:t>
            </a:r>
            <a:r>
              <a:rPr spc="10" dirty="0"/>
              <a:t> Write </a:t>
            </a:r>
            <a:r>
              <a:rPr spc="25" dirty="0"/>
              <a:t>ﬁle</a:t>
            </a:r>
            <a:r>
              <a:rPr spc="5" dirty="0"/>
              <a:t> </a:t>
            </a:r>
            <a:r>
              <a:rPr spc="10" dirty="0"/>
              <a:t>in </a:t>
            </a:r>
            <a:r>
              <a:rPr spc="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2672127"/>
            <a:ext cx="11784330" cy="1506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635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open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‘</a:t>
            </a:r>
            <a:r>
              <a:rPr sz="2400" b="1" spc="-80" dirty="0">
                <a:solidFill>
                  <a:srgbClr val="212121"/>
                </a:solidFill>
                <a:latin typeface="Roboto Cn"/>
                <a:cs typeface="Roboto Cn"/>
              </a:rPr>
              <a:t>w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mode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overwrite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existing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does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exists.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open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‘</a:t>
            </a:r>
            <a:r>
              <a:rPr sz="2400" b="1" spc="-75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mode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append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existing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create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does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exists.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2634" y="1726558"/>
            <a:ext cx="4240530" cy="5848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531495" marR="238125" indent="-446405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with </a:t>
            </a:r>
            <a:r>
              <a:rPr sz="1600" spc="-5" dirty="0">
                <a:latin typeface="Consolas"/>
                <a:cs typeface="Consolas"/>
              </a:rPr>
              <a:t>open(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'college.txt'</a:t>
            </a:r>
            <a:r>
              <a:rPr sz="1600" spc="-5" dirty="0">
                <a:latin typeface="Consolas"/>
                <a:cs typeface="Consolas"/>
              </a:rPr>
              <a:t>,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'a'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as </a:t>
            </a:r>
            <a:r>
              <a:rPr sz="1600" dirty="0">
                <a:latin typeface="Consolas"/>
                <a:cs typeface="Consolas"/>
              </a:rPr>
              <a:t>f 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f.write(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'Hello</a:t>
            </a:r>
            <a:r>
              <a:rPr sz="1600" spc="-1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world'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641" y="1726558"/>
            <a:ext cx="500380" cy="5848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02260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2627" y="139737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695" y="847391"/>
            <a:ext cx="672020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5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write()</a:t>
            </a:r>
            <a:r>
              <a:rPr sz="2400" b="1" spc="4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write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400">
              <a:latin typeface="Roboto"/>
              <a:cs typeface="Roboto"/>
            </a:endParaRPr>
          </a:p>
          <a:p>
            <a:pPr marL="717550">
              <a:lnSpc>
                <a:spcPct val="100000"/>
              </a:lnSpc>
              <a:spcBef>
                <a:spcPts val="1685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readdemo.py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93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2452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Reading</a:t>
            </a:r>
            <a:r>
              <a:rPr spc="25" dirty="0"/>
              <a:t> </a:t>
            </a:r>
            <a:r>
              <a:rPr spc="35" dirty="0"/>
              <a:t>CSV</a:t>
            </a:r>
            <a:r>
              <a:rPr spc="25" dirty="0"/>
              <a:t> </a:t>
            </a:r>
            <a:r>
              <a:rPr spc="30" dirty="0"/>
              <a:t>ﬁles</a:t>
            </a:r>
            <a:r>
              <a:rPr spc="25" dirty="0"/>
              <a:t> </a:t>
            </a:r>
            <a:r>
              <a:rPr spc="-10" dirty="0"/>
              <a:t>without</a:t>
            </a:r>
            <a:r>
              <a:rPr spc="20" dirty="0"/>
              <a:t> </a:t>
            </a:r>
            <a:r>
              <a:rPr spc="-5" dirty="0"/>
              <a:t>any</a:t>
            </a:r>
            <a:r>
              <a:rPr spc="30" dirty="0"/>
              <a:t> </a:t>
            </a:r>
            <a:r>
              <a:rPr spc="20" dirty="0"/>
              <a:t>library</a:t>
            </a:r>
            <a:r>
              <a:rPr spc="25" dirty="0"/>
              <a:t> </a:t>
            </a:r>
            <a:r>
              <a:rPr spc="1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1345545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comma-separated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delimited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text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comma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separate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values.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line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record,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record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consists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ﬁelds,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separated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commas.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1759759"/>
            <a:ext cx="1483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95" y="3494071"/>
            <a:ext cx="5453380" cy="2762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607695" indent="-295910">
              <a:lnSpc>
                <a:spcPct val="124700"/>
              </a:lnSpc>
              <a:spcBef>
                <a:spcPts val="10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Mic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osof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ce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access 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CSV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ﬁles.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ct val="124700"/>
              </a:lnSpc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later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session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CSV 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dif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en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lib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aries,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bu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can 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CSV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withou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lib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aries. 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(Not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recommend)</a:t>
            </a:r>
            <a:endParaRPr sz="2400">
              <a:latin typeface="Roboto Cn"/>
              <a:cs typeface="Roboto C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8037" y="2171770"/>
            <a:ext cx="3411854" cy="107759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85725" marR="417195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latin typeface="Consolas"/>
                <a:cs typeface="Consolas"/>
              </a:rPr>
              <a:t>studentname,enrollment,cpi  abcd,123456,8.5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bcde,456789,2.5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cdef,321654,7.6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58022" y="1842586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18055" y="1872465"/>
            <a:ext cx="85851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Book1.csv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94757" y="2223488"/>
            <a:ext cx="5138420" cy="1666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with</a:t>
            </a:r>
            <a:r>
              <a:rPr sz="16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open(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'Book1.csv'</a:t>
            </a:r>
            <a:r>
              <a:rPr sz="1600" spc="-5" dirty="0">
                <a:latin typeface="Consolas"/>
                <a:cs typeface="Consolas"/>
              </a:rPr>
              <a:t>)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sz="16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222885" marR="2676525" indent="-63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rows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f.readlines()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rows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44577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cols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r.split(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','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44577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'Student Name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 </a:t>
            </a:r>
            <a:r>
              <a:rPr sz="1600" spc="15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15" dirty="0">
                <a:latin typeface="Consolas"/>
                <a:cs typeface="Consolas"/>
              </a:rPr>
              <a:t>, </a:t>
            </a:r>
            <a:r>
              <a:rPr sz="1600" spc="-5" dirty="0">
                <a:latin typeface="Consolas"/>
                <a:cs typeface="Consolas"/>
              </a:rPr>
              <a:t>cols[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600" spc="-5" dirty="0">
                <a:latin typeface="Consolas"/>
                <a:cs typeface="Consolas"/>
              </a:rPr>
              <a:t>], end=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"</a:t>
            </a:r>
            <a:r>
              <a:rPr sz="1600" dirty="0">
                <a:latin typeface="Consolas"/>
                <a:cs typeface="Consolas"/>
              </a:rPr>
              <a:t>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'\tEn. No.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 </a:t>
            </a:r>
            <a:r>
              <a:rPr sz="1600" spc="10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10" dirty="0">
                <a:latin typeface="Consolas"/>
                <a:cs typeface="Consolas"/>
              </a:rPr>
              <a:t>, </a:t>
            </a:r>
            <a:r>
              <a:rPr sz="1600" spc="-5" dirty="0">
                <a:latin typeface="Consolas"/>
                <a:cs typeface="Consolas"/>
              </a:rPr>
              <a:t>cols[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], end=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"</a:t>
            </a:r>
            <a:r>
              <a:rPr sz="1600" dirty="0">
                <a:latin typeface="Consolas"/>
                <a:cs typeface="Consolas"/>
              </a:rPr>
              <a:t>) 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'\tCPI</a:t>
            </a:r>
            <a:r>
              <a:rPr sz="1600" spc="-1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</a:t>
            </a:r>
            <a:r>
              <a:rPr sz="1600" spc="-1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\t'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cols[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7345" y="2223488"/>
            <a:ext cx="111760" cy="1666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45228" y="1812044"/>
            <a:ext cx="2061845" cy="329565"/>
          </a:xfrm>
          <a:custGeom>
            <a:avLst/>
            <a:gdLst/>
            <a:ahLst/>
            <a:cxnLst/>
            <a:rect l="l" t="t" r="r" b="b"/>
            <a:pathLst>
              <a:path w="2061845" h="329564">
                <a:moveTo>
                  <a:pt x="2061698" y="329201"/>
                </a:moveTo>
                <a:lnTo>
                  <a:pt x="0" y="329176"/>
                </a:lnTo>
                <a:lnTo>
                  <a:pt x="16" y="54865"/>
                </a:lnTo>
                <a:lnTo>
                  <a:pt x="4328" y="33509"/>
                </a:lnTo>
                <a:lnTo>
                  <a:pt x="16086" y="16069"/>
                </a:lnTo>
                <a:lnTo>
                  <a:pt x="33526" y="4311"/>
                </a:lnTo>
                <a:lnTo>
                  <a:pt x="54881" y="0"/>
                </a:lnTo>
                <a:lnTo>
                  <a:pt x="2006840" y="0"/>
                </a:lnTo>
                <a:lnTo>
                  <a:pt x="2045636" y="16069"/>
                </a:lnTo>
                <a:lnTo>
                  <a:pt x="2061705" y="54865"/>
                </a:lnTo>
                <a:lnTo>
                  <a:pt x="2061698" y="329201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28307" y="2134140"/>
            <a:ext cx="5511800" cy="28009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292735" marR="2194560" indent="-223520">
              <a:lnSpc>
                <a:spcPct val="100000"/>
              </a:lnSpc>
              <a:spcBef>
                <a:spcPts val="235"/>
              </a:spcBef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with </a:t>
            </a:r>
            <a:r>
              <a:rPr sz="1600" spc="-5" dirty="0">
                <a:latin typeface="Consolas"/>
                <a:cs typeface="Consolas"/>
              </a:rPr>
              <a:t>open(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'Book1.csv'</a:t>
            </a:r>
            <a:r>
              <a:rPr sz="1600" spc="-5" dirty="0">
                <a:latin typeface="Consolas"/>
                <a:cs typeface="Consolas"/>
              </a:rPr>
              <a:t>)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as </a:t>
            </a:r>
            <a:r>
              <a:rPr sz="1600" dirty="0">
                <a:latin typeface="Consolas"/>
                <a:cs typeface="Consolas"/>
              </a:rPr>
              <a:t>f :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rows </a:t>
            </a:r>
            <a:r>
              <a:rPr sz="1600" dirty="0">
                <a:latin typeface="Consolas"/>
                <a:cs typeface="Consolas"/>
              </a:rPr>
              <a:t>= </a:t>
            </a:r>
            <a:r>
              <a:rPr sz="1600" spc="-5" dirty="0">
                <a:latin typeface="Consolas"/>
                <a:cs typeface="Consolas"/>
              </a:rPr>
              <a:t>f.readlines() </a:t>
            </a:r>
            <a:r>
              <a:rPr sz="160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isFirstLine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1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endParaRPr sz="1600">
              <a:latin typeface="Consolas"/>
              <a:cs typeface="Consolas"/>
            </a:endParaRPr>
          </a:p>
          <a:p>
            <a:pPr marL="516255" marR="3202940" indent="-223520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600" spc="22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</a:t>
            </a:r>
            <a:r>
              <a:rPr sz="1600" spc="23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600" spc="22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rows</a:t>
            </a:r>
            <a:r>
              <a:rPr sz="1600" spc="229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 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6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isFirstLine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:</a:t>
            </a:r>
            <a:endParaRPr sz="1600">
              <a:latin typeface="Consolas"/>
              <a:cs typeface="Consolas"/>
            </a:endParaRPr>
          </a:p>
          <a:p>
            <a:pPr marL="963294" marR="2418080" indent="-127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isFirstLine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False </a:t>
            </a:r>
            <a:r>
              <a:rPr sz="1600" spc="-8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onsolas"/>
                <a:cs typeface="Consolas"/>
              </a:rPr>
              <a:t>continue</a:t>
            </a:r>
            <a:endParaRPr sz="1600">
              <a:latin typeface="Consolas"/>
              <a:cs typeface="Consolas"/>
            </a:endParaRPr>
          </a:p>
          <a:p>
            <a:pPr marL="51562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cols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r.split(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','</a:t>
            </a:r>
            <a:r>
              <a:rPr sz="1600" spc="-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515620" marR="295275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'Student Name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 </a:t>
            </a:r>
            <a:r>
              <a:rPr sz="1600" spc="15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15" dirty="0">
                <a:latin typeface="Consolas"/>
                <a:cs typeface="Consolas"/>
              </a:rPr>
              <a:t>, </a:t>
            </a:r>
            <a:r>
              <a:rPr sz="1600" spc="-5" dirty="0">
                <a:latin typeface="Consolas"/>
                <a:cs typeface="Consolas"/>
              </a:rPr>
              <a:t>cols[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600" spc="-5" dirty="0">
                <a:latin typeface="Consolas"/>
                <a:cs typeface="Consolas"/>
              </a:rPr>
              <a:t>], end=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"</a:t>
            </a:r>
            <a:r>
              <a:rPr sz="1600" dirty="0">
                <a:latin typeface="Consolas"/>
                <a:cs typeface="Consolas"/>
              </a:rPr>
              <a:t>) </a:t>
            </a:r>
            <a:r>
              <a:rPr sz="1600" spc="-86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'\tEn. No.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 </a:t>
            </a:r>
            <a:r>
              <a:rPr sz="1600" spc="10" dirty="0">
                <a:solidFill>
                  <a:srgbClr val="A31414"/>
                </a:solidFill>
                <a:latin typeface="Consolas"/>
                <a:cs typeface="Consolas"/>
              </a:rPr>
              <a:t>'</a:t>
            </a:r>
            <a:r>
              <a:rPr sz="1600" spc="10" dirty="0">
                <a:latin typeface="Consolas"/>
                <a:cs typeface="Consolas"/>
              </a:rPr>
              <a:t>, </a:t>
            </a:r>
            <a:r>
              <a:rPr sz="1600" spc="-5" dirty="0">
                <a:latin typeface="Consolas"/>
                <a:cs typeface="Consolas"/>
              </a:rPr>
              <a:t>cols[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600" spc="-5" dirty="0">
                <a:latin typeface="Consolas"/>
                <a:cs typeface="Consolas"/>
              </a:rPr>
              <a:t>], end=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"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"</a:t>
            </a:r>
            <a:r>
              <a:rPr sz="1600" dirty="0">
                <a:latin typeface="Consolas"/>
                <a:cs typeface="Consolas"/>
              </a:rPr>
              <a:t>) </a:t>
            </a:r>
            <a:r>
              <a:rPr sz="1600" spc="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print(</a:t>
            </a:r>
            <a:r>
              <a:rPr sz="1600" spc="-5" dirty="0">
                <a:solidFill>
                  <a:srgbClr val="A31414"/>
                </a:solidFill>
                <a:latin typeface="Consolas"/>
                <a:cs typeface="Consolas"/>
              </a:rPr>
              <a:t>'\tCPI</a:t>
            </a:r>
            <a:r>
              <a:rPr sz="1600" spc="-1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=</a:t>
            </a:r>
            <a:r>
              <a:rPr sz="1600" spc="-10" dirty="0">
                <a:solidFill>
                  <a:srgbClr val="A3141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31414"/>
                </a:solidFill>
                <a:latin typeface="Consolas"/>
                <a:cs typeface="Consolas"/>
              </a:rPr>
              <a:t>\t'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cols[</a:t>
            </a:r>
            <a:r>
              <a:rPr sz="16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600" spc="-5" dirty="0">
                <a:latin typeface="Consolas"/>
                <a:cs typeface="Consolas"/>
              </a:rPr>
              <a:t>])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8789" y="2134140"/>
            <a:ext cx="579755" cy="28009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9845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235"/>
              </a:spcBef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8</a:t>
            </a:r>
            <a:endParaRPr sz="1600">
              <a:latin typeface="Consolas"/>
              <a:cs typeface="Consolas"/>
            </a:endParaRPr>
          </a:p>
          <a:p>
            <a:pPr marR="77470" algn="r">
              <a:lnSpc>
                <a:spcPct val="100000"/>
              </a:lnSpc>
            </a:pPr>
            <a:r>
              <a:rPr sz="1600" b="1" dirty="0">
                <a:solidFill>
                  <a:srgbClr val="575757"/>
                </a:solidFill>
                <a:latin typeface="Consolas"/>
                <a:cs typeface="Consolas"/>
              </a:rPr>
              <a:t>9</a:t>
            </a:r>
            <a:endParaRPr sz="1600">
              <a:latin typeface="Consolas"/>
              <a:cs typeface="Consolas"/>
            </a:endParaRPr>
          </a:p>
          <a:p>
            <a:pPr marR="78105" algn="r">
              <a:lnSpc>
                <a:spcPct val="100000"/>
              </a:lnSpc>
            </a:pPr>
            <a:r>
              <a:rPr sz="1600" b="1" spc="-5" dirty="0">
                <a:solidFill>
                  <a:srgbClr val="575757"/>
                </a:solidFill>
                <a:latin typeface="Consolas"/>
                <a:cs typeface="Consolas"/>
              </a:rPr>
              <a:t>10</a:t>
            </a:r>
            <a:endParaRPr sz="1600">
              <a:latin typeface="Consolas"/>
              <a:cs typeface="Consolas"/>
            </a:endParaRPr>
          </a:p>
          <a:p>
            <a:pPr marR="78105" algn="r">
              <a:lnSpc>
                <a:spcPct val="100000"/>
              </a:lnSpc>
            </a:pPr>
            <a:r>
              <a:rPr sz="1600" b="1" spc="-5" dirty="0">
                <a:solidFill>
                  <a:srgbClr val="575757"/>
                </a:solidFill>
                <a:latin typeface="Consolas"/>
                <a:cs typeface="Consolas"/>
              </a:rPr>
              <a:t>11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8772" y="1804955"/>
            <a:ext cx="2061845" cy="329565"/>
          </a:xfrm>
          <a:custGeom>
            <a:avLst/>
            <a:gdLst/>
            <a:ahLst/>
            <a:cxnLst/>
            <a:rect l="l" t="t" r="r" b="b"/>
            <a:pathLst>
              <a:path w="2061845" h="329564">
                <a:moveTo>
                  <a:pt x="2061698" y="329201"/>
                </a:moveTo>
                <a:lnTo>
                  <a:pt x="0" y="329176"/>
                </a:lnTo>
                <a:lnTo>
                  <a:pt x="17" y="54864"/>
                </a:lnTo>
                <a:lnTo>
                  <a:pt x="4329" y="33509"/>
                </a:lnTo>
                <a:lnTo>
                  <a:pt x="16087" y="16069"/>
                </a:lnTo>
                <a:lnTo>
                  <a:pt x="33526" y="4311"/>
                </a:lnTo>
                <a:lnTo>
                  <a:pt x="54882" y="0"/>
                </a:lnTo>
                <a:lnTo>
                  <a:pt x="2006841" y="0"/>
                </a:lnTo>
                <a:lnTo>
                  <a:pt x="2045637" y="16069"/>
                </a:lnTo>
                <a:lnTo>
                  <a:pt x="2061706" y="54864"/>
                </a:lnTo>
                <a:lnTo>
                  <a:pt x="2061698" y="329201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82269" y="1834834"/>
            <a:ext cx="99504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0" dirty="0">
                <a:solidFill>
                  <a:srgbClr val="FFFFFF"/>
                </a:solidFill>
                <a:latin typeface="Roboto Bk"/>
                <a:cs typeface="Roboto Bk"/>
              </a:rPr>
              <a:t>readlines.py</a:t>
            </a:r>
            <a:endParaRPr sz="160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17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984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5" dirty="0"/>
              <a:t> </a:t>
            </a:r>
            <a:r>
              <a:rPr spc="-15" dirty="0"/>
              <a:t>v/s</a:t>
            </a:r>
            <a:r>
              <a:rPr dirty="0"/>
              <a:t> </a:t>
            </a:r>
            <a:r>
              <a:rPr spc="10" dirty="0"/>
              <a:t>Pandas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90680" cy="51034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1905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Developers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built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top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NumPy,</a:t>
            </a:r>
            <a:r>
              <a:rPr sz="24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result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every</a:t>
            </a:r>
            <a:r>
              <a:rPr sz="24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task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perform</a:t>
            </a:r>
            <a:r>
              <a:rPr sz="24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goes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through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NumPy.</a:t>
            </a:r>
            <a:endParaRPr sz="2400">
              <a:latin typeface="Roboto"/>
              <a:cs typeface="Roboto"/>
            </a:endParaRPr>
          </a:p>
          <a:p>
            <a:pPr marL="307975" marR="9525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2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obtain the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beneﬁts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of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pandas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need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3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pay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a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performance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penalty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testers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say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0" dirty="0">
                <a:solidFill>
                  <a:srgbClr val="212121"/>
                </a:solidFill>
                <a:latin typeface="Roboto Cn"/>
                <a:cs typeface="Roboto Cn"/>
              </a:rPr>
              <a:t>100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times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slower</a:t>
            </a:r>
            <a:r>
              <a:rPr sz="2400" b="1" spc="4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than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task.</a:t>
            </a:r>
            <a:endParaRPr sz="2400">
              <a:latin typeface="Roboto"/>
              <a:cs typeface="Roboto"/>
            </a:endParaRPr>
          </a:p>
          <a:p>
            <a:pPr marL="307975" marR="10795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Nowadays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computer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hardware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powerful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enough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take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care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performance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issue,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but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speed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execution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essential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NumPy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always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best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choice.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pandas</a:t>
            </a:r>
            <a:r>
              <a:rPr sz="2400" b="1" spc="6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make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writing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code</a:t>
            </a:r>
            <a:r>
              <a:rPr sz="24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easier</a:t>
            </a:r>
            <a:r>
              <a:rPr sz="2400" b="1" spc="6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faster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reduce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potential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coding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errors.</a:t>
            </a:r>
            <a:endParaRPr sz="2400">
              <a:latin typeface="Roboto"/>
              <a:cs typeface="Roboto"/>
            </a:endParaRPr>
          </a:p>
          <a:p>
            <a:pPr marL="307975" marR="23495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provide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rich</a:t>
            </a:r>
            <a:r>
              <a:rPr sz="2400" spc="2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time-series</a:t>
            </a:r>
            <a:r>
              <a:rPr sz="2400" b="1" spc="27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functionality,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data</a:t>
            </a:r>
            <a:r>
              <a:rPr sz="2400" b="1" spc="27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alignment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130" dirty="0">
                <a:solidFill>
                  <a:srgbClr val="212121"/>
                </a:solidFill>
                <a:latin typeface="Roboto Cn"/>
                <a:cs typeface="Roboto Cn"/>
              </a:rPr>
              <a:t>NA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-friendly</a:t>
            </a:r>
            <a:r>
              <a:rPr sz="2400" spc="2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statistics,</a:t>
            </a:r>
            <a:r>
              <a:rPr sz="2400" spc="2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groupby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merge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etc..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methods,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if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implement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these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methods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manually.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So,</a:t>
            </a:r>
            <a:endParaRPr sz="2400">
              <a:latin typeface="Roboto"/>
              <a:cs typeface="Roboto"/>
            </a:endParaRPr>
          </a:p>
          <a:p>
            <a:pPr marL="852805" lvl="1" indent="-383540">
              <a:lnSpc>
                <a:spcPct val="100000"/>
              </a:lnSpc>
              <a:spcBef>
                <a:spcPts val="21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wan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pe</a:t>
            </a:r>
            <a:r>
              <a:rPr sz="2400" b="1" spc="45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formanc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shoul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Num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y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endParaRPr sz="2400">
              <a:latin typeface="Roboto"/>
              <a:cs typeface="Roboto"/>
            </a:endParaRPr>
          </a:p>
          <a:p>
            <a:pPr marL="852805" lvl="1" indent="-383540">
              <a:lnSpc>
                <a:spcPct val="100000"/>
              </a:lnSpc>
              <a:spcBef>
                <a:spcPts val="21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wan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eas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e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o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f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codin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g</a:t>
            </a:r>
            <a:r>
              <a:rPr sz="2400" b="1" spc="6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shoul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panda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s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05330"/>
              <a:ext cx="1901424" cy="9526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4514" y="1"/>
              <a:ext cx="5255701" cy="9917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334" y="4602222"/>
              <a:ext cx="3383665" cy="2255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26694" y="6124097"/>
              <a:ext cx="4356100" cy="0"/>
            </a:xfrm>
            <a:custGeom>
              <a:avLst/>
              <a:gdLst/>
              <a:ahLst/>
              <a:cxnLst/>
              <a:rect l="l" t="t" r="r" b="b"/>
              <a:pathLst>
                <a:path w="4356100">
                  <a:moveTo>
                    <a:pt x="0" y="0"/>
                  </a:moveTo>
                  <a:lnTo>
                    <a:pt x="4356000" y="0"/>
                  </a:lnTo>
                </a:path>
              </a:pathLst>
            </a:custGeom>
            <a:ln w="95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8063" y="6232297"/>
              <a:ext cx="182879" cy="182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8063" y="6505319"/>
              <a:ext cx="182879" cy="1828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7" y="837716"/>
              <a:ext cx="1087892" cy="7721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3568" y="5211250"/>
              <a:ext cx="1353599" cy="1353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25597" y="2015064"/>
              <a:ext cx="3758417" cy="18795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10700" y="5251139"/>
            <a:ext cx="5252099" cy="1961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15" dirty="0">
                <a:solidFill>
                  <a:srgbClr val="BB770B"/>
                </a:solidFill>
                <a:latin typeface="Roboto Cn"/>
                <a:cs typeface="Roboto Cn"/>
              </a:rPr>
              <a:t>ANTRIX COMPUTER ACADEMY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US" spc="-120" dirty="0">
                <a:solidFill>
                  <a:srgbClr val="212121"/>
                </a:solidFill>
                <a:latin typeface="Roboto"/>
                <a:cs typeface="Roboto"/>
              </a:rPr>
              <a:t>DAKSHAY PRAJAPATI</a:t>
            </a:r>
            <a:endParaRPr lang="en-US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pc="-130" dirty="0" err="1">
                <a:solidFill>
                  <a:srgbClr val="212121"/>
                </a:solidFill>
                <a:latin typeface="Roboto"/>
                <a:cs typeface="Roboto"/>
              </a:rPr>
              <a:t>Vastrapur</a:t>
            </a:r>
            <a:r>
              <a:rPr lang="en-US" spc="-130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lang="en-US" spc="-130" dirty="0" err="1">
                <a:solidFill>
                  <a:srgbClr val="212121"/>
                </a:solidFill>
                <a:latin typeface="Roboto"/>
                <a:cs typeface="Roboto"/>
              </a:rPr>
              <a:t>Ahmedabad</a:t>
            </a:r>
            <a:endParaRPr lang="en-US" dirty="0">
              <a:latin typeface="Roboto"/>
              <a:cs typeface="Roboto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pc="-95" dirty="0">
                <a:solidFill>
                  <a:srgbClr val="212121"/>
                </a:solidFill>
                <a:latin typeface="Roboto Lt"/>
                <a:cs typeface="Roboto Lt"/>
                <a:hlinkClick r:id="rId11"/>
              </a:rPr>
              <a:t>antrixcomputer@gmail.com</a:t>
            </a:r>
            <a:endParaRPr lang="en-US" spc="-95" dirty="0">
              <a:solidFill>
                <a:srgbClr val="212121"/>
              </a:solidFill>
              <a:latin typeface="Roboto Lt"/>
              <a:cs typeface="Roboto Lt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pc="-114" dirty="0">
                <a:solidFill>
                  <a:srgbClr val="212121"/>
                </a:solidFill>
                <a:latin typeface="Roboto Lt"/>
                <a:cs typeface="Roboto Lt"/>
              </a:rPr>
              <a:t>9998155657</a:t>
            </a:r>
            <a:endParaRPr lang="en-US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>
              <a:latin typeface="Roboto Cn"/>
              <a:cs typeface="Roboto C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030451" y="220476"/>
            <a:ext cx="3741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40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800" b="0" spc="-135" dirty="0">
                <a:solidFill>
                  <a:srgbClr val="FFFFFF"/>
                </a:solidFill>
                <a:latin typeface="Roboto"/>
                <a:cs typeface="Roboto"/>
              </a:rPr>
              <a:t>ytho</a:t>
            </a:r>
            <a:r>
              <a:rPr sz="1800" b="0" spc="-150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90" dirty="0">
                <a:solidFill>
                  <a:srgbClr val="FFFFFF"/>
                </a:solidFill>
                <a:latin typeface="Roboto"/>
                <a:cs typeface="Roboto"/>
              </a:rPr>
              <a:t>fo</a:t>
            </a:r>
            <a:r>
              <a:rPr sz="1800" b="0" spc="-65" dirty="0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35" dirty="0">
                <a:solidFill>
                  <a:srgbClr val="FFFFFF"/>
                </a:solidFill>
                <a:latin typeface="Roboto"/>
                <a:cs typeface="Roboto"/>
              </a:rPr>
              <a:t>Dat</a:t>
            </a:r>
            <a:r>
              <a:rPr sz="1800" b="0" spc="-14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20" dirty="0">
                <a:solidFill>
                  <a:srgbClr val="FFFFFF"/>
                </a:solidFill>
                <a:latin typeface="Roboto"/>
                <a:cs typeface="Roboto"/>
              </a:rPr>
              <a:t>Science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30" dirty="0">
                <a:solidFill>
                  <a:srgbClr val="FFFFFF"/>
                </a:solidFill>
                <a:latin typeface="Roboto"/>
                <a:cs typeface="Roboto"/>
              </a:rPr>
              <a:t>(PDS</a:t>
            </a:r>
            <a:r>
              <a:rPr sz="1800" b="0" spc="-75" dirty="0">
                <a:solidFill>
                  <a:srgbClr val="FFFFFF"/>
                </a:solidFill>
                <a:latin typeface="Roboto"/>
                <a:cs typeface="Roboto"/>
              </a:rPr>
              <a:t>)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10" dirty="0">
                <a:solidFill>
                  <a:srgbClr val="FFFFFF"/>
                </a:solidFill>
                <a:latin typeface="Roboto"/>
                <a:cs typeface="Roboto"/>
              </a:rPr>
              <a:t>(3150713)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8806" y="5206488"/>
            <a:ext cx="1363345" cy="1363345"/>
          </a:xfrm>
          <a:custGeom>
            <a:avLst/>
            <a:gdLst/>
            <a:ahLst/>
            <a:cxnLst/>
            <a:rect l="l" t="t" r="r" b="b"/>
            <a:pathLst>
              <a:path w="1363345" h="1363345">
                <a:moveTo>
                  <a:pt x="0" y="0"/>
                </a:moveTo>
                <a:lnTo>
                  <a:pt x="1363123" y="0"/>
                </a:lnTo>
                <a:lnTo>
                  <a:pt x="1363123" y="1363123"/>
                </a:lnTo>
                <a:lnTo>
                  <a:pt x="0" y="136312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0488" y="1064858"/>
            <a:ext cx="5513112" cy="175240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705"/>
              </a:spcBef>
            </a:pPr>
            <a:r>
              <a:rPr sz="4800" spc="-325" dirty="0">
                <a:solidFill>
                  <a:srgbClr val="363636"/>
                </a:solidFill>
                <a:latin typeface="Roboto Lt"/>
                <a:cs typeface="Roboto Lt"/>
              </a:rPr>
              <a:t>Unit-03.01 </a:t>
            </a:r>
            <a:r>
              <a:rPr sz="4800" spc="-320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5400" spc="-320" dirty="0">
                <a:solidFill>
                  <a:srgbClr val="363636"/>
                </a:solidFill>
                <a:latin typeface="Roboto"/>
                <a:cs typeface="Roboto"/>
              </a:rPr>
              <a:t>Let</a:t>
            </a:r>
            <a:r>
              <a:rPr sz="5400" spc="-350" dirty="0">
                <a:solidFill>
                  <a:srgbClr val="363636"/>
                </a:solidFill>
                <a:latin typeface="Roboto"/>
                <a:cs typeface="Roboto"/>
              </a:rPr>
              <a:t>s</a:t>
            </a:r>
            <a:r>
              <a:rPr sz="5400" spc="-11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5400" spc="-315" dirty="0">
                <a:solidFill>
                  <a:srgbClr val="363636"/>
                </a:solidFill>
                <a:latin typeface="Roboto"/>
                <a:cs typeface="Roboto"/>
              </a:rPr>
              <a:t>Learn  </a:t>
            </a:r>
            <a:r>
              <a:rPr sz="6600" b="1" spc="5" dirty="0">
                <a:solidFill>
                  <a:srgbClr val="363636"/>
                </a:solidFill>
                <a:latin typeface="Roboto Cn"/>
                <a:cs typeface="Roboto Cn"/>
              </a:rPr>
              <a:t>NumPy</a:t>
            </a:r>
            <a:endParaRPr sz="66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3003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</a:t>
            </a:r>
            <a:r>
              <a:rPr spc="20" dirty="0"/>
              <a:t>P</a:t>
            </a:r>
            <a:r>
              <a:rPr spc="-10" dirty="0"/>
              <a:t>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0269855" cy="269938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(Numeric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Python)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library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manipulate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arrays.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Almost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libraries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rely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one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their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main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building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block.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provides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domains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like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Algebra,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Fourier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transform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etc..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incredibly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fast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bindings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libraries.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10"/>
              </a:spcBef>
              <a:tabLst>
                <a:tab pos="852169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cond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num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py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895" y="3457495"/>
            <a:ext cx="2449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70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pi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num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py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779" y="3482469"/>
            <a:ext cx="28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75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756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40" dirty="0"/>
              <a:t> </a:t>
            </a:r>
            <a:r>
              <a:rPr spc="35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641" y="3362618"/>
            <a:ext cx="652716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1800" b="1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numpy</a:t>
            </a:r>
            <a:r>
              <a:rPr sz="18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np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a</a:t>
            </a:r>
            <a:r>
              <a:rPr sz="1800" dirty="0">
                <a:solidFill>
                  <a:srgbClr val="666666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np</a:t>
            </a:r>
            <a:r>
              <a:rPr sz="1800" spc="-5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array(</a:t>
            </a:r>
            <a:r>
              <a:rPr sz="1800" spc="-5" dirty="0">
                <a:solidFill>
                  <a:srgbClr val="BA2121"/>
                </a:solidFill>
                <a:latin typeface="Consolas"/>
                <a:cs typeface="Consolas"/>
              </a:rPr>
              <a:t>list</a:t>
            </a:r>
            <a:r>
              <a:rPr sz="1800" spc="-1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BA2121"/>
                </a:solidFill>
                <a:latin typeface="Consolas"/>
                <a:cs typeface="Consolas"/>
              </a:rPr>
              <a:t>|</a:t>
            </a:r>
            <a:r>
              <a:rPr sz="1800" spc="-1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BA2121"/>
                </a:solidFill>
                <a:latin typeface="Consolas"/>
                <a:cs typeface="Consolas"/>
              </a:rPr>
              <a:t>tuple</a:t>
            </a:r>
            <a:r>
              <a:rPr sz="1800" spc="-15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BA2121"/>
                </a:solidFill>
                <a:latin typeface="Consolas"/>
                <a:cs typeface="Consolas"/>
              </a:rPr>
              <a:t>|</a:t>
            </a:r>
            <a:r>
              <a:rPr sz="1800" spc="-1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BA2121"/>
                </a:solidFill>
                <a:latin typeface="Consolas"/>
                <a:cs typeface="Consolas"/>
              </a:rPr>
              <a:t>set</a:t>
            </a:r>
            <a:r>
              <a:rPr sz="1800" spc="-1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BA2121"/>
                </a:solidFill>
                <a:latin typeface="Consolas"/>
                <a:cs typeface="Consolas"/>
              </a:rPr>
              <a:t>|</a:t>
            </a:r>
            <a:r>
              <a:rPr sz="1800" spc="-15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1800" spc="5" dirty="0">
                <a:solidFill>
                  <a:srgbClr val="BA2121"/>
                </a:solidFill>
                <a:latin typeface="Consolas"/>
                <a:cs typeface="Consolas"/>
              </a:rPr>
              <a:t>dict</a:t>
            </a:r>
            <a:r>
              <a:rPr sz="1800" spc="5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2627" y="303343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756967"/>
            <a:ext cx="11795760" cy="257619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most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important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object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deﬁned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N-dimensional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called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ndarray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4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describes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collection</a:t>
            </a:r>
            <a:r>
              <a:rPr sz="2400" b="1" spc="204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items</a:t>
            </a:r>
            <a:r>
              <a:rPr sz="2400" b="1" spc="19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same</a:t>
            </a:r>
            <a:r>
              <a:rPr sz="2400" b="1" spc="18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type</a:t>
            </a:r>
            <a:r>
              <a:rPr sz="2400" spc="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Items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collection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11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accessed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zero-based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index</a:t>
            </a:r>
            <a:r>
              <a:rPr sz="2400" spc="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307975" marR="37465" indent="-295910">
              <a:lnSpc>
                <a:spcPts val="2590"/>
              </a:lnSpc>
              <a:spcBef>
                <a:spcPts val="10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instance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ndarray</a:t>
            </a:r>
            <a:r>
              <a:rPr sz="2400" b="1" spc="1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class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constructed</a:t>
            </a:r>
            <a:r>
              <a:rPr sz="2400" spc="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different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ways,</a:t>
            </a:r>
            <a:r>
              <a:rPr sz="2400" spc="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basic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ndarray</a:t>
            </a:r>
            <a:r>
              <a:rPr sz="2400" spc="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created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below.</a:t>
            </a:r>
            <a:endParaRPr sz="2400">
              <a:latin typeface="Roboto"/>
              <a:cs typeface="Roboto"/>
            </a:endParaRPr>
          </a:p>
          <a:p>
            <a:pPr marL="977265">
              <a:lnSpc>
                <a:spcPct val="100000"/>
              </a:lnSpc>
              <a:spcBef>
                <a:spcPts val="2165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22641" y="4586717"/>
          <a:ext cx="6323965" cy="1200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4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'darshan'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'Insitute'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'rajkot'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48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22627" y="425753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1570" y="4287411"/>
            <a:ext cx="11811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5" dirty="0">
                <a:solidFill>
                  <a:srgbClr val="FFFFFF"/>
                </a:solidFill>
                <a:latin typeface="Roboto"/>
                <a:cs typeface="Roboto"/>
              </a:rPr>
              <a:t>numpyarray.py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5209" y="4588905"/>
            <a:ext cx="494982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 marR="96901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&lt;class 'numpy.ndarray'&gt;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['darshan'</a:t>
            </a:r>
            <a:r>
              <a:rPr sz="18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'Insitute'</a:t>
            </a:r>
            <a:r>
              <a:rPr sz="18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'rajkot']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65194" y="425972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72581" y="4289600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736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137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 </a:t>
            </a:r>
            <a:r>
              <a:rPr spc="35" dirty="0"/>
              <a:t>Array</a:t>
            </a:r>
            <a:r>
              <a:rPr dirty="0"/>
              <a:t>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5282231"/>
            <a:ext cx="899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35" dirty="0">
                <a:solidFill>
                  <a:srgbClr val="212121"/>
                </a:solidFill>
                <a:latin typeface="Roboto Cn"/>
                <a:cs typeface="Roboto Cn"/>
              </a:rPr>
              <a:t>ones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(n)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shape,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ﬁlled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ones.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1949836"/>
          <a:ext cx="6323965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4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arange(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(b)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62065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65209" y="1952026"/>
            <a:ext cx="4949825" cy="3695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[0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9]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65194" y="162284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3695" y="847391"/>
            <a:ext cx="11817350" cy="10750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90" dirty="0">
                <a:solidFill>
                  <a:srgbClr val="212121"/>
                </a:solidFill>
                <a:latin typeface="Roboto Cn"/>
                <a:cs typeface="Roboto Cn"/>
              </a:rPr>
              <a:t>arange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(</a:t>
            </a:r>
            <a:r>
              <a:rPr sz="2400" i="1" spc="-90" dirty="0">
                <a:solidFill>
                  <a:srgbClr val="212121"/>
                </a:solidFill>
                <a:latin typeface="Roboto"/>
                <a:cs typeface="Roboto"/>
              </a:rPr>
              <a:t>start,end,step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starting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35" dirty="0">
                <a:solidFill>
                  <a:srgbClr val="212121"/>
                </a:solidFill>
                <a:latin typeface="Roboto"/>
                <a:cs typeface="Roboto"/>
              </a:rPr>
              <a:t>start</a:t>
            </a:r>
            <a:r>
              <a:rPr sz="24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till</a:t>
            </a:r>
            <a:r>
              <a:rPr sz="24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200" dirty="0">
                <a:solidFill>
                  <a:srgbClr val="212121"/>
                </a:solidFill>
                <a:latin typeface="Roboto"/>
                <a:cs typeface="Roboto"/>
              </a:rPr>
              <a:t>end</a:t>
            </a:r>
            <a:r>
              <a:rPr sz="2400" i="1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(not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included)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45" dirty="0">
                <a:solidFill>
                  <a:srgbClr val="212121"/>
                </a:solidFill>
                <a:latin typeface="Roboto"/>
                <a:cs typeface="Roboto"/>
              </a:rPr>
              <a:t>steps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580390">
              <a:lnSpc>
                <a:spcPct val="100000"/>
              </a:lnSpc>
              <a:spcBef>
                <a:spcPts val="835"/>
              </a:spcBef>
              <a:tabLst>
                <a:tab pos="7511415" algn="l"/>
              </a:tabLst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numpyarange.py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22641" y="3736105"/>
          <a:ext cx="6441440" cy="147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zeros(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(c)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c1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zeros((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))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#have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to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give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tuple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(c1)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22627" y="340692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65209" y="3738295"/>
            <a:ext cx="4949825" cy="9239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[0.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0.]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85090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[[0.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0.]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[0.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0.]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[0.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0.]]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65194" y="340911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3695" y="2893432"/>
            <a:ext cx="9146540" cy="81534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30" dirty="0">
                <a:solidFill>
                  <a:srgbClr val="212121"/>
                </a:solidFill>
                <a:latin typeface="Roboto Cn"/>
                <a:cs typeface="Roboto Cn"/>
              </a:rPr>
              <a:t>zeros</a:t>
            </a:r>
            <a:r>
              <a:rPr sz="2400" spc="-30" dirty="0">
                <a:solidFill>
                  <a:srgbClr val="212121"/>
                </a:solidFill>
                <a:latin typeface="Roboto"/>
                <a:cs typeface="Roboto"/>
              </a:rPr>
              <a:t>(n)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shape,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ﬁlled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zeros.</a:t>
            </a:r>
            <a:endParaRPr sz="2400">
              <a:latin typeface="Roboto"/>
              <a:cs typeface="Roboto"/>
            </a:endParaRPr>
          </a:p>
          <a:p>
            <a:pPr marL="634365">
              <a:lnSpc>
                <a:spcPct val="100000"/>
              </a:lnSpc>
              <a:spcBef>
                <a:spcPts val="565"/>
              </a:spcBef>
              <a:tabLst>
                <a:tab pos="7511415" algn="l"/>
              </a:tabLst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numpyzeros.py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17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575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 </a:t>
            </a:r>
            <a:r>
              <a:rPr spc="35" dirty="0"/>
              <a:t>Array</a:t>
            </a:r>
            <a:r>
              <a:rPr dirty="0"/>
              <a:t>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4496863"/>
            <a:ext cx="1178750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Note:</a:t>
            </a:r>
            <a:r>
              <a:rPr sz="2400" b="1" spc="2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arange</a:t>
            </a:r>
            <a:r>
              <a:rPr sz="2400" b="1" spc="2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start,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stop</a:t>
            </a:r>
            <a:r>
              <a:rPr sz="2400" spc="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&amp;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step,</a:t>
            </a:r>
            <a:r>
              <a:rPr sz="2400" b="1" spc="2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whereas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lispace</a:t>
            </a:r>
            <a:r>
              <a:rPr sz="2400" b="1" spc="2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givin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sta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t,s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&amp;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numbe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o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f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element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s</a:t>
            </a:r>
            <a:r>
              <a:rPr sz="2400" b="1" spc="4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want.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1620213"/>
          <a:ext cx="6323965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4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r>
                        <a:rPr sz="18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eye(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(b)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29103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65209" y="1622403"/>
            <a:ext cx="4949825" cy="923925"/>
          </a:xfrm>
          <a:custGeom>
            <a:avLst/>
            <a:gdLst/>
            <a:ahLst/>
            <a:cxnLst/>
            <a:rect l="l" t="t" r="r" b="b"/>
            <a:pathLst>
              <a:path w="4949825" h="923925">
                <a:moveTo>
                  <a:pt x="4949580" y="923329"/>
                </a:moveTo>
                <a:lnTo>
                  <a:pt x="0" y="923329"/>
                </a:lnTo>
                <a:lnTo>
                  <a:pt x="0" y="0"/>
                </a:lnTo>
                <a:lnTo>
                  <a:pt x="4949580" y="0"/>
                </a:lnTo>
                <a:lnTo>
                  <a:pt x="4949580" y="92332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76321" y="1646683"/>
          <a:ext cx="1610995" cy="899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959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[[1.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4445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4445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44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[0.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[0.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1.]]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065194" y="129321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7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3695" y="682471"/>
            <a:ext cx="11251565" cy="9099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5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45" dirty="0">
                <a:solidFill>
                  <a:srgbClr val="212121"/>
                </a:solidFill>
                <a:latin typeface="Roboto Cn"/>
                <a:cs typeface="Roboto Cn"/>
              </a:rPr>
              <a:t>eye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(</a:t>
            </a:r>
            <a:r>
              <a:rPr sz="2400" i="1" spc="-4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10" dirty="0">
                <a:solidFill>
                  <a:srgbClr val="212121"/>
                </a:solidFill>
                <a:latin typeface="Roboto"/>
                <a:cs typeface="Roboto"/>
              </a:rPr>
              <a:t>2-D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ones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diagonal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zeros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elsewhere.</a:t>
            </a:r>
            <a:endParaRPr sz="2400">
              <a:latin typeface="Roboto"/>
              <a:cs typeface="Roboto"/>
            </a:endParaRPr>
          </a:p>
          <a:p>
            <a:pPr marL="717550">
              <a:lnSpc>
                <a:spcPct val="100000"/>
              </a:lnSpc>
              <a:spcBef>
                <a:spcPts val="870"/>
              </a:spcBef>
              <a:tabLst>
                <a:tab pos="7511415" algn="l"/>
              </a:tabLst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numpyeye.py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2641" y="3449027"/>
          <a:ext cx="6441440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linspace(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0,1,11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(c)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22627" y="311984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65209" y="3451216"/>
            <a:ext cx="494982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[0.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0.1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0.2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0.3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0.4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0.5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0.6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0.7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0.8</a:t>
            </a:r>
            <a:endParaRPr sz="1800">
              <a:latin typeface="Consolas"/>
              <a:cs typeface="Consolas"/>
            </a:endParaRPr>
          </a:p>
          <a:p>
            <a:pPr marL="85090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0.9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1.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65194" y="312203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3695" y="2501091"/>
            <a:ext cx="11426825" cy="92011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8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90" dirty="0">
                <a:solidFill>
                  <a:srgbClr val="212121"/>
                </a:solidFill>
                <a:latin typeface="Roboto Cn"/>
                <a:cs typeface="Roboto Cn"/>
              </a:rPr>
              <a:t>linspace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(</a:t>
            </a:r>
            <a:r>
              <a:rPr sz="2400" i="1" spc="-90" dirty="0">
                <a:solidFill>
                  <a:srgbClr val="212121"/>
                </a:solidFill>
                <a:latin typeface="Roboto"/>
                <a:cs typeface="Roboto"/>
              </a:rPr>
              <a:t>start,stop,num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evenly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spaced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numbers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over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speciﬁed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interval.</a:t>
            </a:r>
            <a:endParaRPr sz="2400">
              <a:latin typeface="Roboto"/>
              <a:cs typeface="Roboto"/>
            </a:endParaRPr>
          </a:p>
          <a:p>
            <a:pPr marL="517525">
              <a:lnSpc>
                <a:spcPct val="100000"/>
              </a:lnSpc>
              <a:spcBef>
                <a:spcPts val="900"/>
              </a:spcBef>
              <a:tabLst>
                <a:tab pos="7511415" algn="l"/>
              </a:tabLst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numpylinspace.py	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1984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432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Array</a:t>
            </a:r>
            <a:r>
              <a:rPr spc="5" dirty="0"/>
              <a:t> </a:t>
            </a:r>
            <a:r>
              <a:rPr spc="10" dirty="0"/>
              <a:t>Shape in</a:t>
            </a:r>
            <a:r>
              <a:rPr spc="5" dirty="0"/>
              <a:t> </a:t>
            </a:r>
            <a:r>
              <a:rPr dirty="0"/>
              <a:t>NumPy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4912448"/>
            <a:ext cx="11527790" cy="110871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8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Note: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multiplication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rows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cols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must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equal.</a:t>
            </a:r>
            <a:endParaRPr sz="2400">
              <a:latin typeface="Roboto"/>
              <a:cs typeface="Roboto"/>
            </a:endParaRPr>
          </a:p>
          <a:p>
            <a:pPr marL="474980">
              <a:lnSpc>
                <a:spcPct val="100000"/>
              </a:lnSpc>
              <a:spcBef>
                <a:spcPts val="265"/>
              </a:spcBef>
              <a:tabLst>
                <a:tab pos="852169" algn="l"/>
              </a:tabLst>
            </a:pPr>
            <a:r>
              <a:rPr sz="2000" spc="-525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Example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4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here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old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one-dimensional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10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reshaped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shape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(5,2)</a:t>
            </a:r>
            <a:endParaRPr sz="2000">
              <a:latin typeface="Roboto"/>
              <a:cs typeface="Roboto"/>
            </a:endParaRPr>
          </a:p>
          <a:p>
            <a:pPr marL="1414780">
              <a:lnSpc>
                <a:spcPct val="100000"/>
              </a:lnSpc>
              <a:spcBef>
                <a:spcPts val="260"/>
              </a:spcBef>
            </a:pP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so,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Roboto"/>
                <a:cs typeface="Roboto"/>
              </a:rPr>
              <a:t>*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10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whic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mean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alid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eshape</a:t>
            </a:r>
            <a:endParaRPr sz="20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1620228"/>
          <a:ext cx="6323965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4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zeros((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(b.shape)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29104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3695" y="685733"/>
            <a:ext cx="10189505" cy="90487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ab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shap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ndar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its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shape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-25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ope</a:t>
            </a:r>
            <a:r>
              <a:rPr sz="2400" b="1" spc="75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-15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y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580390">
              <a:lnSpc>
                <a:spcPct val="100000"/>
              </a:lnSpc>
              <a:spcBef>
                <a:spcPts val="85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numpyarange.py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209" y="1622416"/>
            <a:ext cx="4949825" cy="3695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(3,3)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65194" y="1293232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7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72581" y="1323111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2641" y="3438395"/>
          <a:ext cx="6323965" cy="1200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4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re1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re2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re1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reshape(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48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(re2)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22627" y="3109211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65209" y="3440584"/>
            <a:ext cx="4949825" cy="1477645"/>
          </a:xfrm>
          <a:custGeom>
            <a:avLst/>
            <a:gdLst/>
            <a:ahLst/>
            <a:cxnLst/>
            <a:rect l="l" t="t" r="r" b="b"/>
            <a:pathLst>
              <a:path w="4949825" h="1477645">
                <a:moveTo>
                  <a:pt x="4949580" y="1477327"/>
                </a:moveTo>
                <a:lnTo>
                  <a:pt x="0" y="1477327"/>
                </a:lnTo>
                <a:lnTo>
                  <a:pt x="0" y="0"/>
                </a:lnTo>
                <a:lnTo>
                  <a:pt x="4949580" y="0"/>
                </a:lnTo>
                <a:lnTo>
                  <a:pt x="4949580" y="147732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076321" y="3464865"/>
          <a:ext cx="1109980" cy="14530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59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[[29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4445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55]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444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[44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[25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53]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[59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[93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7]]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065194" y="311140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2517038"/>
            <a:ext cx="10113305" cy="89408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reshape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reshape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15" dirty="0">
                <a:solidFill>
                  <a:srgbClr val="212121"/>
                </a:solidFill>
                <a:latin typeface="Roboto Cn"/>
                <a:cs typeface="Roboto Cn"/>
              </a:rPr>
              <a:t>ndarray.</a:t>
            </a:r>
            <a:endParaRPr sz="2400">
              <a:latin typeface="Roboto Cn"/>
              <a:cs typeface="Roboto Cn"/>
            </a:endParaRPr>
          </a:p>
          <a:p>
            <a:pPr marL="580390">
              <a:lnSpc>
                <a:spcPct val="100000"/>
              </a:lnSpc>
              <a:spcBef>
                <a:spcPts val="815"/>
              </a:spcBef>
              <a:tabLst>
                <a:tab pos="7511415" algn="l"/>
              </a:tabLst>
            </a:pPr>
            <a:r>
              <a:rPr sz="1600" spc="-160" dirty="0">
                <a:solidFill>
                  <a:srgbClr val="FFFFFF"/>
                </a:solidFill>
                <a:latin typeface="Roboto"/>
                <a:cs typeface="Roboto"/>
              </a:rPr>
              <a:t>num</a:t>
            </a:r>
            <a:r>
              <a:rPr sz="1600" spc="-140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600" spc="-155" dirty="0">
                <a:solidFill>
                  <a:srgbClr val="FFFFFF"/>
                </a:solidFill>
                <a:latin typeface="Roboto"/>
                <a:cs typeface="Roboto"/>
              </a:rPr>
              <a:t>y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ange.</a:t>
            </a: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600" spc="-140" dirty="0">
                <a:solidFill>
                  <a:srgbClr val="FFFFFF"/>
                </a:solidFill>
                <a:latin typeface="Roboto"/>
                <a:cs typeface="Roboto"/>
              </a:rPr>
              <a:t>y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93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289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55" dirty="0"/>
              <a:t> </a:t>
            </a:r>
            <a:r>
              <a:rPr dirty="0"/>
              <a:t>Random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5611415"/>
            <a:ext cx="117640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reshape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shape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reshape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method,</a:t>
            </a:r>
            <a:r>
              <a:rPr sz="2400" spc="2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2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learned</a:t>
            </a:r>
            <a:r>
              <a:rPr sz="2400" spc="3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3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previous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slide.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1960454"/>
          <a:ext cx="5240020" cy="147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r1</a:t>
                      </a:r>
                      <a:r>
                        <a:rPr sz="18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(r1)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r2</a:t>
                      </a:r>
                      <a:r>
                        <a:rPr sz="18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tuple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(r2)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6312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86724" y="1962643"/>
            <a:ext cx="4949825" cy="1477645"/>
          </a:xfrm>
          <a:custGeom>
            <a:avLst/>
            <a:gdLst/>
            <a:ahLst/>
            <a:cxnLst/>
            <a:rect l="l" t="t" r="r" b="b"/>
            <a:pathLst>
              <a:path w="4949825" h="1477645">
                <a:moveTo>
                  <a:pt x="4949581" y="1477327"/>
                </a:moveTo>
                <a:lnTo>
                  <a:pt x="0" y="1477327"/>
                </a:lnTo>
                <a:lnTo>
                  <a:pt x="0" y="0"/>
                </a:lnTo>
                <a:lnTo>
                  <a:pt x="4949581" y="0"/>
                </a:lnTo>
                <a:lnTo>
                  <a:pt x="4949581" y="147732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597836" y="2599064"/>
          <a:ext cx="3242310" cy="840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R="54610" algn="r">
                        <a:lnSpc>
                          <a:spcPts val="169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[[0.58924723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9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0.09677878]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[0.97945337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0.76537675]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[0.73097381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0.51277276]]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586709" y="163345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3695" y="847391"/>
            <a:ext cx="11759565" cy="1431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tabLst>
                <a:tab pos="2450465" algn="l"/>
                <a:tab pos="3576954" algn="l"/>
                <a:tab pos="4118610" algn="l"/>
                <a:tab pos="5018405" algn="l"/>
                <a:tab pos="6901180" algn="l"/>
                <a:tab pos="7658100" algn="l"/>
                <a:tab pos="8299450" algn="l"/>
                <a:tab pos="9352915" algn="l"/>
                <a:tab pos="10022840" algn="l"/>
                <a:tab pos="10811510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an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(p1,p2….,pn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functio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eat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n-dimensional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	</a:t>
            </a:r>
            <a:r>
              <a:rPr sz="2400" b="1" spc="30" dirty="0">
                <a:solidFill>
                  <a:srgbClr val="212121"/>
                </a:solidFill>
                <a:latin typeface="Roboto Cn"/>
                <a:cs typeface="Roboto Cn"/>
              </a:rPr>
              <a:t>ar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-15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400" b="1" spc="-10" dirty="0">
                <a:solidFill>
                  <a:srgbClr val="212121"/>
                </a:solidFill>
                <a:latin typeface="Roboto Cn"/>
                <a:cs typeface="Roboto Cn"/>
              </a:rPr>
              <a:t>y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ando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m	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dat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a	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uniform  distrubution,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do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not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parameter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random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ﬂoat</a:t>
            </a:r>
            <a:r>
              <a:rPr sz="2400" b="1" spc="5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number.</a:t>
            </a:r>
            <a:endParaRPr sz="2400">
              <a:latin typeface="Roboto"/>
              <a:cs typeface="Roboto"/>
            </a:endParaRPr>
          </a:p>
          <a:p>
            <a:pPr marL="675640">
              <a:lnSpc>
                <a:spcPct val="100000"/>
              </a:lnSpc>
              <a:spcBef>
                <a:spcPts val="920"/>
              </a:spcBef>
              <a:tabLst>
                <a:tab pos="7032625" algn="l"/>
              </a:tabLst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numpyrand.py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  <a:p>
            <a:pPr marL="6498590">
              <a:lnSpc>
                <a:spcPct val="100000"/>
              </a:lnSpc>
              <a:spcBef>
                <a:spcPts val="56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0.23937253208490505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2641" y="4554798"/>
          <a:ext cx="5240020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r3</a:t>
                      </a:r>
                      <a:r>
                        <a:rPr sz="18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(r3)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22627" y="422561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86724" y="4556988"/>
            <a:ext cx="4949825" cy="3695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[78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78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17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98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19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26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81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67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23</a:t>
            </a:r>
            <a:r>
              <a:rPr sz="18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24]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86709" y="422780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5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3695" y="3457495"/>
            <a:ext cx="11769090" cy="1069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100" dirty="0">
                <a:solidFill>
                  <a:srgbClr val="212121"/>
                </a:solidFill>
                <a:latin typeface="Roboto Cn"/>
                <a:cs typeface="Roboto Cn"/>
              </a:rPr>
              <a:t>randint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(low,high,num)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one-dimensional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i="1" spc="-40" dirty="0">
                <a:solidFill>
                  <a:srgbClr val="212121"/>
                </a:solidFill>
                <a:latin typeface="Roboto Cn"/>
                <a:cs typeface="Roboto Cn"/>
              </a:rPr>
              <a:t>num</a:t>
            </a:r>
            <a:r>
              <a:rPr sz="2400" b="1" i="1" spc="1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random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integer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between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i="1" spc="-20" dirty="0">
                <a:solidFill>
                  <a:srgbClr val="212121"/>
                </a:solidFill>
                <a:latin typeface="Roboto Cn"/>
                <a:cs typeface="Roboto Cn"/>
              </a:rPr>
              <a:t>low</a:t>
            </a:r>
            <a:r>
              <a:rPr sz="2400" b="1" i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i="1" spc="-15" dirty="0">
                <a:solidFill>
                  <a:srgbClr val="212121"/>
                </a:solidFill>
                <a:latin typeface="Roboto Cn"/>
                <a:cs typeface="Roboto Cn"/>
              </a:rPr>
              <a:t>high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573405">
              <a:lnSpc>
                <a:spcPct val="100000"/>
              </a:lnSpc>
              <a:spcBef>
                <a:spcPts val="795"/>
              </a:spcBef>
              <a:tabLst>
                <a:tab pos="7032625" algn="l"/>
              </a:tabLst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numpyrandint.py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2891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280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5" dirty="0"/>
              <a:t> </a:t>
            </a:r>
            <a:r>
              <a:rPr dirty="0"/>
              <a:t>Random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3913679"/>
            <a:ext cx="11768455" cy="150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indent="-295910">
              <a:lnSpc>
                <a:spcPts val="2735"/>
              </a:lnSpc>
              <a:spcBef>
                <a:spcPts val="10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11064240" algn="l"/>
              </a:tabLst>
            </a:pP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Note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16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an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15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functio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2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gene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andom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numbe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2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unifor</a:t>
            </a:r>
            <a:r>
              <a:rPr sz="2400" spc="-26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distribution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ea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an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d</a:t>
            </a:r>
            <a:r>
              <a:rPr sz="2400" b="1" dirty="0">
                <a:solidFill>
                  <a:srgbClr val="FF0000"/>
                </a:solidFill>
                <a:latin typeface="Roboto Cn"/>
                <a:cs typeface="Roboto Cn"/>
              </a:rPr>
              <a:t>n</a:t>
            </a:r>
            <a:endParaRPr sz="2400">
              <a:latin typeface="Roboto Cn"/>
              <a:cs typeface="Roboto Cn"/>
            </a:endParaRPr>
          </a:p>
          <a:p>
            <a:pPr marL="307975">
              <a:lnSpc>
                <a:spcPts val="2735"/>
              </a:lnSpc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generate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random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standard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normal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distribution.</a:t>
            </a:r>
            <a:endParaRPr sz="2400">
              <a:latin typeface="Roboto"/>
              <a:cs typeface="Roboto"/>
            </a:endParaRPr>
          </a:p>
          <a:p>
            <a:pPr marL="307975" marR="6350" indent="-295910">
              <a:lnSpc>
                <a:spcPts val="2590"/>
              </a:lnSpc>
              <a:spcBef>
                <a:spcPts val="104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going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learn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difference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visualization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technique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(as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scientist,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visualizatio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technique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convince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audience)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1960454"/>
          <a:ext cx="5240020" cy="147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r1</a:t>
                      </a:r>
                      <a:r>
                        <a:rPr sz="18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randn()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(r1)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r2</a:t>
                      </a:r>
                      <a:r>
                        <a:rPr sz="18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randn(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tuple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(r2)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6312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86724" y="1962643"/>
            <a:ext cx="4949825" cy="1477645"/>
          </a:xfrm>
          <a:custGeom>
            <a:avLst/>
            <a:gdLst/>
            <a:ahLst/>
            <a:cxnLst/>
            <a:rect l="l" t="t" r="r" b="b"/>
            <a:pathLst>
              <a:path w="4949825" h="1477645">
                <a:moveTo>
                  <a:pt x="4949581" y="1477327"/>
                </a:moveTo>
                <a:lnTo>
                  <a:pt x="0" y="1477327"/>
                </a:lnTo>
                <a:lnTo>
                  <a:pt x="0" y="0"/>
                </a:lnTo>
                <a:lnTo>
                  <a:pt x="4949581" y="0"/>
                </a:lnTo>
                <a:lnTo>
                  <a:pt x="4949581" y="147732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597836" y="2599064"/>
          <a:ext cx="3492500" cy="840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R="54610" algn="r">
                        <a:lnSpc>
                          <a:spcPts val="169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</a:t>
                      </a:r>
                      <a:r>
                        <a:rPr sz="18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0.40967905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9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-0.21974532]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[-0.90341482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-0.69779498]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54610" algn="r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18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0.99444948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-1.45308348]]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586709" y="163345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7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4" y="16069"/>
                </a:lnTo>
                <a:lnTo>
                  <a:pt x="1778784" y="54864"/>
                </a:lnTo>
                <a:lnTo>
                  <a:pt x="177877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3695" y="847391"/>
            <a:ext cx="11770360" cy="1431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85" dirty="0">
                <a:solidFill>
                  <a:srgbClr val="212121"/>
                </a:solidFill>
                <a:latin typeface="Roboto Cn"/>
                <a:cs typeface="Roboto Cn"/>
              </a:rPr>
              <a:t>rand</a:t>
            </a:r>
            <a:r>
              <a:rPr sz="2400" b="1" spc="-85" dirty="0">
                <a:solidFill>
                  <a:srgbClr val="FF0000"/>
                </a:solidFill>
                <a:latin typeface="Roboto Cn"/>
                <a:cs typeface="Roboto Cn"/>
              </a:rPr>
              <a:t>n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(p1,p2….,pn)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n-dimensional</a:t>
            </a:r>
            <a:r>
              <a:rPr sz="2400" b="1" spc="3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array</a:t>
            </a:r>
            <a:r>
              <a:rPr sz="2400" b="1" spc="35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random</a:t>
            </a:r>
            <a:r>
              <a:rPr sz="2400" b="1" spc="3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data</a:t>
            </a:r>
            <a:r>
              <a:rPr sz="2400" b="1" spc="36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  standard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normal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distribution,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do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not</a:t>
            </a:r>
            <a:r>
              <a:rPr sz="2400" b="1" spc="3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parameter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-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212121"/>
                </a:solidFill>
                <a:latin typeface="Roboto Cn"/>
                <a:cs typeface="Roboto Cn"/>
              </a:rPr>
              <a:t>random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Roboto Cn"/>
                <a:cs typeface="Roboto Cn"/>
              </a:rPr>
              <a:t>ﬂoat</a:t>
            </a:r>
            <a:r>
              <a:rPr sz="2400" b="1" spc="5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number.</a:t>
            </a:r>
            <a:endParaRPr sz="2400">
              <a:latin typeface="Roboto"/>
              <a:cs typeface="Roboto"/>
            </a:endParaRPr>
          </a:p>
          <a:p>
            <a:pPr marL="626745">
              <a:lnSpc>
                <a:spcPct val="100000"/>
              </a:lnSpc>
              <a:spcBef>
                <a:spcPts val="920"/>
              </a:spcBef>
              <a:tabLst>
                <a:tab pos="7032625" algn="l"/>
              </a:tabLst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numpyrandn.py	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  <a:p>
            <a:pPr marL="6498590">
              <a:lnSpc>
                <a:spcPct val="100000"/>
              </a:lnSpc>
              <a:spcBef>
                <a:spcPts val="56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-0.15359861758111037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4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1461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Visualizing </a:t>
            </a:r>
            <a:r>
              <a:rPr spc="15" dirty="0"/>
              <a:t>the</a:t>
            </a:r>
            <a:r>
              <a:rPr spc="25" dirty="0"/>
              <a:t> </a:t>
            </a:r>
            <a:r>
              <a:rPr spc="35" dirty="0"/>
              <a:t>difference</a:t>
            </a:r>
            <a:r>
              <a:rPr spc="25" dirty="0"/>
              <a:t> between </a:t>
            </a:r>
            <a:r>
              <a:rPr spc="5" dirty="0"/>
              <a:t>rand</a:t>
            </a:r>
            <a:r>
              <a:rPr spc="25" dirty="0"/>
              <a:t> </a:t>
            </a:r>
            <a:r>
              <a:rPr spc="-85" dirty="0"/>
              <a:t>&amp;</a:t>
            </a:r>
            <a:r>
              <a:rPr spc="25" dirty="0"/>
              <a:t> </a:t>
            </a:r>
            <a:r>
              <a:rPr dirty="0"/>
              <a:t>randn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2641" y="1960454"/>
          <a:ext cx="5240020" cy="3416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sz="1800" b="1" spc="-1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matplotlib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pyplot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1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%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matplotlib</a:t>
                      </a:r>
                      <a:r>
                        <a:rPr sz="1800" b="1" spc="-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inline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samplesize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100000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uniform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rand(samplesize)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normal</a:t>
                      </a:r>
                      <a:r>
                        <a:rPr sz="18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randn(samplesize)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hist(uniform,bins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=100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title(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'rand:</a:t>
                      </a:r>
                      <a:r>
                        <a:rPr sz="18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uniform'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show()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hist(normal,bins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=100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title(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'randn:</a:t>
                      </a:r>
                      <a:r>
                        <a:rPr sz="1800" spc="-5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normal'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879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plt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show()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22627" y="16312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806792"/>
            <a:ext cx="11699875" cy="11239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44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going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matplotlib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library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visualize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difference.</a:t>
            </a:r>
            <a:endParaRPr sz="2400">
              <a:latin typeface="Roboto"/>
              <a:cs typeface="Roboto"/>
            </a:endParaRPr>
          </a:p>
          <a:p>
            <a:pPr marL="474980">
              <a:lnSpc>
                <a:spcPct val="100000"/>
              </a:lnSpc>
              <a:spcBef>
                <a:spcPts val="265"/>
              </a:spcBef>
              <a:tabLst>
                <a:tab pos="852169" algn="l"/>
              </a:tabLst>
            </a:pPr>
            <a:r>
              <a:rPr sz="2000" spc="-525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000" spc="-20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need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worry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if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getting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syntax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matplotlib,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going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learn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detail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Roboto"/>
                <a:cs typeface="Roboto"/>
              </a:rPr>
              <a:t>Unit-4</a:t>
            </a:r>
            <a:endParaRPr sz="2000">
              <a:latin typeface="Roboto"/>
              <a:cs typeface="Roboto"/>
            </a:endParaRPr>
          </a:p>
          <a:p>
            <a:pPr marL="584835">
              <a:lnSpc>
                <a:spcPct val="100000"/>
              </a:lnSpc>
              <a:spcBef>
                <a:spcPts val="86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matplotdemo.py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6169" y="1672341"/>
            <a:ext cx="3065493" cy="21318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6169" y="4067199"/>
            <a:ext cx="3065493" cy="213181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2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518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Aggregations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4432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min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minimum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ndarray,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ways</a:t>
            </a:r>
            <a:r>
              <a:rPr sz="2400" spc="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min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function,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example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ways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below.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3457495"/>
            <a:ext cx="117487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max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()</a:t>
            </a:r>
            <a:r>
              <a:rPr sz="24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maximum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ndarray,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ways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min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function,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example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ways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below.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2641" y="1954057"/>
          <a:ext cx="7343775" cy="147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l</a:t>
                      </a:r>
                      <a:r>
                        <a:rPr sz="1800" spc="4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4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array(l)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'Min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way1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min())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'Min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way2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min(a))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22627" y="16248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5362" y="1654751"/>
            <a:ext cx="10928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numpymin.py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6399" y="1956245"/>
            <a:ext cx="398843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 marR="239014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Min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way1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1 </a:t>
            </a:r>
            <a:r>
              <a:rPr sz="1800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Min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way2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20229" y="1641575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9"/>
                </a:lnTo>
                <a:lnTo>
                  <a:pt x="16081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54897" y="1671454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22641" y="4537600"/>
          <a:ext cx="7343775" cy="147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l</a:t>
                      </a:r>
                      <a:r>
                        <a:rPr sz="1800" spc="4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4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array(l)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'Max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way1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max())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127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'Max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way2</a:t>
                      </a:r>
                      <a:r>
                        <a:rPr sz="18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max(a))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22627" y="420841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4531" y="4238294"/>
            <a:ext cx="11341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5" dirty="0">
                <a:solidFill>
                  <a:srgbClr val="FFFFFF"/>
                </a:solidFill>
                <a:latin typeface="Roboto"/>
                <a:cs typeface="Roboto"/>
              </a:rPr>
              <a:t>numpymax.py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26399" y="4539789"/>
            <a:ext cx="398843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 marR="226441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Max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way1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11 </a:t>
            </a:r>
            <a:r>
              <a:rPr sz="1800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Max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way2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20229" y="4225119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8"/>
                </a:lnTo>
                <a:lnTo>
                  <a:pt x="16081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54897" y="425499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5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032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Aggregations</a:t>
            </a:r>
            <a:r>
              <a:rPr spc="-5" dirty="0"/>
              <a:t>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9512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support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aggregation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functions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such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min,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max,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argmin,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argmax,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sum,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mean,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std,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etc…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1954057"/>
          <a:ext cx="7343775" cy="2585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l</a:t>
                      </a:r>
                      <a:r>
                        <a:rPr sz="1800" spc="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4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3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array(l)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'Min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min())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'ArgMin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argmin())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'Max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max())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'ArgMax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argmax())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'Sum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sum())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'Mean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mean())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842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'Std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std())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6248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5362" y="1654751"/>
            <a:ext cx="10928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numpymin.py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6399" y="1956245"/>
            <a:ext cx="3988435" cy="25857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Min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ArgMin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Max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11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ArgMax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Sum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122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Mean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5.304347826086956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Std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3.042235771223635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20229" y="1641575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9"/>
                </a:lnTo>
                <a:lnTo>
                  <a:pt x="16081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54897" y="1671454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212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1080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20" dirty="0"/>
              <a:t> axis</a:t>
            </a:r>
            <a:r>
              <a:rPr spc="25" dirty="0"/>
              <a:t> </a:t>
            </a:r>
            <a:r>
              <a:rPr spc="5" dirty="0"/>
              <a:t>argument</a:t>
            </a:r>
            <a:r>
              <a:rPr spc="15" dirty="0"/>
              <a:t> </a:t>
            </a:r>
            <a:r>
              <a:rPr spc="-5" dirty="0"/>
              <a:t>with</a:t>
            </a:r>
            <a:r>
              <a:rPr spc="20" dirty="0"/>
              <a:t> </a:t>
            </a:r>
            <a:r>
              <a:rPr spc="25" dirty="0"/>
              <a:t>aggregate</a:t>
            </a:r>
            <a:r>
              <a:rPr spc="20" dirty="0"/>
              <a:t> </a:t>
            </a:r>
            <a:r>
              <a:rPr spc="1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678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tabLst>
                <a:tab pos="1115060" algn="l"/>
                <a:tab pos="1594485" algn="l"/>
                <a:tab pos="2377440" algn="l"/>
                <a:tab pos="3724275" algn="l"/>
                <a:tab pos="4993005" algn="l"/>
                <a:tab pos="5635625" algn="l"/>
                <a:tab pos="7842884" algn="l"/>
                <a:tab pos="8919845" algn="l"/>
                <a:tab pos="9218930" algn="l"/>
                <a:tab pos="9763760" algn="l"/>
                <a:tab pos="10547350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Whe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apply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agg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egate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multidimensiona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ndar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34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apply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agg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egate 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dimensions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(axis).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3001310"/>
            <a:ext cx="11505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want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sum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rows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cols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axis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argument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aggregate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functions.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2641" y="1954057"/>
          <a:ext cx="7343775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array2d</a:t>
                      </a:r>
                      <a:r>
                        <a:rPr sz="1800" spc="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]])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6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'sum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,array2d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sum())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22627" y="162487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2170" y="1654751"/>
            <a:ext cx="11195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numpyaxis.py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6399" y="1956245"/>
            <a:ext cx="3988435" cy="3695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sum</a:t>
            </a:r>
            <a:r>
              <a:rPr sz="18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45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20229" y="1641575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9"/>
                </a:lnTo>
                <a:lnTo>
                  <a:pt x="16081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54897" y="1671454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22641" y="3768342"/>
          <a:ext cx="7343775" cy="1200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array2d</a:t>
                      </a:r>
                      <a:r>
                        <a:rPr sz="1800" spc="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]])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'sum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(cols)=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,array2d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sum(axis=0))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#Vertical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48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'sum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(rows)=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,array2d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sum(axis=1))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#Horizontal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22627" y="3439157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2170" y="3469036"/>
            <a:ext cx="11195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numpyaxis.py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26399" y="3770530"/>
            <a:ext cx="398843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sum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(cols)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[12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15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18]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sum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(rows)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[6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15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24]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20229" y="3455861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5"/>
                </a:lnTo>
                <a:lnTo>
                  <a:pt x="4324" y="33509"/>
                </a:lnTo>
                <a:lnTo>
                  <a:pt x="16082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5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54897" y="3485739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pic>
        <p:nvPicPr>
          <p:cNvPr id="21" name="Picture 2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2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6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1309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Single </a:t>
            </a:r>
            <a:r>
              <a:rPr spc="-5" dirty="0"/>
              <a:t>V/S</a:t>
            </a:r>
            <a:r>
              <a:rPr spc="25" dirty="0"/>
              <a:t> </a:t>
            </a:r>
            <a:r>
              <a:rPr spc="5" dirty="0"/>
              <a:t>Double</a:t>
            </a:r>
            <a:r>
              <a:rPr spc="20" dirty="0"/>
              <a:t> </a:t>
            </a:r>
            <a:r>
              <a:rPr spc="10" dirty="0"/>
              <a:t>bracket</a:t>
            </a:r>
            <a:r>
              <a:rPr spc="25" dirty="0"/>
              <a:t> </a:t>
            </a:r>
            <a:r>
              <a:rPr spc="5" dirty="0"/>
              <a:t>notations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614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ways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2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</a:t>
            </a:r>
            <a:r>
              <a:rPr sz="2400" spc="2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</a:t>
            </a:r>
            <a:r>
              <a:rPr sz="2400" spc="2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multi-dimensional</a:t>
            </a:r>
            <a:r>
              <a:rPr sz="2400" spc="2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array,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example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below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3457495"/>
            <a:ext cx="11765280" cy="1506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 algn="just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valid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provides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exactly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same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answer,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but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single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bracket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notation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recommended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double bracket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notation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 temporary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sub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third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row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fetch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second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it.</a:t>
            </a:r>
            <a:endParaRPr sz="2400">
              <a:latin typeface="Roboto"/>
              <a:cs typeface="Roboto"/>
            </a:endParaRPr>
          </a:p>
          <a:p>
            <a:pPr marL="307975" indent="-295910" algn="just">
              <a:lnSpc>
                <a:spcPct val="100000"/>
              </a:lnSpc>
              <a:spcBef>
                <a:spcPts val="68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Single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bracket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notation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easy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read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write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while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programming.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2641" y="2041618"/>
          <a:ext cx="8238490" cy="1323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8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'f'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'g'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'h'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'double</a:t>
                      </a:r>
                      <a:r>
                        <a:rPr sz="20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 </a:t>
                      </a:r>
                      <a:r>
                        <a:rPr sz="20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  <a:r>
                        <a:rPr sz="20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bracket</a:t>
                      </a:r>
                      <a:r>
                        <a:rPr sz="20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notaion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13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'single</a:t>
                      </a:r>
                      <a:r>
                        <a:rPr sz="20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single</a:t>
                      </a:r>
                      <a:r>
                        <a:rPr sz="20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bracket</a:t>
                      </a:r>
                      <a:r>
                        <a:rPr sz="20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notation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22627" y="171243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0991" y="1742312"/>
            <a:ext cx="1482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numpybrackets.py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422" y="2043807"/>
            <a:ext cx="3061970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 marR="1714500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double</a:t>
            </a:r>
            <a:r>
              <a:rPr sz="180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h </a:t>
            </a:r>
            <a:r>
              <a:rPr sz="1800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single</a:t>
            </a:r>
            <a:r>
              <a:rPr sz="180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926414" y="1729136"/>
            <a:ext cx="1100455" cy="329565"/>
          </a:xfrm>
          <a:custGeom>
            <a:avLst/>
            <a:gdLst/>
            <a:ahLst/>
            <a:cxnLst/>
            <a:rect l="l" t="t" r="r" b="b"/>
            <a:pathLst>
              <a:path w="1100454" h="329564">
                <a:moveTo>
                  <a:pt x="1100368" y="329192"/>
                </a:moveTo>
                <a:lnTo>
                  <a:pt x="0" y="329179"/>
                </a:lnTo>
                <a:lnTo>
                  <a:pt x="8" y="54865"/>
                </a:lnTo>
                <a:lnTo>
                  <a:pt x="4320" y="33509"/>
                </a:lnTo>
                <a:lnTo>
                  <a:pt x="16078" y="16069"/>
                </a:lnTo>
                <a:lnTo>
                  <a:pt x="33518" y="4311"/>
                </a:lnTo>
                <a:lnTo>
                  <a:pt x="54874" y="0"/>
                </a:lnTo>
                <a:lnTo>
                  <a:pt x="1045507" y="0"/>
                </a:lnTo>
                <a:lnTo>
                  <a:pt x="1084303" y="16069"/>
                </a:lnTo>
                <a:lnTo>
                  <a:pt x="1100372" y="54865"/>
                </a:lnTo>
                <a:lnTo>
                  <a:pt x="1100368" y="32919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94592" y="1759015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7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356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Slicing</a:t>
            </a:r>
            <a:r>
              <a:rPr spc="-10" dirty="0"/>
              <a:t> </a:t>
            </a:r>
            <a:r>
              <a:rPr spc="5" dirty="0"/>
              <a:t>ndarray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1592560" cy="19526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Slicing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means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taking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one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another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index.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Python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List,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same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syntax</a:t>
            </a:r>
            <a:r>
              <a:rPr sz="2400" spc="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Consolas"/>
                <a:cs typeface="Consolas"/>
              </a:rPr>
              <a:t>array[start:end:step]</a:t>
            </a:r>
            <a:r>
              <a:rPr sz="2400" b="1" spc="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slice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ndarray.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Defaul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sta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0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Defaul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en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length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ar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Defaul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ste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1</a:t>
            </a:r>
            <a:endParaRPr sz="20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3223298"/>
          <a:ext cx="7343775" cy="2554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'f'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'g'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'h'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:])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044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(arr[::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289411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6391" y="2923992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numpyslice1d.py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26399" y="3225487"/>
            <a:ext cx="3988435" cy="1939289"/>
          </a:xfrm>
          <a:custGeom>
            <a:avLst/>
            <a:gdLst/>
            <a:ahLst/>
            <a:cxnLst/>
            <a:rect l="l" t="t" r="r" b="b"/>
            <a:pathLst>
              <a:path w="3988434" h="1939289">
                <a:moveTo>
                  <a:pt x="3988390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3988390" y="0"/>
                </a:lnTo>
                <a:lnTo>
                  <a:pt x="3988390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80374" y="3318787"/>
          <a:ext cx="3406775" cy="147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R="29845" algn="ct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['c'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984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['a'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'c'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984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['f'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'g'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'h']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984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['c'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'g']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R="2984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['h'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'g'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'f'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'c'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099424" y="4764727"/>
            <a:ext cx="1140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'b'</a:t>
            </a:r>
            <a:r>
              <a:rPr sz="2000" spc="-9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'a']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20229" y="2910816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9"/>
                </a:lnTo>
                <a:lnTo>
                  <a:pt x="16082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54897" y="2940695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365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8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584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Array</a:t>
            </a:r>
            <a:r>
              <a:rPr spc="10" dirty="0"/>
              <a:t> </a:t>
            </a:r>
            <a:r>
              <a:rPr spc="15" dirty="0"/>
              <a:t>Slicing </a:t>
            </a:r>
            <a:r>
              <a:rPr spc="1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969704"/>
              </p:ext>
            </p:extLst>
          </p:nvPr>
        </p:nvGraphicFramePr>
        <p:xfrm>
          <a:off x="1201280" y="861091"/>
          <a:ext cx="3072129" cy="31294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84">
                <a:tc>
                  <a:txBody>
                    <a:bodyPr/>
                    <a:lstStyle/>
                    <a:p>
                      <a:pPr marR="206375" algn="r">
                        <a:lnSpc>
                          <a:spcPts val="2030"/>
                        </a:lnSpc>
                      </a:pPr>
                      <a:r>
                        <a:rPr sz="1800" spc="-210" dirty="0">
                          <a:solidFill>
                            <a:srgbClr val="BEBEBE"/>
                          </a:solidFill>
                          <a:latin typeface="Roboto"/>
                          <a:cs typeface="Roboto"/>
                        </a:rPr>
                        <a:t>C-0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2030"/>
                        </a:lnSpc>
                      </a:pPr>
                      <a:r>
                        <a:rPr sz="1800" spc="-210" dirty="0">
                          <a:solidFill>
                            <a:srgbClr val="BEBEBE"/>
                          </a:solidFill>
                          <a:latin typeface="Roboto"/>
                          <a:cs typeface="Roboto"/>
                        </a:rPr>
                        <a:t>C-1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2030"/>
                        </a:lnSpc>
                      </a:pPr>
                      <a:r>
                        <a:rPr sz="1800" spc="-210" dirty="0">
                          <a:solidFill>
                            <a:srgbClr val="BEBEBE"/>
                          </a:solidFill>
                          <a:latin typeface="Roboto"/>
                          <a:cs typeface="Roboto"/>
                        </a:rPr>
                        <a:t>C-2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2030"/>
                        </a:lnSpc>
                      </a:pPr>
                      <a:r>
                        <a:rPr sz="1800" spc="-210" dirty="0">
                          <a:solidFill>
                            <a:srgbClr val="BEBEBE"/>
                          </a:solidFill>
                          <a:latin typeface="Roboto"/>
                          <a:cs typeface="Roboto"/>
                        </a:rPr>
                        <a:t>C-3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30"/>
                        </a:lnSpc>
                      </a:pPr>
                      <a:r>
                        <a:rPr sz="1800" spc="-210" dirty="0">
                          <a:solidFill>
                            <a:srgbClr val="BEBEBE"/>
                          </a:solidFill>
                          <a:latin typeface="Roboto"/>
                          <a:cs typeface="Roboto"/>
                        </a:rPr>
                        <a:t>C-4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64"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184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1695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698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228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463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R="19685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19685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11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12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76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13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2057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14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463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15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R="19685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19685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16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17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76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18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2057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19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463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70">
                <a:tc>
                  <a:txBody>
                    <a:bodyPr/>
                    <a:lstStyle/>
                    <a:p>
                      <a:pPr marR="196850" algn="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196850" algn="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17780" algn="ct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22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7620" algn="ct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23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L="205740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24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endParaRPr lang="en-US" sz="1800" spc="-130" dirty="0">
                        <a:solidFill>
                          <a:srgbClr val="212121"/>
                        </a:solidFill>
                        <a:latin typeface="Roboto"/>
                        <a:cs typeface="Roboto"/>
                      </a:endParaRPr>
                    </a:p>
                    <a:p>
                      <a:pPr marR="46355" algn="r">
                        <a:lnSpc>
                          <a:spcPts val="2140"/>
                        </a:lnSpc>
                        <a:spcBef>
                          <a:spcPts val="27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25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3891" y="2434345"/>
            <a:ext cx="688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baseline="4629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700" spc="-60" baseline="46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700" spc="-232" baseline="4629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r>
              <a:rPr sz="2700" baseline="46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700" spc="-150" baseline="4629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235" dirty="0">
                <a:solidFill>
                  <a:srgbClr val="BEBEBE"/>
                </a:solidFill>
                <a:latin typeface="Roboto"/>
                <a:cs typeface="Roboto"/>
              </a:rPr>
              <a:t>R-2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9885" y="1143008"/>
            <a:ext cx="487045" cy="2921000"/>
          </a:xfrm>
          <a:custGeom>
            <a:avLst/>
            <a:gdLst/>
            <a:ahLst/>
            <a:cxnLst/>
            <a:rect l="l" t="t" r="r" b="b"/>
            <a:pathLst>
              <a:path w="487044" h="2921000">
                <a:moveTo>
                  <a:pt x="486842" y="2920999"/>
                </a:moveTo>
                <a:lnTo>
                  <a:pt x="439956" y="2918771"/>
                </a:lnTo>
                <a:lnTo>
                  <a:pt x="394331" y="2912221"/>
                </a:lnTo>
                <a:lnTo>
                  <a:pt x="350171" y="2901554"/>
                </a:lnTo>
                <a:lnTo>
                  <a:pt x="307679" y="2886973"/>
                </a:lnTo>
                <a:lnTo>
                  <a:pt x="267061" y="2868684"/>
                </a:lnTo>
                <a:lnTo>
                  <a:pt x="228520" y="2846889"/>
                </a:lnTo>
                <a:lnTo>
                  <a:pt x="192260" y="2821793"/>
                </a:lnTo>
                <a:lnTo>
                  <a:pt x="158484" y="2793600"/>
                </a:lnTo>
                <a:lnTo>
                  <a:pt x="127398" y="2762514"/>
                </a:lnTo>
                <a:lnTo>
                  <a:pt x="99205" y="2728739"/>
                </a:lnTo>
                <a:lnTo>
                  <a:pt x="74110" y="2692479"/>
                </a:lnTo>
                <a:lnTo>
                  <a:pt x="52315" y="2653938"/>
                </a:lnTo>
                <a:lnTo>
                  <a:pt x="34025" y="2613320"/>
                </a:lnTo>
                <a:lnTo>
                  <a:pt x="19445" y="2570828"/>
                </a:lnTo>
                <a:lnTo>
                  <a:pt x="8778" y="2526668"/>
                </a:lnTo>
                <a:lnTo>
                  <a:pt x="2228" y="2481043"/>
                </a:lnTo>
                <a:lnTo>
                  <a:pt x="0" y="2434156"/>
                </a:lnTo>
                <a:lnTo>
                  <a:pt x="0" y="486843"/>
                </a:lnTo>
                <a:lnTo>
                  <a:pt x="2228" y="439956"/>
                </a:lnTo>
                <a:lnTo>
                  <a:pt x="8778" y="394331"/>
                </a:lnTo>
                <a:lnTo>
                  <a:pt x="19445" y="350171"/>
                </a:lnTo>
                <a:lnTo>
                  <a:pt x="34025" y="307679"/>
                </a:lnTo>
                <a:lnTo>
                  <a:pt x="52315" y="267061"/>
                </a:lnTo>
                <a:lnTo>
                  <a:pt x="74110" y="228520"/>
                </a:lnTo>
                <a:lnTo>
                  <a:pt x="99205" y="192260"/>
                </a:lnTo>
                <a:lnTo>
                  <a:pt x="127398" y="158484"/>
                </a:lnTo>
                <a:lnTo>
                  <a:pt x="158484" y="127398"/>
                </a:lnTo>
                <a:lnTo>
                  <a:pt x="192260" y="99205"/>
                </a:lnTo>
                <a:lnTo>
                  <a:pt x="228520" y="74110"/>
                </a:lnTo>
                <a:lnTo>
                  <a:pt x="267061" y="52315"/>
                </a:lnTo>
                <a:lnTo>
                  <a:pt x="307679" y="34025"/>
                </a:lnTo>
                <a:lnTo>
                  <a:pt x="350171" y="19445"/>
                </a:lnTo>
                <a:lnTo>
                  <a:pt x="394331" y="8778"/>
                </a:lnTo>
                <a:lnTo>
                  <a:pt x="439956" y="2228"/>
                </a:lnTo>
                <a:lnTo>
                  <a:pt x="486842" y="0"/>
                </a:lnTo>
              </a:path>
            </a:pathLst>
          </a:custGeom>
          <a:ln w="9524">
            <a:solidFill>
              <a:srgbClr val="909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00510" y="1143008"/>
            <a:ext cx="487045" cy="2921000"/>
          </a:xfrm>
          <a:custGeom>
            <a:avLst/>
            <a:gdLst/>
            <a:ahLst/>
            <a:cxnLst/>
            <a:rect l="l" t="t" r="r" b="b"/>
            <a:pathLst>
              <a:path w="487045" h="2921000">
                <a:moveTo>
                  <a:pt x="0" y="0"/>
                </a:moveTo>
                <a:lnTo>
                  <a:pt x="48118" y="2382"/>
                </a:lnTo>
                <a:lnTo>
                  <a:pt x="95421" y="9440"/>
                </a:lnTo>
                <a:lnTo>
                  <a:pt x="141590" y="21043"/>
                </a:lnTo>
                <a:lnTo>
                  <a:pt x="186306" y="37058"/>
                </a:lnTo>
                <a:lnTo>
                  <a:pt x="229249" y="57353"/>
                </a:lnTo>
                <a:lnTo>
                  <a:pt x="270100" y="81795"/>
                </a:lnTo>
                <a:lnTo>
                  <a:pt x="308540" y="110252"/>
                </a:lnTo>
                <a:lnTo>
                  <a:pt x="344249" y="142593"/>
                </a:lnTo>
                <a:lnTo>
                  <a:pt x="376590" y="178302"/>
                </a:lnTo>
                <a:lnTo>
                  <a:pt x="405047" y="216742"/>
                </a:lnTo>
                <a:lnTo>
                  <a:pt x="429489" y="257593"/>
                </a:lnTo>
                <a:lnTo>
                  <a:pt x="449784" y="300536"/>
                </a:lnTo>
                <a:lnTo>
                  <a:pt x="465799" y="345251"/>
                </a:lnTo>
                <a:lnTo>
                  <a:pt x="477402" y="391421"/>
                </a:lnTo>
                <a:lnTo>
                  <a:pt x="484460" y="438724"/>
                </a:lnTo>
                <a:lnTo>
                  <a:pt x="486842" y="486843"/>
                </a:lnTo>
                <a:lnTo>
                  <a:pt x="486842" y="2434156"/>
                </a:lnTo>
                <a:lnTo>
                  <a:pt x="484614" y="2481043"/>
                </a:lnTo>
                <a:lnTo>
                  <a:pt x="478064" y="2526668"/>
                </a:lnTo>
                <a:lnTo>
                  <a:pt x="467397" y="2570828"/>
                </a:lnTo>
                <a:lnTo>
                  <a:pt x="452817" y="2613320"/>
                </a:lnTo>
                <a:lnTo>
                  <a:pt x="434527" y="2653938"/>
                </a:lnTo>
                <a:lnTo>
                  <a:pt x="412732" y="2692479"/>
                </a:lnTo>
                <a:lnTo>
                  <a:pt x="387637" y="2728739"/>
                </a:lnTo>
                <a:lnTo>
                  <a:pt x="359444" y="2762514"/>
                </a:lnTo>
                <a:lnTo>
                  <a:pt x="328358" y="2793600"/>
                </a:lnTo>
                <a:lnTo>
                  <a:pt x="294582" y="2821793"/>
                </a:lnTo>
                <a:lnTo>
                  <a:pt x="258322" y="2846889"/>
                </a:lnTo>
                <a:lnTo>
                  <a:pt x="219781" y="2868684"/>
                </a:lnTo>
                <a:lnTo>
                  <a:pt x="179163" y="2886973"/>
                </a:lnTo>
                <a:lnTo>
                  <a:pt x="136671" y="2901554"/>
                </a:lnTo>
                <a:lnTo>
                  <a:pt x="92511" y="2912221"/>
                </a:lnTo>
                <a:lnTo>
                  <a:pt x="46886" y="2918771"/>
                </a:lnTo>
                <a:lnTo>
                  <a:pt x="0" y="2920999"/>
                </a:lnTo>
              </a:path>
            </a:pathLst>
          </a:custGeom>
          <a:ln w="9524">
            <a:solidFill>
              <a:srgbClr val="909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6432" y="1337065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35" dirty="0">
                <a:solidFill>
                  <a:srgbClr val="BEBEBE"/>
                </a:solidFill>
                <a:latin typeface="Roboto"/>
                <a:cs typeface="Roboto"/>
              </a:rPr>
              <a:t>R-0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6701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8" name="object 8"/>
          <p:cNvSpPr txBox="1"/>
          <p:nvPr/>
        </p:nvSpPr>
        <p:spPr>
          <a:xfrm>
            <a:off x="606432" y="1885705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35" dirty="0">
                <a:solidFill>
                  <a:srgbClr val="BEBEBE"/>
                </a:solidFill>
                <a:latin typeface="Roboto"/>
                <a:cs typeface="Roboto"/>
              </a:rPr>
              <a:t>R-1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432" y="2982984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35" dirty="0">
                <a:solidFill>
                  <a:srgbClr val="BEBEBE"/>
                </a:solidFill>
                <a:latin typeface="Roboto"/>
                <a:cs typeface="Roboto"/>
              </a:rPr>
              <a:t>R-3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6432" y="3531624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35" dirty="0">
                <a:solidFill>
                  <a:srgbClr val="BEBEBE"/>
                </a:solidFill>
                <a:latin typeface="Roboto"/>
                <a:cs typeface="Roboto"/>
              </a:rPr>
              <a:t>R-4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3116" y="756967"/>
            <a:ext cx="2030730" cy="32188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 dirty="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  <a:tabLst>
                <a:tab pos="18713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a[2][3]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  <a:tabLst>
                <a:tab pos="18713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a[2,3]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  <a:tabLst>
                <a:tab pos="14141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3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a[2]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  <a:tabLst>
                <a:tab pos="18713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a[0:2]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  <a:tabLst>
                <a:tab pos="18713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a[0:2:2]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  <a:tabLst>
                <a:tab pos="18713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a[:</a:t>
            </a:r>
            <a:r>
              <a:rPr lang="en-US"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:-</a:t>
            </a:r>
            <a:r>
              <a:rPr lang="en-US" sz="2400" spc="-145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]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0316" y="3950255"/>
            <a:ext cx="1639570" cy="13944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a[1:3,1:3]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  <a:tabLst>
                <a:tab pos="14141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4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a[3:</a:t>
            </a:r>
            <a:r>
              <a:rPr lang="en-US" sz="2400" spc="-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:3]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1414145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4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a[:</a:t>
            </a:r>
            <a:r>
              <a:rPr lang="en-US" sz="2400" spc="-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:-1]	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=</a:t>
            </a:r>
            <a:endParaRPr sz="2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6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261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Slicing</a:t>
            </a:r>
            <a:r>
              <a:rPr spc="20" dirty="0"/>
              <a:t> </a:t>
            </a:r>
            <a:r>
              <a:rPr spc="5" dirty="0"/>
              <a:t>multi-dimensional</a:t>
            </a:r>
            <a:r>
              <a:rPr spc="20" dirty="0"/>
              <a:t> </a:t>
            </a:r>
            <a:r>
              <a:rPr spc="10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7734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Slicing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multi-dimensional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would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same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single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dimensional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help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single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bracket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notation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learn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earlier,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lets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see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example.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2123963"/>
          <a:ext cx="7343775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'f'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'g'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'h'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#first</a:t>
                      </a:r>
                      <a:r>
                        <a:rPr sz="20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two</a:t>
                      </a:r>
                      <a:r>
                        <a:rPr sz="20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rows</a:t>
                      </a:r>
                      <a:r>
                        <a:rPr sz="20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and</a:t>
                      </a:r>
                      <a:r>
                        <a:rPr sz="20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cols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(arr[::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#reversed</a:t>
                      </a:r>
                      <a:r>
                        <a:rPr sz="2000" i="1" spc="-3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rows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(arr[: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::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-1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#reversed</a:t>
                      </a:r>
                      <a:r>
                        <a:rPr sz="20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cols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(arr[::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,::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#complete</a:t>
                      </a:r>
                      <a:r>
                        <a:rPr sz="2000" i="1" spc="-3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reverse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179477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6391" y="1824658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numpyslice1d.py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26399" y="2126152"/>
            <a:ext cx="3988435" cy="3477895"/>
          </a:xfrm>
          <a:custGeom>
            <a:avLst/>
            <a:gdLst/>
            <a:ahLst/>
            <a:cxnLst/>
            <a:rect l="l" t="t" r="r" b="b"/>
            <a:pathLst>
              <a:path w="3988434" h="3477895">
                <a:moveTo>
                  <a:pt x="3988390" y="3477874"/>
                </a:moveTo>
                <a:lnTo>
                  <a:pt x="0" y="3477874"/>
                </a:lnTo>
                <a:lnTo>
                  <a:pt x="0" y="0"/>
                </a:lnTo>
                <a:lnTo>
                  <a:pt x="3988390" y="0"/>
                </a:lnTo>
                <a:lnTo>
                  <a:pt x="3988390" y="347787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80374" y="2219453"/>
          <a:ext cx="2153285" cy="3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R="61594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[['a'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'b']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['d'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'e']]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[['g'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'h'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'i']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['d'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'f']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['a'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'c']]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[['c'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'a']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['f'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'd']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['i'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'h'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'g']]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[['i'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'h'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'g']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['f'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'e'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'd']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R="61594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['c'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'b'</a:t>
                      </a:r>
                      <a:r>
                        <a:rPr sz="2000" spc="-8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'a']]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8020229" y="1811483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2" y="54864"/>
                </a:lnTo>
                <a:lnTo>
                  <a:pt x="4324" y="33509"/>
                </a:lnTo>
                <a:lnTo>
                  <a:pt x="16082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54897" y="1841361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432176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5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709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ED524F"/>
                </a:solidFill>
              </a:rPr>
              <a:t>Warning</a:t>
            </a:r>
            <a:r>
              <a:rPr spc="35" dirty="0">
                <a:solidFill>
                  <a:srgbClr val="ED524F"/>
                </a:solidFill>
              </a:rPr>
              <a:t> </a:t>
            </a:r>
            <a:r>
              <a:rPr spc="35" dirty="0"/>
              <a:t>:</a:t>
            </a:r>
            <a:r>
              <a:rPr spc="25" dirty="0"/>
              <a:t> </a:t>
            </a:r>
            <a:r>
              <a:rPr spc="35" dirty="0"/>
              <a:t>Array</a:t>
            </a:r>
            <a:r>
              <a:rPr spc="25" dirty="0"/>
              <a:t> </a:t>
            </a:r>
            <a:r>
              <a:rPr spc="15" dirty="0"/>
              <a:t>Slicing</a:t>
            </a:r>
            <a:r>
              <a:rPr spc="25" dirty="0"/>
              <a:t> </a:t>
            </a:r>
            <a:r>
              <a:rPr spc="35" dirty="0"/>
              <a:t>is</a:t>
            </a:r>
            <a:r>
              <a:rPr spc="20" dirty="0"/>
              <a:t> </a:t>
            </a:r>
            <a:r>
              <a:rPr spc="5" dirty="0"/>
              <a:t>mutable</a:t>
            </a:r>
            <a:r>
              <a:rPr spc="25" dirty="0"/>
              <a:t> </a:t>
            </a:r>
            <a:r>
              <a:rPr spc="40" dirty="0"/>
              <a:t>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75440" cy="1176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slice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apply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operation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them,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make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changes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 original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34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eat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co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whil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slicing.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Example,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641" y="2432188"/>
          <a:ext cx="6812915" cy="2554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arrsliced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arrsliced[:]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i="1" spc="-2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Broadcasting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'Original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Array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2000" spc="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044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'Sliced</a:t>
                      </a:r>
                      <a:r>
                        <a:rPr sz="20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Array</a:t>
                      </a:r>
                      <a:r>
                        <a:rPr sz="20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,arrsliced)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22627" y="2103004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6391" y="2132883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numpyslice1d.py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15892" y="2434377"/>
            <a:ext cx="4298950" cy="7080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Original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[2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5]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Sliced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[2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880" y="2119708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1" y="54864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50549" y="2149586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746376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8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727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 Arithmetic Operations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242" y="1165898"/>
          <a:ext cx="7343775" cy="53553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]])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1800" spc="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],[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]])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arradd1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addition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with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arradd2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addition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two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matrices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'Addition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arradd1)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'Addition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arradd2)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arrsub1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substraction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with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arrsub2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substraction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two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matrices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'Substraction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arrsub1)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'Substraction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arrsub2)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arrdiv1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/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substraction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with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arrdiv2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/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substraction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two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matrices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'Division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arrdiv1)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5263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'Division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arrdiv2)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70227" y="83671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1469" y="866592"/>
            <a:ext cx="9956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numpyop.py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73999" y="1168087"/>
            <a:ext cx="3988435" cy="4955540"/>
          </a:xfrm>
          <a:custGeom>
            <a:avLst/>
            <a:gdLst/>
            <a:ahLst/>
            <a:cxnLst/>
            <a:rect l="l" t="t" r="r" b="b"/>
            <a:pathLst>
              <a:path w="3988434" h="4955540">
                <a:moveTo>
                  <a:pt x="3988390" y="4955202"/>
                </a:moveTo>
                <a:lnTo>
                  <a:pt x="0" y="4955202"/>
                </a:lnTo>
                <a:lnTo>
                  <a:pt x="0" y="0"/>
                </a:lnTo>
                <a:lnTo>
                  <a:pt x="3988390" y="0"/>
                </a:lnTo>
                <a:lnTo>
                  <a:pt x="3988390" y="495520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076850" y="1185359"/>
            <a:ext cx="9048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[[3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5]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76850" y="1916878"/>
            <a:ext cx="9048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[[5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9]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59724" y="1185359"/>
            <a:ext cx="1907539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11176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Addition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Scalar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 </a:t>
            </a:r>
            <a:r>
              <a:rPr sz="1600" spc="-8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[3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5]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[3</a:t>
            </a:r>
            <a:r>
              <a:rPr sz="16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5]]</a:t>
            </a:r>
            <a:endParaRPr sz="1600">
              <a:latin typeface="Consolas"/>
              <a:cs typeface="Consolas"/>
            </a:endParaRPr>
          </a:p>
          <a:p>
            <a:pPr marL="111125" marR="5080" indent="-111760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Addition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Matrix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 </a:t>
            </a:r>
            <a:r>
              <a:rPr sz="1600" spc="-8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[5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9]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[5</a:t>
            </a:r>
            <a:r>
              <a:rPr sz="16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9]]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9724" y="2648398"/>
            <a:ext cx="3801745" cy="319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62225" algn="l"/>
                <a:tab pos="3230880" algn="l"/>
                <a:tab pos="3565525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Substractio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n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 Scala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r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[[-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1	0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tabLst>
                <a:tab pos="668655" algn="l"/>
                <a:tab pos="100330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[-1	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tabLst>
                <a:tab pos="668655" algn="l"/>
                <a:tab pos="100330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[-1	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1]]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2562225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Substraction Matrix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 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[[-3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-3</a:t>
            </a:r>
            <a:r>
              <a:rPr sz="16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-3]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[-3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-3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-3]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[-3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-3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-3]]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2116455" algn="l"/>
                <a:tab pos="323088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Division Scalar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 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[[0.5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1.	1.5]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tabLst>
                <a:tab pos="1114425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[0.5 1.	1.5]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tabLst>
                <a:tab pos="1114425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[0.5 1.	1.5]]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2116455" algn="l"/>
                <a:tab pos="3453765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Divisio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n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 Matri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x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[[0.2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 0.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0.5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tabLst>
                <a:tab pos="133731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[0.25 0.4	0.5</a:t>
            </a:r>
            <a:r>
              <a:rPr sz="1600" spc="-6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tabLst>
                <a:tab pos="133731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[0.25 0.4	0.5</a:t>
            </a:r>
            <a:r>
              <a:rPr sz="1600" spc="-6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]]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67829" y="853416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5">
                <a:moveTo>
                  <a:pt x="1433345" y="329195"/>
                </a:moveTo>
                <a:lnTo>
                  <a:pt x="0" y="329178"/>
                </a:lnTo>
                <a:lnTo>
                  <a:pt x="12" y="54865"/>
                </a:lnTo>
                <a:lnTo>
                  <a:pt x="4324" y="33509"/>
                </a:lnTo>
                <a:lnTo>
                  <a:pt x="16081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5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02497" y="883295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355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8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404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25" dirty="0"/>
              <a:t> Arithmetic </a:t>
            </a:r>
            <a:r>
              <a:rPr spc="15" dirty="0"/>
              <a:t>Operations</a:t>
            </a:r>
            <a:r>
              <a:rPr spc="25" dirty="0"/>
              <a:t> 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242" y="1165898"/>
          <a:ext cx="7343775" cy="4247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240"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18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arrmul1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multiply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with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arrmul2</a:t>
                      </a:r>
                      <a:r>
                        <a:rPr sz="18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sz="18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multiply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two</a:t>
                      </a:r>
                      <a:r>
                        <a:rPr sz="1800" i="1" spc="-1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matrices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'Multiply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Scalar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arrmul1)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#Note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its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not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metrix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multiplication*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'Multiply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arrmul2)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order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to</a:t>
                      </a:r>
                      <a:r>
                        <a:rPr sz="18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do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matrix</a:t>
                      </a:r>
                      <a:r>
                        <a:rPr sz="18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multiplication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arrmatmul</a:t>
                      </a:r>
                      <a:r>
                        <a:rPr sz="18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matmul(arr1,arr2)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740" algn="r">
                        <a:lnSpc>
                          <a:spcPts val="1875"/>
                        </a:lnSpc>
                      </a:pPr>
                      <a:r>
                        <a:rPr sz="18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'Matrix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Multiplication</a:t>
                      </a:r>
                      <a:r>
                        <a:rPr sz="18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,arrmatmul)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7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arrdot</a:t>
                      </a:r>
                      <a:r>
                        <a:rPr sz="18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dot(arr2)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'Dot</a:t>
                      </a:r>
                      <a:r>
                        <a:rPr sz="18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,arrdot)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1800" i="1" spc="-7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arrpy3dot5plus</a:t>
                      </a:r>
                      <a:r>
                        <a:rPr sz="1800" spc="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arr1</a:t>
                      </a:r>
                      <a:r>
                        <a:rPr sz="18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@</a:t>
                      </a:r>
                      <a:r>
                        <a:rPr sz="18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915">
                <a:tc>
                  <a:txBody>
                    <a:bodyPr/>
                    <a:lstStyle/>
                    <a:p>
                      <a:pPr marR="7810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75"/>
                        </a:lnSpc>
                      </a:pPr>
                      <a:r>
                        <a:rPr sz="18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'Python</a:t>
                      </a:r>
                      <a:r>
                        <a:rPr sz="18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3.5+ support </a:t>
                      </a:r>
                      <a:r>
                        <a:rPr sz="18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'</a:t>
                      </a:r>
                      <a:r>
                        <a:rPr sz="18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,arrpy3dot5plus)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0227" y="836713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1469" y="866592"/>
            <a:ext cx="9956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numpyop.py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73999" y="1168087"/>
            <a:ext cx="3988435" cy="4032250"/>
          </a:xfrm>
          <a:custGeom>
            <a:avLst/>
            <a:gdLst/>
            <a:ahLst/>
            <a:cxnLst/>
            <a:rect l="l" t="t" r="r" b="b"/>
            <a:pathLst>
              <a:path w="3988434" h="4032250">
                <a:moveTo>
                  <a:pt x="3988390" y="4031872"/>
                </a:moveTo>
                <a:lnTo>
                  <a:pt x="0" y="4031872"/>
                </a:lnTo>
                <a:lnTo>
                  <a:pt x="0" y="0"/>
                </a:lnTo>
                <a:lnTo>
                  <a:pt x="3988390" y="0"/>
                </a:lnTo>
                <a:lnTo>
                  <a:pt x="3988390" y="403187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6850" y="1185359"/>
            <a:ext cx="9048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[[2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6]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6850" y="1916878"/>
            <a:ext cx="12395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</a:t>
            </a:r>
            <a:r>
              <a:rPr sz="16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16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18]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9724" y="1185359"/>
            <a:ext cx="1907539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11176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Multiply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Scalar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 </a:t>
            </a:r>
            <a:r>
              <a:rPr sz="1600" spc="-8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</a:t>
            </a:r>
            <a:r>
              <a:rPr sz="16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6]]</a:t>
            </a:r>
            <a:endParaRPr sz="1600">
              <a:latin typeface="Consolas"/>
              <a:cs typeface="Consolas"/>
            </a:endParaRPr>
          </a:p>
          <a:p>
            <a:pPr marL="111125" marR="5080" indent="-111760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Multiply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Matrix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 </a:t>
            </a:r>
            <a:r>
              <a:rPr sz="1600" spc="-8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[</a:t>
            </a:r>
            <a:r>
              <a:rPr sz="16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16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18]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[</a:t>
            </a:r>
            <a:r>
              <a:rPr sz="16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16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16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18]]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59724" y="2648398"/>
            <a:ext cx="380174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78511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Matrix Multiplication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 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[[24</a:t>
            </a:r>
            <a:r>
              <a:rPr sz="1600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36]]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779780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Dot 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36]]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2562225" algn="l"/>
              </a:tabLst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Python 3.5+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support</a:t>
            </a:r>
            <a:r>
              <a:rPr sz="1600" dirty="0">
                <a:solidFill>
                  <a:srgbClr val="212121"/>
                </a:solidFill>
                <a:latin typeface="Consolas"/>
                <a:cs typeface="Consolas"/>
              </a:rPr>
              <a:t> =	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[[24</a:t>
            </a:r>
            <a:r>
              <a:rPr sz="16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</a:t>
            </a:r>
            <a:endParaRPr sz="16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</a:pP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[24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30</a:t>
            </a:r>
            <a:r>
              <a:rPr sz="16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nsolas"/>
                <a:cs typeface="Consolas"/>
              </a:rPr>
              <a:t>36]]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67829" y="853416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5">
                <a:moveTo>
                  <a:pt x="1433345" y="329195"/>
                </a:moveTo>
                <a:lnTo>
                  <a:pt x="0" y="329178"/>
                </a:lnTo>
                <a:lnTo>
                  <a:pt x="12" y="54865"/>
                </a:lnTo>
                <a:lnTo>
                  <a:pt x="4324" y="33509"/>
                </a:lnTo>
                <a:lnTo>
                  <a:pt x="16081" y="16069"/>
                </a:lnTo>
                <a:lnTo>
                  <a:pt x="33521" y="4311"/>
                </a:lnTo>
                <a:lnTo>
                  <a:pt x="54876" y="0"/>
                </a:lnTo>
                <a:lnTo>
                  <a:pt x="1378485" y="0"/>
                </a:lnTo>
                <a:lnTo>
                  <a:pt x="1417281" y="16069"/>
                </a:lnTo>
                <a:lnTo>
                  <a:pt x="1433351" y="54865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302497" y="883295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661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Sorting</a:t>
            </a:r>
            <a:r>
              <a:rPr spc="-30" dirty="0"/>
              <a:t> </a:t>
            </a:r>
            <a:r>
              <a:rPr spc="35" dirty="0"/>
              <a:t>Array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2641" y="1714793"/>
            <a:ext cx="6527165" cy="12007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1800" b="1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numpy</a:t>
            </a:r>
            <a:r>
              <a:rPr sz="18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np</a:t>
            </a:r>
            <a:endParaRPr sz="1800">
              <a:latin typeface="Consolas"/>
              <a:cs typeface="Consolas"/>
            </a:endParaRPr>
          </a:p>
          <a:p>
            <a:pPr marL="85725" marR="2919095">
              <a:lnSpc>
                <a:spcPct val="100000"/>
              </a:lnSpc>
            </a:pPr>
            <a:r>
              <a:rPr sz="1800" dirty="0">
                <a:solidFill>
                  <a:srgbClr val="689331"/>
                </a:solidFill>
                <a:latin typeface="Consolas"/>
                <a:cs typeface="Consolas"/>
              </a:rPr>
              <a:t># </a:t>
            </a:r>
            <a:r>
              <a:rPr sz="1800" spc="-5" dirty="0">
                <a:solidFill>
                  <a:srgbClr val="689331"/>
                </a:solidFill>
                <a:latin typeface="Consolas"/>
                <a:cs typeface="Consolas"/>
              </a:rPr>
              <a:t>arr </a:t>
            </a:r>
            <a:r>
              <a:rPr sz="1800" dirty="0">
                <a:solidFill>
                  <a:srgbClr val="689331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689331"/>
                </a:solidFill>
                <a:latin typeface="Consolas"/>
                <a:cs typeface="Consolas"/>
              </a:rPr>
              <a:t>our ndarray </a:t>
            </a:r>
            <a:r>
              <a:rPr sz="1800" dirty="0">
                <a:solidFill>
                  <a:srgbClr val="68933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np.sort(arr,axis,kind,order)  </a:t>
            </a:r>
            <a:r>
              <a:rPr sz="1800" dirty="0">
                <a:solidFill>
                  <a:srgbClr val="689331"/>
                </a:solidFill>
                <a:latin typeface="Consolas"/>
                <a:cs typeface="Consolas"/>
              </a:rPr>
              <a:t>#</a:t>
            </a:r>
            <a:r>
              <a:rPr sz="1800" spc="-15" dirty="0">
                <a:solidFill>
                  <a:srgbClr val="68933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89331"/>
                </a:solidFill>
                <a:latin typeface="Consolas"/>
                <a:cs typeface="Consolas"/>
              </a:rPr>
              <a:t>OR</a:t>
            </a:r>
            <a:r>
              <a:rPr sz="1800" spc="-10" dirty="0">
                <a:solidFill>
                  <a:srgbClr val="68933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689331"/>
                </a:solidFill>
                <a:latin typeface="Consolas"/>
                <a:cs typeface="Consolas"/>
              </a:rPr>
              <a:t>arr.sort()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2627" y="1385609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847391"/>
            <a:ext cx="7360920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sort()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returns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sorted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copy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input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array.</a:t>
            </a:r>
            <a:endParaRPr sz="2400">
              <a:latin typeface="Roboto"/>
              <a:cs typeface="Roboto"/>
            </a:endParaRPr>
          </a:p>
          <a:p>
            <a:pPr marL="977265">
              <a:lnSpc>
                <a:spcPct val="100000"/>
              </a:lnSpc>
              <a:spcBef>
                <a:spcPts val="159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86650" y="1710432"/>
            <a:ext cx="4467225" cy="203136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 marR="198120">
              <a:lnSpc>
                <a:spcPct val="100000"/>
              </a:lnSpc>
              <a:spcBef>
                <a:spcPts val="225"/>
              </a:spcBef>
              <a:tabLst>
                <a:tab pos="999490" algn="l"/>
              </a:tabLst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ar</a:t>
            </a:r>
            <a:r>
              <a:rPr sz="1800" b="1" dirty="0">
                <a:solidFill>
                  <a:srgbClr val="212121"/>
                </a:solidFill>
                <a:latin typeface="Consolas"/>
                <a:cs typeface="Consolas"/>
              </a:rPr>
              <a:t>r</a:t>
            </a:r>
            <a:r>
              <a:rPr sz="1800" b="1" spc="-36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 arra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y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 t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o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 sor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t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 (inplace)  </a:t>
            </a: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axis	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axis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sort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(default=0) </a:t>
            </a:r>
            <a:r>
              <a:rPr sz="1800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kind	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kind of algo to use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(‘quicksort’ &lt;- default,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‘mergesort’,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‘heapsort’)</a:t>
            </a:r>
            <a:endParaRPr sz="1800">
              <a:latin typeface="Consolas"/>
              <a:cs typeface="Consolas"/>
            </a:endParaRPr>
          </a:p>
          <a:p>
            <a:pPr marL="85725" marR="450850">
              <a:lnSpc>
                <a:spcPct val="100000"/>
              </a:lnSpc>
              <a:tabLst>
                <a:tab pos="999490" algn="l"/>
              </a:tabLst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order	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on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which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field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we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want </a:t>
            </a:r>
            <a:r>
              <a:rPr sz="1800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sort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(if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multiple</a:t>
            </a:r>
            <a:r>
              <a:rPr sz="18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fields)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88133" y="1395761"/>
            <a:ext cx="1589405" cy="329565"/>
          </a:xfrm>
          <a:custGeom>
            <a:avLst/>
            <a:gdLst/>
            <a:ahLst/>
            <a:cxnLst/>
            <a:rect l="l" t="t" r="r" b="b"/>
            <a:pathLst>
              <a:path w="1589404" h="329564">
                <a:moveTo>
                  <a:pt x="1589184" y="329197"/>
                </a:moveTo>
                <a:lnTo>
                  <a:pt x="0" y="329177"/>
                </a:lnTo>
                <a:lnTo>
                  <a:pt x="13" y="54865"/>
                </a:lnTo>
                <a:lnTo>
                  <a:pt x="4325" y="33509"/>
                </a:lnTo>
                <a:lnTo>
                  <a:pt x="16083" y="16069"/>
                </a:lnTo>
                <a:lnTo>
                  <a:pt x="33522" y="4311"/>
                </a:lnTo>
                <a:lnTo>
                  <a:pt x="54878" y="0"/>
                </a:lnTo>
                <a:lnTo>
                  <a:pt x="1534324" y="0"/>
                </a:lnTo>
                <a:lnTo>
                  <a:pt x="1573121" y="16069"/>
                </a:lnTo>
                <a:lnTo>
                  <a:pt x="1589190" y="54865"/>
                </a:lnTo>
                <a:lnTo>
                  <a:pt x="1589184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09327" y="1425640"/>
            <a:ext cx="94741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45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ameters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22641" y="4303455"/>
          <a:ext cx="6812915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'Darshan'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'Rajkot'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'Insitute'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'of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'Engineering'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"Before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Sorting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2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sort()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i="1" spc="-3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r>
                        <a:rPr sz="2000" i="1" spc="-3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np.sort(arr)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"After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Sorting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522627" y="39742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3695" y="3503653"/>
            <a:ext cx="1795780" cy="7702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692150">
              <a:lnSpc>
                <a:spcPct val="100000"/>
              </a:lnSpc>
              <a:spcBef>
                <a:spcPts val="425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numpysort.py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15892" y="4305644"/>
            <a:ext cx="4298950" cy="1939289"/>
          </a:xfrm>
          <a:custGeom>
            <a:avLst/>
            <a:gdLst/>
            <a:ahLst/>
            <a:cxnLst/>
            <a:rect l="l" t="t" r="r" b="b"/>
            <a:pathLst>
              <a:path w="4298950" h="1939289">
                <a:moveTo>
                  <a:pt x="4298897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4298897" y="0"/>
                </a:lnTo>
                <a:lnTo>
                  <a:pt x="4298897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01618" y="4320883"/>
            <a:ext cx="391287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25069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Befor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Sortin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g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['Darshan'  'Rajkot' 'Insitute' 'of'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'Engineering']</a:t>
            </a:r>
            <a:endParaRPr sz="2000">
              <a:latin typeface="Consolas"/>
              <a:cs typeface="Consolas"/>
            </a:endParaRPr>
          </a:p>
          <a:p>
            <a:pPr marR="144145">
              <a:lnSpc>
                <a:spcPct val="100000"/>
              </a:lnSpc>
              <a:tabLst>
                <a:tab pos="23672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Afte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r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Sortin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g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['Darshan'  'Engineering' 'Insitute'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'Rajkot'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'of']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15880" y="3990973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6"/>
                </a:moveTo>
                <a:lnTo>
                  <a:pt x="0" y="329178"/>
                </a:lnTo>
                <a:lnTo>
                  <a:pt x="11" y="54865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5"/>
                </a:lnTo>
                <a:lnTo>
                  <a:pt x="1433345" y="32919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150549" y="402085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pic>
        <p:nvPicPr>
          <p:cNvPr id="30" name="Picture 2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31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661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Sort</a:t>
            </a:r>
            <a:r>
              <a:rPr dirty="0"/>
              <a:t> </a:t>
            </a:r>
            <a:r>
              <a:rPr spc="35" dirty="0"/>
              <a:t>Array</a:t>
            </a:r>
            <a:r>
              <a:rPr dirty="0"/>
              <a:t> </a:t>
            </a:r>
            <a:r>
              <a:rPr spc="1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242" y="1312604"/>
          <a:ext cx="7049135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dtype([(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'name'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'S10'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'age'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2000" spc="-5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array([(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'Darshan'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'ABC'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'XYZ'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)],dtype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arr2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sort(order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'name'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(arr2)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0227" y="9834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1015" y="1013299"/>
            <a:ext cx="1216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numpysort2.py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3492" y="1314793"/>
            <a:ext cx="4298950" cy="7080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[(b'ABC',</a:t>
            </a:r>
            <a:r>
              <a:rPr sz="20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300)</a:t>
            </a:r>
            <a:r>
              <a:rPr sz="20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(b'Darshan',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200)</a:t>
            </a:r>
            <a:r>
              <a:rPr sz="20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(b'XYZ',</a:t>
            </a:r>
            <a:r>
              <a:rPr sz="20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100)]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63480" y="1000124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5">
                <a:moveTo>
                  <a:pt x="1433345" y="329195"/>
                </a:moveTo>
                <a:lnTo>
                  <a:pt x="0" y="329178"/>
                </a:lnTo>
                <a:lnTo>
                  <a:pt x="11" y="54865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5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98149" y="103000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pic>
        <p:nvPicPr>
          <p:cNvPr id="13" name="Picture 1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4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1" name="object 11"/>
          <p:cNvSpPr txBox="1">
            <a:spLocks/>
          </p:cNvSpPr>
          <p:nvPr/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642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Conditional</a:t>
            </a:r>
            <a:r>
              <a:rPr spc="-5" dirty="0"/>
              <a:t> </a:t>
            </a:r>
            <a:r>
              <a:rPr spc="20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8179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 algn="just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Similar to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arithmetic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operations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when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apply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comparison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operator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Array,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then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 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applied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each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element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new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bool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Array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created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values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True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False.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242" y="2274629"/>
          <a:ext cx="7049135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boolArr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(boolArr)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0227" y="19454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4859" y="1975324"/>
            <a:ext cx="1288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numpycond1.py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3492" y="2276818"/>
            <a:ext cx="4298950" cy="163131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[25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17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24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15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17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97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42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67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22]</a:t>
            </a:r>
            <a:endParaRPr sz="2000">
              <a:latin typeface="Consolas"/>
              <a:cs typeface="Consolas"/>
            </a:endParaRPr>
          </a:p>
          <a:p>
            <a:pPr marL="85725" marR="165735">
              <a:lnSpc>
                <a:spcPct val="100000"/>
              </a:lnSpc>
              <a:tabLst>
                <a:tab pos="1060450" algn="l"/>
                <a:tab pos="3567429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[False</a:t>
            </a:r>
            <a:r>
              <a:rPr sz="2000" spc="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False</a:t>
            </a:r>
            <a:r>
              <a:rPr sz="2000" spc="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False</a:t>
            </a:r>
            <a:r>
              <a:rPr sz="2000" spc="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False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Fals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Tru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Fals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Fals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True  False]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63480" y="1962149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1" y="54864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4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98149" y="1992028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70242" y="4293930"/>
          <a:ext cx="7049135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"All</a:t>
                      </a:r>
                      <a:r>
                        <a:rPr sz="2000" spc="-3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,arr)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boolArr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"Filtered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arr[boolArr])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70227" y="39647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4859" y="3994624"/>
            <a:ext cx="1288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numpycond2.py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563492" y="4296119"/>
          <a:ext cx="4299584" cy="1015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  <a:tabLst>
                          <a:tab pos="1060450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All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	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94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11]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62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Filtered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[94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563480" y="3981448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6"/>
                </a:moveTo>
                <a:lnTo>
                  <a:pt x="0" y="329178"/>
                </a:lnTo>
                <a:lnTo>
                  <a:pt x="11" y="54865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5"/>
                </a:lnTo>
                <a:lnTo>
                  <a:pt x="1433345" y="32919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98149" y="401132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12191999" cy="6857999"/>
            <a:chOff x="0" y="0"/>
            <a:chExt cx="12191999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05330"/>
              <a:ext cx="1901424" cy="9526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4514" y="1"/>
              <a:ext cx="5255701" cy="9917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334" y="4602222"/>
              <a:ext cx="3383665" cy="2255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26694" y="6124097"/>
              <a:ext cx="4356100" cy="0"/>
            </a:xfrm>
            <a:custGeom>
              <a:avLst/>
              <a:gdLst/>
              <a:ahLst/>
              <a:cxnLst/>
              <a:rect l="l" t="t" r="r" b="b"/>
              <a:pathLst>
                <a:path w="4356100">
                  <a:moveTo>
                    <a:pt x="0" y="0"/>
                  </a:moveTo>
                  <a:lnTo>
                    <a:pt x="4356000" y="0"/>
                  </a:lnTo>
                </a:path>
              </a:pathLst>
            </a:custGeom>
            <a:ln w="95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8063" y="6232297"/>
              <a:ext cx="182879" cy="182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8063" y="6505319"/>
              <a:ext cx="182879" cy="1828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47" y="837716"/>
              <a:ext cx="1087892" cy="7721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3568" y="5211250"/>
              <a:ext cx="1353599" cy="1353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25597" y="2015064"/>
              <a:ext cx="3758417" cy="18795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10700" y="5251139"/>
            <a:ext cx="5556899" cy="1961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15" dirty="0">
                <a:solidFill>
                  <a:srgbClr val="BB770B"/>
                </a:solidFill>
                <a:latin typeface="Roboto Cn"/>
                <a:cs typeface="Roboto Cn"/>
              </a:rPr>
              <a:t>ANTRIX COMPUTER ACADEMY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US" spc="-120" dirty="0">
                <a:solidFill>
                  <a:srgbClr val="212121"/>
                </a:solidFill>
                <a:latin typeface="Roboto"/>
                <a:cs typeface="Roboto"/>
              </a:rPr>
              <a:t>DAKSHAY PRAJAPATI</a:t>
            </a:r>
            <a:endParaRPr lang="en-US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pc="-130" dirty="0" err="1">
                <a:solidFill>
                  <a:srgbClr val="212121"/>
                </a:solidFill>
                <a:latin typeface="Roboto"/>
                <a:cs typeface="Roboto"/>
              </a:rPr>
              <a:t>Vastrapur</a:t>
            </a:r>
            <a:r>
              <a:rPr lang="en-US" spc="-130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lang="en-US" spc="-130" dirty="0" err="1">
                <a:solidFill>
                  <a:srgbClr val="212121"/>
                </a:solidFill>
                <a:latin typeface="Roboto"/>
                <a:cs typeface="Roboto"/>
              </a:rPr>
              <a:t>Ahmedabad</a:t>
            </a:r>
            <a:endParaRPr lang="en-US" dirty="0">
              <a:latin typeface="Roboto"/>
              <a:cs typeface="Roboto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pc="-95" dirty="0">
                <a:solidFill>
                  <a:srgbClr val="212121"/>
                </a:solidFill>
                <a:latin typeface="Roboto Lt"/>
                <a:cs typeface="Roboto Lt"/>
                <a:hlinkClick r:id="rId11"/>
              </a:rPr>
              <a:t>antrixcomputer@gmail.com</a:t>
            </a:r>
            <a:endParaRPr lang="en-US" spc="-95" dirty="0">
              <a:solidFill>
                <a:srgbClr val="212121"/>
              </a:solidFill>
              <a:latin typeface="Roboto Lt"/>
              <a:cs typeface="Roboto Lt"/>
            </a:endParaRPr>
          </a:p>
          <a:p>
            <a:pPr marL="358775" marR="1924050" indent="-3175">
              <a:lnSpc>
                <a:spcPct val="116599"/>
              </a:lnSpc>
              <a:spcBef>
                <a:spcPts val="525"/>
              </a:spcBef>
            </a:pPr>
            <a:r>
              <a:rPr lang="en-US" spc="-114" dirty="0">
                <a:solidFill>
                  <a:srgbClr val="212121"/>
                </a:solidFill>
                <a:latin typeface="Roboto Lt"/>
                <a:cs typeface="Roboto Lt"/>
              </a:rPr>
              <a:t>9998155657</a:t>
            </a:r>
            <a:endParaRPr lang="en-US" sz="1800" b="1" spc="15" dirty="0">
              <a:solidFill>
                <a:srgbClr val="BB770B"/>
              </a:solidFill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>
              <a:latin typeface="Roboto Cn"/>
              <a:cs typeface="Roboto C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030451" y="220476"/>
            <a:ext cx="3741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40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800" b="0" spc="-135" dirty="0">
                <a:solidFill>
                  <a:srgbClr val="FFFFFF"/>
                </a:solidFill>
                <a:latin typeface="Roboto"/>
                <a:cs typeface="Roboto"/>
              </a:rPr>
              <a:t>ytho</a:t>
            </a:r>
            <a:r>
              <a:rPr sz="1800" b="0" spc="-150" dirty="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90" dirty="0">
                <a:solidFill>
                  <a:srgbClr val="FFFFFF"/>
                </a:solidFill>
                <a:latin typeface="Roboto"/>
                <a:cs typeface="Roboto"/>
              </a:rPr>
              <a:t>fo</a:t>
            </a:r>
            <a:r>
              <a:rPr sz="1800" b="0" spc="-65" dirty="0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35" dirty="0">
                <a:solidFill>
                  <a:srgbClr val="FFFFFF"/>
                </a:solidFill>
                <a:latin typeface="Roboto"/>
                <a:cs typeface="Roboto"/>
              </a:rPr>
              <a:t>Dat</a:t>
            </a:r>
            <a:r>
              <a:rPr sz="1800" b="0" spc="-14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20" dirty="0">
                <a:solidFill>
                  <a:srgbClr val="FFFFFF"/>
                </a:solidFill>
                <a:latin typeface="Roboto"/>
                <a:cs typeface="Roboto"/>
              </a:rPr>
              <a:t>Science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30" dirty="0">
                <a:solidFill>
                  <a:srgbClr val="FFFFFF"/>
                </a:solidFill>
                <a:latin typeface="Roboto"/>
                <a:cs typeface="Roboto"/>
              </a:rPr>
              <a:t>(PDS</a:t>
            </a:r>
            <a:r>
              <a:rPr sz="1800" b="0" spc="-75" dirty="0">
                <a:solidFill>
                  <a:srgbClr val="FFFFFF"/>
                </a:solidFill>
                <a:latin typeface="Roboto"/>
                <a:cs typeface="Roboto"/>
              </a:rPr>
              <a:t>)</a:t>
            </a:r>
            <a:r>
              <a:rPr sz="1800" b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b="0" spc="-110" dirty="0">
                <a:solidFill>
                  <a:srgbClr val="FFFFFF"/>
                </a:solidFill>
                <a:latin typeface="Roboto"/>
                <a:cs typeface="Roboto"/>
              </a:rPr>
              <a:t>(3150713)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8806" y="5206488"/>
            <a:ext cx="1363345" cy="1363345"/>
          </a:xfrm>
          <a:custGeom>
            <a:avLst/>
            <a:gdLst/>
            <a:ahLst/>
            <a:cxnLst/>
            <a:rect l="l" t="t" r="r" b="b"/>
            <a:pathLst>
              <a:path w="1363345" h="1363345">
                <a:moveTo>
                  <a:pt x="0" y="0"/>
                </a:moveTo>
                <a:lnTo>
                  <a:pt x="1363123" y="0"/>
                </a:lnTo>
                <a:lnTo>
                  <a:pt x="1363123" y="1363123"/>
                </a:lnTo>
                <a:lnTo>
                  <a:pt x="0" y="136312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0488" y="1064858"/>
            <a:ext cx="3531912" cy="24172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705"/>
              </a:spcBef>
            </a:pPr>
            <a:r>
              <a:rPr sz="4800" spc="-325" dirty="0">
                <a:solidFill>
                  <a:srgbClr val="363636"/>
                </a:solidFill>
                <a:latin typeface="Roboto Lt"/>
                <a:cs typeface="Roboto Lt"/>
              </a:rPr>
              <a:t>Unit-03.02 </a:t>
            </a:r>
            <a:r>
              <a:rPr sz="4800" spc="-320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5400" spc="-320" dirty="0">
                <a:solidFill>
                  <a:srgbClr val="363636"/>
                </a:solidFill>
                <a:latin typeface="Roboto"/>
                <a:cs typeface="Roboto"/>
              </a:rPr>
              <a:t>Let</a:t>
            </a:r>
            <a:r>
              <a:rPr sz="5400" spc="-350" dirty="0">
                <a:solidFill>
                  <a:srgbClr val="363636"/>
                </a:solidFill>
                <a:latin typeface="Roboto"/>
                <a:cs typeface="Roboto"/>
              </a:rPr>
              <a:t>s</a:t>
            </a:r>
            <a:r>
              <a:rPr sz="5400" spc="-11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5400" spc="-315" dirty="0">
                <a:solidFill>
                  <a:srgbClr val="363636"/>
                </a:solidFill>
                <a:latin typeface="Roboto"/>
                <a:cs typeface="Roboto"/>
              </a:rPr>
              <a:t>Learn  </a:t>
            </a:r>
            <a:r>
              <a:rPr sz="6600" b="1" spc="25" dirty="0">
                <a:solidFill>
                  <a:srgbClr val="363636"/>
                </a:solidFill>
                <a:latin typeface="Roboto Cn"/>
                <a:cs typeface="Roboto Cn"/>
              </a:rPr>
              <a:t>Pand</a:t>
            </a:r>
            <a:r>
              <a:rPr lang="en-US" sz="6600" b="1" spc="25" dirty="0">
                <a:solidFill>
                  <a:srgbClr val="363636"/>
                </a:solidFill>
                <a:latin typeface="Roboto Cn"/>
                <a:cs typeface="Roboto Cn"/>
              </a:rPr>
              <a:t>a</a:t>
            </a:r>
            <a:r>
              <a:rPr sz="6600" b="1" spc="25" dirty="0">
                <a:solidFill>
                  <a:srgbClr val="363636"/>
                </a:solidFill>
                <a:latin typeface="Roboto Cn"/>
                <a:cs typeface="Roboto Cn"/>
              </a:rPr>
              <a:t>s</a:t>
            </a:r>
            <a:endParaRPr sz="6600" dirty="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1" name="object 17"/>
          <p:cNvSpPr txBox="1">
            <a:spLocks/>
          </p:cNvSpPr>
          <p:nvPr/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375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P</a:t>
            </a:r>
            <a:r>
              <a:rPr spc="10" dirty="0"/>
              <a:t>andas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0511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7116445" cy="31553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open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source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library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built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top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NumPy.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allows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fast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cleaning,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preparation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analysis.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cel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pe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formanc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roductivit</a:t>
            </a:r>
            <a:r>
              <a:rPr sz="2400" spc="-34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built-in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visualization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features.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wor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27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wid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ariety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sou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ces.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210"/>
              </a:spcBef>
              <a:tabLst>
                <a:tab pos="852169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cond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895" y="3913678"/>
            <a:ext cx="2529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70" algn="l"/>
              </a:tabLst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pi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779" y="3939669"/>
            <a:ext cx="28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75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1066800" y="228600"/>
            <a:ext cx="5381625" cy="3101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675" indent="-435609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116666"/>
              <a:buFont typeface="MS PGothic"/>
              <a:buChar char="✓"/>
              <a:tabLst>
                <a:tab pos="448309" algn="l"/>
              </a:tabLst>
            </a:pPr>
            <a:r>
              <a:rPr sz="3600" b="1" spc="7" baseline="1157" dirty="0">
                <a:solidFill>
                  <a:srgbClr val="212121"/>
                </a:solidFill>
                <a:latin typeface="Roboto Cn"/>
                <a:cs typeface="Roboto Cn"/>
              </a:rPr>
              <a:t>Outline</a:t>
            </a:r>
            <a:r>
              <a:rPr sz="3600" b="1" spc="-15" baseline="1157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3600" b="1" spc="15" baseline="1157" dirty="0">
                <a:solidFill>
                  <a:srgbClr val="212121"/>
                </a:solidFill>
                <a:latin typeface="Roboto Cn"/>
                <a:cs typeface="Roboto Cn"/>
              </a:rPr>
              <a:t>(Pandas)</a:t>
            </a:r>
            <a:endParaRPr sz="3600" baseline="1157">
              <a:latin typeface="Roboto Cn"/>
              <a:cs typeface="Roboto Cn"/>
            </a:endParaRPr>
          </a:p>
          <a:p>
            <a:pPr marL="338455">
              <a:lnSpc>
                <a:spcPct val="100000"/>
              </a:lnSpc>
              <a:spcBef>
                <a:spcPts val="2135"/>
              </a:spcBef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Series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ames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Accessing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text,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CSV,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Excel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ﬁles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Accessin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SQ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Database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Missin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ou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Me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ging</a:t>
            </a:r>
            <a:r>
              <a:rPr sz="2000" spc="-5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Joinin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&amp;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Concatenating</a:t>
            </a:r>
            <a:endParaRPr sz="2000">
              <a:latin typeface="Roboto"/>
              <a:cs typeface="Roboto"/>
            </a:endParaRPr>
          </a:p>
          <a:p>
            <a:pPr marL="338455">
              <a:lnSpc>
                <a:spcPct val="100000"/>
              </a:lnSpc>
              <a:tabLst>
                <a:tab pos="893444" algn="l"/>
              </a:tabLst>
            </a:pPr>
            <a:r>
              <a:rPr sz="2000" spc="254" dirty="0">
                <a:solidFill>
                  <a:srgbClr val="212121"/>
                </a:solidFill>
                <a:latin typeface="Segoe UI Symbol"/>
                <a:cs typeface="Segoe UI Symbol"/>
              </a:rPr>
              <a:t>✔	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Operations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4" name="Picture 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5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33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3613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Series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79765" y="2638718"/>
            <a:ext cx="6916420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1800" b="1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pandas</a:t>
            </a:r>
            <a:r>
              <a:rPr sz="18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pd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pd.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S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eries(data,index,dtype,copy=False)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751" y="2309534"/>
            <a:ext cx="1885314" cy="329565"/>
          </a:xfrm>
          <a:custGeom>
            <a:avLst/>
            <a:gdLst/>
            <a:ahLst/>
            <a:cxnLst/>
            <a:rect l="l" t="t" r="r" b="b"/>
            <a:pathLst>
              <a:path w="1885314" h="329564">
                <a:moveTo>
                  <a:pt x="1884968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30110" y="0"/>
                </a:lnTo>
                <a:lnTo>
                  <a:pt x="1868906" y="16069"/>
                </a:lnTo>
                <a:lnTo>
                  <a:pt x="1884975" y="54864"/>
                </a:lnTo>
                <a:lnTo>
                  <a:pt x="1884968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86650" y="2634357"/>
            <a:ext cx="4467225" cy="1200785"/>
          </a:xfrm>
          <a:custGeom>
            <a:avLst/>
            <a:gdLst/>
            <a:ahLst/>
            <a:cxnLst/>
            <a:rect l="l" t="t" r="r" b="b"/>
            <a:pathLst>
              <a:path w="4467225" h="1200785">
                <a:moveTo>
                  <a:pt x="4467225" y="1200328"/>
                </a:moveTo>
                <a:lnTo>
                  <a:pt x="0" y="1200328"/>
                </a:lnTo>
                <a:lnTo>
                  <a:pt x="0" y="0"/>
                </a:lnTo>
                <a:lnTo>
                  <a:pt x="4467225" y="0"/>
                </a:lnTo>
                <a:lnTo>
                  <a:pt x="4467225" y="120032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72375" y="2650613"/>
            <a:ext cx="640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data </a:t>
            </a:r>
            <a:r>
              <a:rPr sz="1800" b="1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index  dtype  copy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86775" y="2650613"/>
            <a:ext cx="30226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like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Iterable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like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index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7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data-type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bool,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default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False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88133" y="2319686"/>
            <a:ext cx="1589405" cy="329565"/>
          </a:xfrm>
          <a:custGeom>
            <a:avLst/>
            <a:gdLst/>
            <a:ahLst/>
            <a:cxnLst/>
            <a:rect l="l" t="t" r="r" b="b"/>
            <a:pathLst>
              <a:path w="1589404" h="329564">
                <a:moveTo>
                  <a:pt x="1589184" y="329197"/>
                </a:moveTo>
                <a:lnTo>
                  <a:pt x="0" y="329177"/>
                </a:lnTo>
                <a:lnTo>
                  <a:pt x="13" y="54865"/>
                </a:lnTo>
                <a:lnTo>
                  <a:pt x="4325" y="33509"/>
                </a:lnTo>
                <a:lnTo>
                  <a:pt x="16083" y="16069"/>
                </a:lnTo>
                <a:lnTo>
                  <a:pt x="33522" y="4311"/>
                </a:lnTo>
                <a:lnTo>
                  <a:pt x="54878" y="0"/>
                </a:lnTo>
                <a:lnTo>
                  <a:pt x="1534324" y="0"/>
                </a:lnTo>
                <a:lnTo>
                  <a:pt x="1573121" y="16069"/>
                </a:lnTo>
                <a:lnTo>
                  <a:pt x="1589190" y="54865"/>
                </a:lnTo>
                <a:lnTo>
                  <a:pt x="1589184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3695" y="756967"/>
            <a:ext cx="10162540" cy="18624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Serie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one-dimensional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*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axis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labels.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supports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integer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label-based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but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must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hashable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type.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assign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integer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zero-based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index.</a:t>
            </a:r>
            <a:endParaRPr sz="2400">
              <a:latin typeface="Roboto"/>
              <a:cs typeface="Roboto"/>
            </a:endParaRPr>
          </a:p>
          <a:p>
            <a:pPr marL="887094">
              <a:lnSpc>
                <a:spcPct val="100000"/>
              </a:lnSpc>
              <a:spcBef>
                <a:spcPts val="1764"/>
              </a:spcBef>
              <a:tabLst>
                <a:tab pos="7647940" algn="l"/>
              </a:tabLst>
            </a:pPr>
            <a:r>
              <a:rPr sz="2400" spc="-172" baseline="3472" dirty="0">
                <a:solidFill>
                  <a:srgbClr val="FFFFFF"/>
                </a:solidFill>
                <a:latin typeface="Roboto"/>
                <a:cs typeface="Roboto"/>
              </a:rPr>
              <a:t>syntax	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Parameters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70242" y="4274880"/>
          <a:ext cx="7049135" cy="1015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S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eries([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62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(s)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370227" y="39456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6935" y="3975574"/>
            <a:ext cx="13455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pandasSeries.py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63492" y="4277069"/>
            <a:ext cx="4298950" cy="2247265"/>
          </a:xfrm>
          <a:custGeom>
            <a:avLst/>
            <a:gdLst/>
            <a:ahLst/>
            <a:cxnLst/>
            <a:rect l="l" t="t" r="r" b="b"/>
            <a:pathLst>
              <a:path w="4298950" h="2247265">
                <a:moveTo>
                  <a:pt x="4298897" y="2246768"/>
                </a:moveTo>
                <a:lnTo>
                  <a:pt x="0" y="2246768"/>
                </a:lnTo>
                <a:lnTo>
                  <a:pt x="0" y="0"/>
                </a:lnTo>
                <a:lnTo>
                  <a:pt x="4298897" y="0"/>
                </a:lnTo>
                <a:lnTo>
                  <a:pt x="4298897" y="224676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7617468" y="4370369"/>
          <a:ext cx="1040130" cy="177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636518" y="6121108"/>
            <a:ext cx="16979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dtype:</a:t>
            </a:r>
            <a:r>
              <a:rPr sz="2000" spc="-9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63480" y="3962398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6"/>
                </a:moveTo>
                <a:lnTo>
                  <a:pt x="0" y="329178"/>
                </a:lnTo>
                <a:lnTo>
                  <a:pt x="11" y="54865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5"/>
                </a:lnTo>
                <a:lnTo>
                  <a:pt x="1433345" y="32919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98149" y="39922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1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679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Series</a:t>
            </a:r>
            <a:r>
              <a:rPr spc="-15" dirty="0"/>
              <a:t>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450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8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then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elements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inside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Series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just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like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array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square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brackets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notation.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242" y="1693604"/>
          <a:ext cx="7049135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Series([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"S[0]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s[0])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s[0]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s[1]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"Sum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0227" y="13644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8405" y="1394299"/>
            <a:ext cx="12026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pdSeriesEle.py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3492" y="1695793"/>
            <a:ext cx="4298950" cy="7080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S[0]</a:t>
            </a:r>
            <a:r>
              <a:rPr sz="20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Sum</a:t>
            </a:r>
            <a:r>
              <a:rPr sz="20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63480" y="1381124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1" y="54865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5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98149" y="141100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70242" y="4360605"/>
          <a:ext cx="7344410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4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Series([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 </a:t>
                      </a:r>
                      <a:r>
                        <a:rPr sz="2000" b="1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'str'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"S[0]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s[0])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s[0]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s[1]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"Sum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70227" y="40314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3695" y="3417928"/>
            <a:ext cx="7665084" cy="91313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type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Series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5" dirty="0">
                <a:solidFill>
                  <a:srgbClr val="212121"/>
                </a:solidFill>
                <a:latin typeface="Roboto Cn"/>
                <a:cs typeface="Roboto Cn"/>
              </a:rPr>
              <a:t>dtype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parameter</a:t>
            </a:r>
            <a:endParaRPr sz="2400">
              <a:latin typeface="Roboto"/>
              <a:cs typeface="Roboto"/>
            </a:endParaRPr>
          </a:p>
          <a:p>
            <a:pPr marL="398145">
              <a:lnSpc>
                <a:spcPct val="100000"/>
              </a:lnSpc>
              <a:spcBef>
                <a:spcPts val="87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pdSeriesdtype.py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925" y="4362794"/>
            <a:ext cx="4080510" cy="7080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S[0]</a:t>
            </a:r>
            <a:r>
              <a:rPr sz="200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Sum</a:t>
            </a:r>
            <a:r>
              <a:rPr sz="200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13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62864" y="4048123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97840" y="407800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899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Series</a:t>
            </a:r>
            <a:r>
              <a:rPr spc="-15" dirty="0"/>
              <a:t> </a:t>
            </a:r>
            <a:r>
              <a:rPr spc="25" dirty="0"/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242" y="1760279"/>
          <a:ext cx="7820660" cy="193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'name'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'address'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'phone'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'email'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'website'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'darshan'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'rj'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123'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'd@d.com'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'darshan.ac.in'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Series(data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d,index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(s)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0227" y="14310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847391"/>
            <a:ext cx="9046505" cy="88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6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Series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help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index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parameter</a:t>
            </a:r>
            <a:endParaRPr sz="2400">
              <a:latin typeface="Roboto"/>
              <a:cs typeface="Roboto"/>
            </a:endParaRPr>
          </a:p>
          <a:p>
            <a:pPr marL="398145">
              <a:lnSpc>
                <a:spcPct val="100000"/>
              </a:lnSpc>
              <a:spcBef>
                <a:spcPts val="195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pdSeriesdtype.py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05799" y="1762468"/>
            <a:ext cx="3556635" cy="1939289"/>
          </a:xfrm>
          <a:custGeom>
            <a:avLst/>
            <a:gdLst/>
            <a:ahLst/>
            <a:cxnLst/>
            <a:rect l="l" t="t" r="r" b="b"/>
            <a:pathLst>
              <a:path w="3556634" h="1939289">
                <a:moveTo>
                  <a:pt x="3556590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3556590" y="0"/>
                </a:lnTo>
                <a:lnTo>
                  <a:pt x="3556590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91524" y="1777708"/>
            <a:ext cx="98742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address  phone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email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website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3999" y="1777708"/>
            <a:ext cx="18262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darshan</a:t>
            </a:r>
            <a:endParaRPr sz="2000">
              <a:latin typeface="Consolas"/>
              <a:cs typeface="Consolas"/>
            </a:endParaRPr>
          </a:p>
          <a:p>
            <a:pPr marL="1394460" marR="5080" indent="138430" algn="r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rj  123</a:t>
            </a:r>
            <a:endParaRPr sz="2000">
              <a:latin typeface="Consolas"/>
              <a:cs typeface="Consolas"/>
            </a:endParaRPr>
          </a:p>
          <a:p>
            <a:pPr marR="5080" indent="836930" algn="r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  <a:hlinkClick r:id="rId2"/>
              </a:rPr>
              <a:t>d@d.com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darshan.ac.in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1524" y="3301709"/>
            <a:ext cx="18243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dtype:</a:t>
            </a:r>
            <a:r>
              <a:rPr sz="2000" spc="-9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object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15314" y="1447799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50290" y="14776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365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16" name="Picture 15" descr="antrix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7" name="object 17"/>
          <p:cNvSpPr txBox="1">
            <a:spLocks/>
          </p:cNvSpPr>
          <p:nvPr/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6" name="object 17"/>
          <p:cNvSpPr txBox="1">
            <a:spLocks/>
          </p:cNvSpPr>
          <p:nvPr/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584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Creating</a:t>
            </a:r>
            <a:r>
              <a:rPr spc="-100" dirty="0"/>
              <a:t> </a:t>
            </a:r>
            <a:r>
              <a:rPr spc="50" dirty="0"/>
              <a:t>Time</a:t>
            </a:r>
            <a:r>
              <a:rPr spc="-5" dirty="0"/>
              <a:t> </a:t>
            </a:r>
            <a:r>
              <a:rPr spc="40" dirty="0"/>
              <a:t>Series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9124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inbuilt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date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time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series.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242" y="1693604"/>
          <a:ext cx="7049135" cy="2554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dates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to_datetime(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"27th</a:t>
                      </a:r>
                      <a:r>
                        <a:rPr sz="20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sz="20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July,</a:t>
                      </a:r>
                      <a:r>
                        <a:rPr sz="20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2020"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dates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to_timedelta(np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arange(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unit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</a:t>
                      </a:r>
                      <a:r>
                        <a:rPr sz="200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53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time_series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Series(data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d,index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044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(time_series)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0227" y="13644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8405" y="1394299"/>
            <a:ext cx="12026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pdSeriesEle.py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63492" y="1695793"/>
            <a:ext cx="4298950" cy="1939289"/>
          </a:xfrm>
          <a:custGeom>
            <a:avLst/>
            <a:gdLst/>
            <a:ahLst/>
            <a:cxnLst/>
            <a:rect l="l" t="t" r="r" b="b"/>
            <a:pathLst>
              <a:path w="4298950" h="1939289">
                <a:moveTo>
                  <a:pt x="4298897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4298897" y="0"/>
                </a:lnTo>
                <a:lnTo>
                  <a:pt x="4298897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74605" y="1725594"/>
          <a:ext cx="2335530" cy="19091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74295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2020-07-27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2020-07-28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2020-07-29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2020-07-30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2020-07-31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dtype:</a:t>
                      </a:r>
                      <a:r>
                        <a:rPr sz="20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int64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563480" y="1381124"/>
            <a:ext cx="1433830" cy="329565"/>
          </a:xfrm>
          <a:custGeom>
            <a:avLst/>
            <a:gdLst/>
            <a:ahLst/>
            <a:cxnLst/>
            <a:rect l="l" t="t" r="r" b="b"/>
            <a:pathLst>
              <a:path w="1433829" h="329564">
                <a:moveTo>
                  <a:pt x="1433345" y="329195"/>
                </a:moveTo>
                <a:lnTo>
                  <a:pt x="0" y="329178"/>
                </a:lnTo>
                <a:lnTo>
                  <a:pt x="11" y="54865"/>
                </a:lnTo>
                <a:lnTo>
                  <a:pt x="4323" y="33509"/>
                </a:lnTo>
                <a:lnTo>
                  <a:pt x="16081" y="16069"/>
                </a:lnTo>
                <a:lnTo>
                  <a:pt x="33520" y="4311"/>
                </a:lnTo>
                <a:lnTo>
                  <a:pt x="54876" y="0"/>
                </a:lnTo>
                <a:lnTo>
                  <a:pt x="1378486" y="0"/>
                </a:lnTo>
                <a:lnTo>
                  <a:pt x="1417281" y="16069"/>
                </a:lnTo>
                <a:lnTo>
                  <a:pt x="1433350" y="54865"/>
                </a:lnTo>
                <a:lnTo>
                  <a:pt x="1433345" y="32919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998149" y="141100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2891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0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2622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spc="-45" dirty="0"/>
              <a:t> </a:t>
            </a:r>
            <a:r>
              <a:rPr spc="5" dirty="0"/>
              <a:t>Frames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88775" cy="344042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frames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dimensional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structure,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i.e.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aligned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tabular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format</a:t>
            </a:r>
            <a:r>
              <a:rPr sz="2400" spc="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rows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columns.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also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contain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labelled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ow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columns.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eatu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75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si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z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e-mutable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Ha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labelled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Columns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different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types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pe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000" spc="-204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arithmetic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ations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ow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columns.</a:t>
            </a:r>
            <a:endParaRPr sz="20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Structu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1200" y="4275666"/>
          <a:ext cx="8128000" cy="2225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PDS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Algo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SE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INS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101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102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103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1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….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160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4" name="object 17"/>
          <p:cNvSpPr txBox="1">
            <a:spLocks/>
          </p:cNvSpPr>
          <p:nvPr/>
        </p:nvSpPr>
        <p:spPr>
          <a:xfrm>
            <a:off x="911224" y="6632340"/>
            <a:ext cx="3279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575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spc="-5" dirty="0"/>
              <a:t> </a:t>
            </a:r>
            <a:r>
              <a:rPr spc="5" dirty="0"/>
              <a:t>Frames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765" y="1648118"/>
            <a:ext cx="700214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1800" b="1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pandas</a:t>
            </a:r>
            <a:r>
              <a:rPr sz="18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nsolas"/>
                <a:cs typeface="Consolas"/>
              </a:rPr>
              <a:t>pd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df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pd.</a:t>
            </a: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DataFrame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(data,index,columns,dtype,copy=False)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9751" y="1318934"/>
            <a:ext cx="1885314" cy="329565"/>
          </a:xfrm>
          <a:custGeom>
            <a:avLst/>
            <a:gdLst/>
            <a:ahLst/>
            <a:cxnLst/>
            <a:rect l="l" t="t" r="r" b="b"/>
            <a:pathLst>
              <a:path w="1885314" h="329564">
                <a:moveTo>
                  <a:pt x="1884968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30110" y="0"/>
                </a:lnTo>
                <a:lnTo>
                  <a:pt x="1868906" y="16069"/>
                </a:lnTo>
                <a:lnTo>
                  <a:pt x="1884975" y="54865"/>
                </a:lnTo>
                <a:lnTo>
                  <a:pt x="1884968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643899"/>
            <a:ext cx="1421765" cy="974725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Synta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887094">
              <a:lnSpc>
                <a:spcPct val="100000"/>
              </a:lnSpc>
              <a:spcBef>
                <a:spcPts val="1070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86650" y="1643757"/>
            <a:ext cx="4467225" cy="1477645"/>
          </a:xfrm>
          <a:custGeom>
            <a:avLst/>
            <a:gdLst/>
            <a:ahLst/>
            <a:cxnLst/>
            <a:rect l="l" t="t" r="r" b="b"/>
            <a:pathLst>
              <a:path w="4467225" h="1477645">
                <a:moveTo>
                  <a:pt x="4467225" y="1477327"/>
                </a:moveTo>
                <a:lnTo>
                  <a:pt x="0" y="1477327"/>
                </a:lnTo>
                <a:lnTo>
                  <a:pt x="0" y="0"/>
                </a:lnTo>
                <a:lnTo>
                  <a:pt x="4467225" y="0"/>
                </a:lnTo>
                <a:lnTo>
                  <a:pt x="4467225" y="147732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72375" y="1660013"/>
            <a:ext cx="640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data </a:t>
            </a:r>
            <a:r>
              <a:rPr sz="1800" b="1" spc="-9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index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86775" y="1660013"/>
            <a:ext cx="2771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like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Iterable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like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row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index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2375" y="2208652"/>
            <a:ext cx="39370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columns</a:t>
            </a:r>
            <a:r>
              <a:rPr sz="1800" b="1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array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like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col</a:t>
            </a:r>
            <a:r>
              <a:rPr sz="18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index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913765" algn="l"/>
              </a:tabLst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dtype	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7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data-type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913765" algn="l"/>
              </a:tabLst>
            </a:pPr>
            <a:r>
              <a:rPr sz="1800" b="1" spc="-5" dirty="0">
                <a:solidFill>
                  <a:srgbClr val="212121"/>
                </a:solidFill>
                <a:latin typeface="Consolas"/>
                <a:cs typeface="Consolas"/>
              </a:rPr>
              <a:t>copy	</a:t>
            </a:r>
            <a:r>
              <a:rPr sz="18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bool,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default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is</a:t>
            </a:r>
            <a:r>
              <a:rPr sz="18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False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88133" y="1329086"/>
            <a:ext cx="1589405" cy="329565"/>
          </a:xfrm>
          <a:custGeom>
            <a:avLst/>
            <a:gdLst/>
            <a:ahLst/>
            <a:cxnLst/>
            <a:rect l="l" t="t" r="r" b="b"/>
            <a:pathLst>
              <a:path w="1589404" h="329564">
                <a:moveTo>
                  <a:pt x="1589184" y="329197"/>
                </a:moveTo>
                <a:lnTo>
                  <a:pt x="0" y="329177"/>
                </a:lnTo>
                <a:lnTo>
                  <a:pt x="13" y="54865"/>
                </a:lnTo>
                <a:lnTo>
                  <a:pt x="4325" y="33509"/>
                </a:lnTo>
                <a:lnTo>
                  <a:pt x="16083" y="16069"/>
                </a:lnTo>
                <a:lnTo>
                  <a:pt x="33522" y="4311"/>
                </a:lnTo>
                <a:lnTo>
                  <a:pt x="54878" y="0"/>
                </a:lnTo>
                <a:lnTo>
                  <a:pt x="1534324" y="0"/>
                </a:lnTo>
                <a:lnTo>
                  <a:pt x="1573121" y="16069"/>
                </a:lnTo>
                <a:lnTo>
                  <a:pt x="1589190" y="54865"/>
                </a:lnTo>
                <a:lnTo>
                  <a:pt x="1589184" y="32919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09327" y="1358965"/>
            <a:ext cx="94741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45" dirty="0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ameters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192879"/>
              </p:ext>
            </p:extLst>
          </p:nvPr>
        </p:nvGraphicFramePr>
        <p:xfrm>
          <a:off x="370242" y="3865305"/>
          <a:ext cx="7820660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randArr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reshape(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DataFrame(randArr,np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arange(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106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'PDS'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lgo'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'INS’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370227" y="35361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3695" y="3020417"/>
            <a:ext cx="1752600" cy="81534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432434">
              <a:lnSpc>
                <a:spcPct val="100000"/>
              </a:lnSpc>
              <a:spcBef>
                <a:spcPts val="565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pdDataFrame.py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05799" y="3867494"/>
            <a:ext cx="3556635" cy="1939289"/>
          </a:xfrm>
          <a:custGeom>
            <a:avLst/>
            <a:gdLst/>
            <a:ahLst/>
            <a:cxnLst/>
            <a:rect l="l" t="t" r="r" b="b"/>
            <a:pathLst>
              <a:path w="3556634" h="1939289">
                <a:moveTo>
                  <a:pt x="3556590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3556590" y="0"/>
                </a:lnTo>
                <a:lnTo>
                  <a:pt x="3556590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391524" y="3882733"/>
            <a:ext cx="321881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697230">
              <a:lnSpc>
                <a:spcPct val="100000"/>
              </a:lnSpc>
              <a:spcBef>
                <a:spcPts val="100"/>
              </a:spcBef>
              <a:tabLst>
                <a:tab pos="975360" algn="l"/>
                <a:tab pos="1393190" algn="l"/>
                <a:tab pos="1671955" algn="l"/>
                <a:tab pos="2229485" algn="l"/>
                <a:tab pos="2787015" algn="l"/>
                <a:tab pos="29260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S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Alg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o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INS  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0	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46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835660" algn="l"/>
                <a:tab pos="1671955" algn="l"/>
                <a:tab pos="2229485" algn="l"/>
                <a:tab pos="29260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12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835660" algn="l"/>
                <a:tab pos="1671955" algn="l"/>
                <a:tab pos="2368550" algn="l"/>
                <a:tab pos="29260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6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89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835660" algn="l"/>
                <a:tab pos="1671955" algn="l"/>
                <a:tab pos="2229485" algn="l"/>
                <a:tab pos="29260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6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50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835660" algn="l"/>
                <a:tab pos="1671955" algn="l"/>
                <a:tab pos="2229485" algn="l"/>
                <a:tab pos="29260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87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15314" y="3552823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50290" y="358270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060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32" name="object 20"/>
          <p:cNvSpPr txBox="1">
            <a:spLocks/>
          </p:cNvSpPr>
          <p:nvPr/>
        </p:nvSpPr>
        <p:spPr>
          <a:xfrm>
            <a:off x="911224" y="6632340"/>
            <a:ext cx="2060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584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spc="-5" dirty="0"/>
              <a:t> </a:t>
            </a:r>
            <a:r>
              <a:rPr spc="5" dirty="0"/>
              <a:t>Frames </a:t>
            </a:r>
            <a:r>
              <a:rPr spc="25" dirty="0"/>
              <a:t>(Cont.)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242" y="1645979"/>
          <a:ext cx="7820660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randArr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reshape(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DataFrame(randArr,np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arange(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106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'PDS'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lgo'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'PDS'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70227" y="13167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347" y="701834"/>
            <a:ext cx="3100705" cy="91440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87960" indent="-175895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188595" algn="l"/>
              </a:tabLst>
            </a:pPr>
            <a:r>
              <a:rPr sz="2800" spc="-25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800" spc="-190" dirty="0">
                <a:solidFill>
                  <a:srgbClr val="212121"/>
                </a:solidFill>
                <a:latin typeface="Roboto"/>
                <a:cs typeface="Roboto"/>
              </a:rPr>
              <a:t>rabbing</a:t>
            </a:r>
            <a:r>
              <a:rPr sz="28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800" spc="-170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800" spc="-19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8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800" spc="-21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endParaRPr sz="2800">
              <a:latin typeface="Roboto"/>
              <a:cs typeface="Roboto"/>
            </a:endParaRPr>
          </a:p>
          <a:p>
            <a:pPr marL="612140">
              <a:lnSpc>
                <a:spcPct val="100000"/>
              </a:lnSpc>
              <a:spcBef>
                <a:spcPts val="62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dfGrabCol.py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305799" y="1648168"/>
          <a:ext cx="3557269" cy="193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Name: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dtype: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int32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8315314" y="1333499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50290" y="13633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0233" y="4751130"/>
            <a:ext cx="7321550" cy="335989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</a:t>
            </a:r>
            <a:r>
              <a:rPr sz="2000" spc="-5" dirty="0" err="1">
                <a:solidFill>
                  <a:srgbClr val="212121"/>
                </a:solidFill>
                <a:latin typeface="Consolas"/>
                <a:cs typeface="Consolas"/>
              </a:rPr>
              <a:t>df</a:t>
            </a:r>
            <a:r>
              <a:rPr sz="2000" spc="-5">
                <a:solidFill>
                  <a:srgbClr val="212121"/>
                </a:solidFill>
                <a:latin typeface="Consolas"/>
                <a:cs typeface="Consolas"/>
              </a:rPr>
              <a:t>[</a:t>
            </a:r>
            <a:r>
              <a:rPr lang="en-US" sz="2000" spc="-5">
                <a:solidFill>
                  <a:srgbClr val="212121"/>
                </a:solidFill>
                <a:latin typeface="Consolas"/>
                <a:cs typeface="Consolas"/>
              </a:rPr>
              <a:t>[</a:t>
            </a:r>
            <a:r>
              <a:rPr sz="2000" spc="-5">
                <a:solidFill>
                  <a:srgbClr val="BA2121"/>
                </a:solidFill>
                <a:latin typeface="Consolas"/>
                <a:cs typeface="Consolas"/>
              </a:rPr>
              <a:t>'PDS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',</a:t>
            </a:r>
            <a:r>
              <a:rPr sz="2000" spc="-45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'SE'</a:t>
            </a:r>
            <a:r>
              <a:rPr lang="en-US" sz="2000" spc="-5" dirty="0">
                <a:solidFill>
                  <a:srgbClr val="BA2121"/>
                </a:solidFill>
                <a:latin typeface="Consolas"/>
                <a:cs typeface="Consolas"/>
              </a:rPr>
              <a:t>]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])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242" y="4751130"/>
            <a:ext cx="500380" cy="4006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40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20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0227" y="44219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6347" y="3700112"/>
            <a:ext cx="4310380" cy="1021080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187960" indent="-175895">
              <a:lnSpc>
                <a:spcPct val="100000"/>
              </a:lnSpc>
              <a:spcBef>
                <a:spcPts val="1725"/>
              </a:spcBef>
              <a:buFont typeface="Arial MT"/>
              <a:buChar char="•"/>
              <a:tabLst>
                <a:tab pos="188595" algn="l"/>
              </a:tabLst>
            </a:pPr>
            <a:r>
              <a:rPr sz="2800" spc="-25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800" spc="-190" dirty="0">
                <a:solidFill>
                  <a:srgbClr val="212121"/>
                </a:solidFill>
                <a:latin typeface="Roboto"/>
                <a:cs typeface="Roboto"/>
              </a:rPr>
              <a:t>rabbing</a:t>
            </a:r>
            <a:r>
              <a:rPr sz="28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800" spc="-170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800" spc="-19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8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800" spc="-160" dirty="0">
                <a:solidFill>
                  <a:srgbClr val="212121"/>
                </a:solidFill>
                <a:latin typeface="Roboto"/>
                <a:cs typeface="Roboto"/>
              </a:rPr>
              <a:t>multipl</a:t>
            </a:r>
            <a:r>
              <a:rPr sz="2800" spc="-18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8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800" spc="-21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endParaRPr sz="2800">
              <a:latin typeface="Roboto"/>
              <a:cs typeface="Roboto"/>
            </a:endParaRPr>
          </a:p>
          <a:p>
            <a:pPr marL="463550">
              <a:lnSpc>
                <a:spcPct val="100000"/>
              </a:lnSpc>
              <a:spcBef>
                <a:spcPts val="93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dfGrabMulCol.py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05799" y="4524719"/>
            <a:ext cx="3556635" cy="1939289"/>
          </a:xfrm>
          <a:custGeom>
            <a:avLst/>
            <a:gdLst/>
            <a:ahLst/>
            <a:cxnLst/>
            <a:rect l="l" t="t" r="r" b="b"/>
            <a:pathLst>
              <a:path w="3556634" h="1939289">
                <a:moveTo>
                  <a:pt x="3556590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3556590" y="0"/>
                </a:lnTo>
                <a:lnTo>
                  <a:pt x="3556590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8316911" y="4554519"/>
          <a:ext cx="1778634" cy="19091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8315314" y="4210048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650290" y="423992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02744" y="6610834"/>
            <a:ext cx="437959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363636"/>
                </a:solidFill>
                <a:latin typeface="Roboto Lt"/>
                <a:cs typeface="Roboto Lt"/>
              </a:rPr>
              <a:t>#Python for Data Science (DAKSHAY PRAJAPATI)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212976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984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spc="-5" dirty="0"/>
              <a:t> </a:t>
            </a:r>
            <a:r>
              <a:rPr spc="5" dirty="0"/>
              <a:t>Frames </a:t>
            </a:r>
            <a:r>
              <a:rPr spc="25" dirty="0"/>
              <a:t>(Cont.)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242" y="1617404"/>
          <a:ext cx="7820660" cy="1015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(df.loc[</a:t>
                      </a:r>
                      <a:r>
                        <a:rPr sz="2000" spc="-5" dirty="0">
                          <a:solidFill>
                            <a:srgbClr val="68933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2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using</a:t>
                      </a:r>
                      <a:r>
                        <a:rPr sz="2000" spc="-2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labels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#OR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62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(df.iloc[</a:t>
                      </a:r>
                      <a:r>
                        <a:rPr sz="2000" spc="-5" dirty="0">
                          <a:solidFill>
                            <a:srgbClr val="68933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1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using</a:t>
                      </a:r>
                      <a:r>
                        <a:rPr sz="2000" spc="-1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zero</a:t>
                      </a:r>
                      <a:r>
                        <a:rPr sz="2000" spc="-20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based</a:t>
                      </a:r>
                      <a:r>
                        <a:rPr sz="2000" spc="-1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1C9A78"/>
                          </a:solidFill>
                          <a:latin typeface="Consolas"/>
                          <a:cs typeface="Consolas"/>
                        </a:rPr>
                        <a:t>index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70227" y="12882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689968"/>
            <a:ext cx="2127885" cy="89789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abbing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ow</a:t>
            </a:r>
            <a:endParaRPr sz="2400">
              <a:latin typeface="Roboto"/>
              <a:cs typeface="Roboto"/>
            </a:endParaRPr>
          </a:p>
          <a:p>
            <a:pPr marL="532130">
              <a:lnSpc>
                <a:spcPct val="100000"/>
              </a:lnSpc>
              <a:spcBef>
                <a:spcPts val="825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dfGrabRow.py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305799" y="1665269"/>
          <a:ext cx="3556632" cy="1537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999">
                <a:tc>
                  <a:txBody>
                    <a:bodyPr/>
                    <a:lstStyle/>
                    <a:p>
                      <a:pPr marL="8572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8615">
                        <a:lnSpc>
                          <a:spcPts val="18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8572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Name: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dtype: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int32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8305799" y="1571968"/>
            <a:ext cx="3556635" cy="1631314"/>
          </a:xfrm>
          <a:custGeom>
            <a:avLst/>
            <a:gdLst/>
            <a:ahLst/>
            <a:cxnLst/>
            <a:rect l="l" t="t" r="r" b="b"/>
            <a:pathLst>
              <a:path w="3556634" h="1631314">
                <a:moveTo>
                  <a:pt x="3556590" y="1631215"/>
                </a:moveTo>
                <a:lnTo>
                  <a:pt x="0" y="1631215"/>
                </a:lnTo>
                <a:lnTo>
                  <a:pt x="0" y="0"/>
                </a:lnTo>
                <a:lnTo>
                  <a:pt x="3556590" y="0"/>
                </a:lnTo>
                <a:lnTo>
                  <a:pt x="3556590" y="163121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15314" y="1257299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5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650290" y="12871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0227" y="3517070"/>
            <a:ext cx="7821295" cy="729615"/>
            <a:chOff x="370227" y="3517070"/>
            <a:chExt cx="7821295" cy="729615"/>
          </a:xfrm>
        </p:grpSpPr>
        <p:sp>
          <p:nvSpPr>
            <p:cNvPr id="21" name="object 21"/>
            <p:cNvSpPr/>
            <p:nvPr/>
          </p:nvSpPr>
          <p:spPr>
            <a:xfrm>
              <a:off x="870234" y="3846254"/>
              <a:ext cx="7321550" cy="400685"/>
            </a:xfrm>
            <a:custGeom>
              <a:avLst/>
              <a:gdLst/>
              <a:ahLst/>
              <a:cxnLst/>
              <a:rect l="l" t="t" r="r" b="b"/>
              <a:pathLst>
                <a:path w="7321550" h="400685">
                  <a:moveTo>
                    <a:pt x="7321265" y="400109"/>
                  </a:moveTo>
                  <a:lnTo>
                    <a:pt x="0" y="400109"/>
                  </a:lnTo>
                  <a:lnTo>
                    <a:pt x="0" y="0"/>
                  </a:lnTo>
                  <a:lnTo>
                    <a:pt x="7321265" y="0"/>
                  </a:lnTo>
                  <a:lnTo>
                    <a:pt x="7321265" y="40010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0242" y="3846254"/>
              <a:ext cx="500380" cy="400685"/>
            </a:xfrm>
            <a:custGeom>
              <a:avLst/>
              <a:gdLst/>
              <a:ahLst/>
              <a:cxnLst/>
              <a:rect l="l" t="t" r="r" b="b"/>
              <a:pathLst>
                <a:path w="500380" h="400685">
                  <a:moveTo>
                    <a:pt x="499992" y="400109"/>
                  </a:moveTo>
                  <a:lnTo>
                    <a:pt x="0" y="400109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40010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0227" y="3517070"/>
              <a:ext cx="1779270" cy="329565"/>
            </a:xfrm>
            <a:custGeom>
              <a:avLst/>
              <a:gdLst/>
              <a:ahLst/>
              <a:cxnLst/>
              <a:rect l="l" t="t" r="r" b="b"/>
              <a:pathLst>
                <a:path w="1779270" h="329564">
                  <a:moveTo>
                    <a:pt x="1778778" y="329198"/>
                  </a:moveTo>
                  <a:lnTo>
                    <a:pt x="0" y="329177"/>
                  </a:lnTo>
                  <a:lnTo>
                    <a:pt x="14" y="54864"/>
                  </a:lnTo>
                  <a:lnTo>
                    <a:pt x="4326" y="33509"/>
                  </a:lnTo>
                  <a:lnTo>
                    <a:pt x="16084" y="16069"/>
                  </a:lnTo>
                  <a:lnTo>
                    <a:pt x="33523" y="4311"/>
                  </a:lnTo>
                  <a:lnTo>
                    <a:pt x="54879" y="0"/>
                  </a:lnTo>
                  <a:lnTo>
                    <a:pt x="1723919" y="0"/>
                  </a:lnTo>
                  <a:lnTo>
                    <a:pt x="1762715" y="16069"/>
                  </a:lnTo>
                  <a:lnTo>
                    <a:pt x="1778784" y="54864"/>
                  </a:lnTo>
                  <a:lnTo>
                    <a:pt x="1778778" y="329198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8305799" y="3838919"/>
            <a:ext cx="3556635" cy="400685"/>
          </a:xfrm>
          <a:custGeom>
            <a:avLst/>
            <a:gdLst/>
            <a:ahLst/>
            <a:cxnLst/>
            <a:rect l="l" t="t" r="r" b="b"/>
            <a:pathLst>
              <a:path w="3556634" h="400685">
                <a:moveTo>
                  <a:pt x="3556590" y="400109"/>
                </a:moveTo>
                <a:lnTo>
                  <a:pt x="0" y="400109"/>
                </a:lnTo>
                <a:lnTo>
                  <a:pt x="0" y="0"/>
                </a:lnTo>
                <a:lnTo>
                  <a:pt x="3556590" y="0"/>
                </a:lnTo>
                <a:lnTo>
                  <a:pt x="3556590" y="40010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378824" y="3854158"/>
            <a:ext cx="165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15314" y="3524248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650290" y="355412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70242" y="5255955"/>
          <a:ext cx="6420485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drop(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'103'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,inplace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370227" y="49267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3695" y="3048992"/>
            <a:ext cx="6376035" cy="21774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7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abbing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Singl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9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alue</a:t>
            </a:r>
            <a:endParaRPr sz="2400">
              <a:latin typeface="Roboto"/>
              <a:cs typeface="Roboto"/>
            </a:endParaRPr>
          </a:p>
          <a:p>
            <a:pPr marR="4195445" algn="ctr">
              <a:lnSpc>
                <a:spcPct val="100000"/>
              </a:lnSpc>
              <a:spcBef>
                <a:spcPts val="41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dfGrabSingle.py</a:t>
            </a:r>
            <a:endParaRPr sz="1600">
              <a:latin typeface="Roboto"/>
              <a:cs typeface="Roboto"/>
            </a:endParaRPr>
          </a:p>
          <a:p>
            <a:pPr marL="471170">
              <a:lnSpc>
                <a:spcPct val="100000"/>
              </a:lnSpc>
              <a:spcBef>
                <a:spcPts val="555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r>
              <a:rPr sz="2000" b="1" spc="235" dirty="0">
                <a:solidFill>
                  <a:srgbClr val="575757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(df.loc[</a:t>
            </a:r>
            <a:r>
              <a:rPr sz="2000" spc="-5" dirty="0">
                <a:solidFill>
                  <a:srgbClr val="689331"/>
                </a:solidFill>
                <a:latin typeface="Consolas"/>
                <a:cs typeface="Consolas"/>
              </a:rPr>
              <a:t>101,</a:t>
            </a:r>
            <a:r>
              <a:rPr sz="2000" spc="-10" dirty="0">
                <a:solidFill>
                  <a:srgbClr val="68933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'PDS'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])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1C9A78"/>
                </a:solidFill>
                <a:latin typeface="Consolas"/>
                <a:cs typeface="Consolas"/>
              </a:rPr>
              <a:t>#</a:t>
            </a:r>
            <a:r>
              <a:rPr sz="2000" spc="-15" dirty="0">
                <a:solidFill>
                  <a:srgbClr val="1C9A78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1C9A78"/>
                </a:solidFill>
                <a:latin typeface="Consolas"/>
                <a:cs typeface="Consolas"/>
              </a:rPr>
              <a:t>using</a:t>
            </a:r>
            <a:r>
              <a:rPr sz="2000" spc="-15" dirty="0">
                <a:solidFill>
                  <a:srgbClr val="1C9A78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1C9A78"/>
                </a:solidFill>
                <a:latin typeface="Consolas"/>
                <a:cs typeface="Consolas"/>
              </a:rPr>
              <a:t>labels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Consolas"/>
              <a:cs typeface="Consolas"/>
            </a:endParaRPr>
          </a:p>
          <a:p>
            <a:pPr marL="307975" indent="-295910">
              <a:lnSpc>
                <a:spcPct val="100000"/>
              </a:lnSpc>
              <a:spcBef>
                <a:spcPts val="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Deletin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9" dirty="0">
                <a:solidFill>
                  <a:srgbClr val="212121"/>
                </a:solidFill>
                <a:latin typeface="Roboto"/>
                <a:cs typeface="Roboto"/>
              </a:rPr>
              <a:t>Row</a:t>
            </a:r>
            <a:endParaRPr sz="2400">
              <a:latin typeface="Roboto"/>
              <a:cs typeface="Roboto"/>
            </a:endParaRPr>
          </a:p>
          <a:p>
            <a:pPr marR="4195445" algn="ctr">
              <a:lnSpc>
                <a:spcPct val="100000"/>
              </a:lnSpc>
              <a:spcBef>
                <a:spcPts val="74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dfDelCol.py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43750" y="4762844"/>
            <a:ext cx="4718685" cy="1631314"/>
          </a:xfrm>
          <a:custGeom>
            <a:avLst/>
            <a:gdLst/>
            <a:ahLst/>
            <a:cxnLst/>
            <a:rect l="l" t="t" r="r" b="b"/>
            <a:pathLst>
              <a:path w="4718684" h="1631314">
                <a:moveTo>
                  <a:pt x="4718639" y="1631215"/>
                </a:moveTo>
                <a:lnTo>
                  <a:pt x="0" y="1631215"/>
                </a:lnTo>
                <a:lnTo>
                  <a:pt x="0" y="0"/>
                </a:lnTo>
                <a:lnTo>
                  <a:pt x="4718639" y="0"/>
                </a:lnTo>
                <a:lnTo>
                  <a:pt x="4718639" y="163121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7154862" y="4856144"/>
          <a:ext cx="3313427" cy="1537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99">
                <a:tc gridSpan="2">
                  <a:txBody>
                    <a:bodyPr/>
                    <a:lstStyle/>
                    <a:p>
                      <a:pPr marL="77152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7429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7143739" y="4448173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478715" y="447805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2744" y="6610834"/>
            <a:ext cx="437959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363636"/>
                </a:solidFill>
                <a:latin typeface="Roboto Lt"/>
                <a:cs typeface="Roboto Lt"/>
              </a:rPr>
              <a:t>#Python for Data Science (DAKSHAY PRAJAPATI)</a:t>
            </a:r>
            <a:endParaRPr sz="1200">
              <a:latin typeface="Roboto Lt"/>
              <a:cs typeface="Roboto Lt"/>
            </a:endParaRPr>
          </a:p>
        </p:txBody>
      </p:sp>
      <p:pic>
        <p:nvPicPr>
          <p:cNvPr id="42" name="Picture 4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43" name="object 20"/>
          <p:cNvSpPr txBox="1">
            <a:spLocks/>
          </p:cNvSpPr>
          <p:nvPr/>
        </p:nvSpPr>
        <p:spPr>
          <a:xfrm>
            <a:off x="911224" y="6632340"/>
            <a:ext cx="2060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2" name="object 20"/>
          <p:cNvSpPr txBox="1">
            <a:spLocks/>
          </p:cNvSpPr>
          <p:nvPr/>
        </p:nvSpPr>
        <p:spPr>
          <a:xfrm>
            <a:off x="911224" y="6632340"/>
            <a:ext cx="2060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4146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spc="-5" dirty="0"/>
              <a:t> </a:t>
            </a:r>
            <a:r>
              <a:rPr spc="5" dirty="0"/>
              <a:t>Frames </a:t>
            </a:r>
            <a:r>
              <a:rPr spc="25" dirty="0"/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242" y="1607879"/>
          <a:ext cx="6420485" cy="1015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'total'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'PDS'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'Algo'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r>
                        <a:rPr sz="2000" spc="-3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62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0227" y="12786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5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704256"/>
            <a:ext cx="2840990" cy="8737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eatin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ne</a:t>
            </a:r>
            <a:r>
              <a:rPr sz="2400" spc="-24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endParaRPr sz="2400">
              <a:latin typeface="Roboto"/>
              <a:cs typeface="Roboto"/>
            </a:endParaRPr>
          </a:p>
          <a:p>
            <a:pPr marL="491490">
              <a:lnSpc>
                <a:spcPct val="100000"/>
              </a:lnSpc>
              <a:spcBef>
                <a:spcPts val="75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dfCreateCol.py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43739" y="800098"/>
            <a:ext cx="4718685" cy="2254250"/>
            <a:chOff x="7143739" y="800098"/>
            <a:chExt cx="4718685" cy="2254250"/>
          </a:xfrm>
        </p:grpSpPr>
        <p:sp>
          <p:nvSpPr>
            <p:cNvPr id="7" name="object 7"/>
            <p:cNvSpPr/>
            <p:nvPr/>
          </p:nvSpPr>
          <p:spPr>
            <a:xfrm>
              <a:off x="7143749" y="1114768"/>
              <a:ext cx="4718685" cy="1939289"/>
            </a:xfrm>
            <a:custGeom>
              <a:avLst/>
              <a:gdLst/>
              <a:ahLst/>
              <a:cxnLst/>
              <a:rect l="l" t="t" r="r" b="b"/>
              <a:pathLst>
                <a:path w="4718684" h="1939289">
                  <a:moveTo>
                    <a:pt x="4718639" y="1938991"/>
                  </a:moveTo>
                  <a:lnTo>
                    <a:pt x="0" y="1938991"/>
                  </a:lnTo>
                  <a:lnTo>
                    <a:pt x="0" y="0"/>
                  </a:lnTo>
                  <a:lnTo>
                    <a:pt x="4718639" y="0"/>
                  </a:lnTo>
                  <a:lnTo>
                    <a:pt x="4718639" y="193899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43739" y="800098"/>
              <a:ext cx="1234440" cy="329565"/>
            </a:xfrm>
            <a:custGeom>
              <a:avLst/>
              <a:gdLst/>
              <a:ahLst/>
              <a:cxnLst/>
              <a:rect l="l" t="t" r="r" b="b"/>
              <a:pathLst>
                <a:path w="1234440" h="329565">
                  <a:moveTo>
                    <a:pt x="1233962" y="329194"/>
                  </a:moveTo>
                  <a:lnTo>
                    <a:pt x="0" y="329179"/>
                  </a:lnTo>
                  <a:lnTo>
                    <a:pt x="9" y="54865"/>
                  </a:lnTo>
                  <a:lnTo>
                    <a:pt x="4321" y="33509"/>
                  </a:lnTo>
                  <a:lnTo>
                    <a:pt x="16079" y="16069"/>
                  </a:lnTo>
                  <a:lnTo>
                    <a:pt x="33519" y="4311"/>
                  </a:lnTo>
                  <a:lnTo>
                    <a:pt x="54874" y="0"/>
                  </a:lnTo>
                  <a:lnTo>
                    <a:pt x="1179102" y="0"/>
                  </a:lnTo>
                  <a:lnTo>
                    <a:pt x="1217897" y="16069"/>
                  </a:lnTo>
                  <a:lnTo>
                    <a:pt x="1233966" y="54865"/>
                  </a:lnTo>
                  <a:lnTo>
                    <a:pt x="1233962" y="329194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78715" y="8299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905937" y="1208069"/>
          <a:ext cx="4958077" cy="4198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999">
                <a:tc gridSpan="3">
                  <a:txBody>
                    <a:bodyPr/>
                    <a:lstStyle/>
                    <a:p>
                      <a:pPr marL="1020444">
                        <a:lnSpc>
                          <a:spcPts val="1885"/>
                        </a:lnSpc>
                        <a:tabLst>
                          <a:tab pos="1717039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	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total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32321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2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162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175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049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164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269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327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347">
                <a:tc gridSpan="6"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600" spc="-114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Output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1416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636">
                <a:tc gridSpan="2">
                  <a:txBody>
                    <a:bodyPr/>
                    <a:lstStyle/>
                    <a:p>
                      <a:pPr marL="1020444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938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32321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2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9079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984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049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9079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9079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323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9079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70242" y="3960555"/>
          <a:ext cx="6420485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drop(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'total'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,axis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,inplace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70227" y="3631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3695" y="3128310"/>
            <a:ext cx="338709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Deletin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Colum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9" dirty="0">
                <a:solidFill>
                  <a:srgbClr val="212121"/>
                </a:solidFill>
                <a:latin typeface="Roboto"/>
                <a:cs typeface="Roboto"/>
              </a:rPr>
              <a:t>Row</a:t>
            </a:r>
            <a:endParaRPr sz="2400">
              <a:latin typeface="Roboto"/>
              <a:cs typeface="Roboto"/>
            </a:endParaRPr>
          </a:p>
          <a:p>
            <a:pPr marL="623570">
              <a:lnSpc>
                <a:spcPct val="100000"/>
              </a:lnSpc>
              <a:spcBef>
                <a:spcPts val="1315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dfDelCol.py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43739" y="3152774"/>
            <a:ext cx="4718685" cy="2254250"/>
            <a:chOff x="7143739" y="3152774"/>
            <a:chExt cx="4718685" cy="2254250"/>
          </a:xfrm>
        </p:grpSpPr>
        <p:sp>
          <p:nvSpPr>
            <p:cNvPr id="15" name="object 15"/>
            <p:cNvSpPr/>
            <p:nvPr/>
          </p:nvSpPr>
          <p:spPr>
            <a:xfrm>
              <a:off x="7143749" y="3467444"/>
              <a:ext cx="4718685" cy="1939289"/>
            </a:xfrm>
            <a:custGeom>
              <a:avLst/>
              <a:gdLst/>
              <a:ahLst/>
              <a:cxnLst/>
              <a:rect l="l" t="t" r="r" b="b"/>
              <a:pathLst>
                <a:path w="4718684" h="1939289">
                  <a:moveTo>
                    <a:pt x="4718639" y="1938991"/>
                  </a:moveTo>
                  <a:lnTo>
                    <a:pt x="0" y="1938991"/>
                  </a:lnTo>
                  <a:lnTo>
                    <a:pt x="0" y="0"/>
                  </a:lnTo>
                  <a:lnTo>
                    <a:pt x="4718639" y="0"/>
                  </a:lnTo>
                  <a:lnTo>
                    <a:pt x="4718639" y="193899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43739" y="3152774"/>
              <a:ext cx="1234440" cy="329565"/>
            </a:xfrm>
            <a:custGeom>
              <a:avLst/>
              <a:gdLst/>
              <a:ahLst/>
              <a:cxnLst/>
              <a:rect l="l" t="t" r="r" b="b"/>
              <a:pathLst>
                <a:path w="1234440" h="329564">
                  <a:moveTo>
                    <a:pt x="1233962" y="329194"/>
                  </a:moveTo>
                  <a:lnTo>
                    <a:pt x="0" y="329179"/>
                  </a:lnTo>
                  <a:lnTo>
                    <a:pt x="9" y="54864"/>
                  </a:lnTo>
                  <a:lnTo>
                    <a:pt x="4321" y="33509"/>
                  </a:lnTo>
                  <a:lnTo>
                    <a:pt x="16079" y="16069"/>
                  </a:lnTo>
                  <a:lnTo>
                    <a:pt x="33519" y="4311"/>
                  </a:lnTo>
                  <a:lnTo>
                    <a:pt x="54874" y="0"/>
                  </a:lnTo>
                  <a:lnTo>
                    <a:pt x="1179102" y="0"/>
                  </a:lnTo>
                  <a:lnTo>
                    <a:pt x="1217897" y="16069"/>
                  </a:lnTo>
                  <a:lnTo>
                    <a:pt x="1233966" y="54864"/>
                  </a:lnTo>
                  <a:lnTo>
                    <a:pt x="1233962" y="329194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5" name="object 20"/>
          <p:cNvSpPr txBox="1">
            <a:spLocks/>
          </p:cNvSpPr>
          <p:nvPr/>
        </p:nvSpPr>
        <p:spPr>
          <a:xfrm>
            <a:off x="911224" y="6632340"/>
            <a:ext cx="2060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822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Data</a:t>
            </a:r>
            <a:r>
              <a:rPr spc="-5" dirty="0"/>
              <a:t> </a:t>
            </a:r>
            <a:r>
              <a:rPr spc="5" dirty="0"/>
              <a:t>Frames </a:t>
            </a:r>
            <a:r>
              <a:rPr spc="25" dirty="0"/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4645" y="3120026"/>
          <a:ext cx="11705588" cy="2286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89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dirty="0">
                          <a:solidFill>
                            <a:srgbClr val="B84742"/>
                          </a:solidFill>
                          <a:latin typeface="Segoe UI Symbol"/>
                          <a:cs typeface="Segoe UI Symbol"/>
                        </a:rPr>
                        <a:t>□</a:t>
                      </a:r>
                      <a:r>
                        <a:rPr sz="2400" spc="229" dirty="0">
                          <a:solidFill>
                            <a:srgbClr val="B84742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24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Selectin</a:t>
                      </a:r>
                      <a:r>
                        <a:rPr sz="24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g</a:t>
                      </a:r>
                      <a:r>
                        <a:rPr sz="2400" spc="-5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4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all</a:t>
                      </a:r>
                      <a:r>
                        <a:rPr sz="2400" spc="-5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col</a:t>
                      </a:r>
                      <a:r>
                        <a:rPr sz="24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2400" spc="-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2400" spc="-2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x</a:t>
                      </a:r>
                      <a:r>
                        <a:rPr sz="24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cep</a:t>
                      </a:r>
                      <a:r>
                        <a:rPr sz="24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2400" spc="-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one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803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spc="-114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Output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7493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818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600" spc="-10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dfGrabExcept.py</a:t>
                      </a:r>
                      <a:endParaRPr sz="1600">
                        <a:latin typeface="Roboto"/>
                        <a:cs typeface="Roboto"/>
                      </a:endParaRPr>
                    </a:p>
                    <a:p>
                      <a:pPr marL="4902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b="1" spc="210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(df.loc[:,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df.columns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!=</a:t>
                      </a:r>
                      <a:r>
                        <a:rPr sz="2000" spc="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'Algo'</a:t>
                      </a:r>
                      <a:r>
                        <a:rPr sz="2000" spc="-3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19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R="150495" algn="r">
                        <a:lnSpc>
                          <a:spcPct val="100000"/>
                        </a:lnSpc>
                        <a:tabLst>
                          <a:tab pos="975360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	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R="111760" algn="r">
                        <a:lnSpc>
                          <a:spcPct val="100000"/>
                        </a:lnSpc>
                        <a:tabLst>
                          <a:tab pos="1167130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	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19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11938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93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ts val="19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259079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46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29781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0740" algn="ctr">
                        <a:lnSpc>
                          <a:spcPts val="2085"/>
                        </a:lnSpc>
                        <a:tabLst>
                          <a:tab pos="1676400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	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0740" algn="ctr">
                        <a:lnSpc>
                          <a:spcPts val="2085"/>
                        </a:lnSpc>
                        <a:tabLst>
                          <a:tab pos="1676400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	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0740" algn="ctr">
                        <a:lnSpc>
                          <a:spcPts val="2085"/>
                        </a:lnSpc>
                        <a:tabLst>
                          <a:tab pos="1676400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	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70227" y="1345370"/>
            <a:ext cx="8183245" cy="729615"/>
            <a:chOff x="370227" y="1345370"/>
            <a:chExt cx="8183245" cy="729615"/>
          </a:xfrm>
        </p:grpSpPr>
        <p:sp>
          <p:nvSpPr>
            <p:cNvPr id="5" name="object 5"/>
            <p:cNvSpPr/>
            <p:nvPr/>
          </p:nvSpPr>
          <p:spPr>
            <a:xfrm>
              <a:off x="870234" y="1674554"/>
              <a:ext cx="7683500" cy="400685"/>
            </a:xfrm>
            <a:custGeom>
              <a:avLst/>
              <a:gdLst/>
              <a:ahLst/>
              <a:cxnLst/>
              <a:rect l="l" t="t" r="r" b="b"/>
              <a:pathLst>
                <a:path w="7683500" h="400685">
                  <a:moveTo>
                    <a:pt x="7683215" y="400109"/>
                  </a:moveTo>
                  <a:lnTo>
                    <a:pt x="0" y="400109"/>
                  </a:lnTo>
                  <a:lnTo>
                    <a:pt x="0" y="0"/>
                  </a:lnTo>
                  <a:lnTo>
                    <a:pt x="7683215" y="0"/>
                  </a:lnTo>
                  <a:lnTo>
                    <a:pt x="7683215" y="40010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0242" y="1674554"/>
              <a:ext cx="500380" cy="400685"/>
            </a:xfrm>
            <a:custGeom>
              <a:avLst/>
              <a:gdLst/>
              <a:ahLst/>
              <a:cxnLst/>
              <a:rect l="l" t="t" r="r" b="b"/>
              <a:pathLst>
                <a:path w="500380" h="400685">
                  <a:moveTo>
                    <a:pt x="499992" y="400109"/>
                  </a:moveTo>
                  <a:lnTo>
                    <a:pt x="0" y="400109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40010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0227" y="1345370"/>
              <a:ext cx="1779270" cy="329565"/>
            </a:xfrm>
            <a:custGeom>
              <a:avLst/>
              <a:gdLst/>
              <a:ahLst/>
              <a:cxnLst/>
              <a:rect l="l" t="t" r="r" b="b"/>
              <a:pathLst>
                <a:path w="1779270" h="329564">
                  <a:moveTo>
                    <a:pt x="1778778" y="329198"/>
                  </a:moveTo>
                  <a:lnTo>
                    <a:pt x="0" y="329177"/>
                  </a:lnTo>
                  <a:lnTo>
                    <a:pt x="14" y="54865"/>
                  </a:lnTo>
                  <a:lnTo>
                    <a:pt x="4326" y="33509"/>
                  </a:lnTo>
                  <a:lnTo>
                    <a:pt x="16084" y="16069"/>
                  </a:lnTo>
                  <a:lnTo>
                    <a:pt x="33523" y="4311"/>
                  </a:lnTo>
                  <a:lnTo>
                    <a:pt x="54879" y="0"/>
                  </a:lnTo>
                  <a:lnTo>
                    <a:pt x="1723919" y="0"/>
                  </a:lnTo>
                  <a:lnTo>
                    <a:pt x="1762715" y="16069"/>
                  </a:lnTo>
                  <a:lnTo>
                    <a:pt x="1778784" y="54865"/>
                  </a:lnTo>
                  <a:lnTo>
                    <a:pt x="1778778" y="329198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3695" y="847391"/>
            <a:ext cx="6378575" cy="117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Gettin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Subse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endParaRPr sz="2400">
              <a:latin typeface="Roboto"/>
              <a:cs typeface="Roboto"/>
            </a:endParaRPr>
          </a:p>
          <a:p>
            <a:pPr marL="414655">
              <a:lnSpc>
                <a:spcPct val="100000"/>
              </a:lnSpc>
              <a:spcBef>
                <a:spcPts val="1275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dfGrabSubSet.py</a:t>
            </a:r>
            <a:endParaRPr sz="1600">
              <a:latin typeface="Roboto"/>
              <a:cs typeface="Roboto"/>
            </a:endParaRPr>
          </a:p>
          <a:p>
            <a:pPr marL="471170">
              <a:lnSpc>
                <a:spcPct val="100000"/>
              </a:lnSpc>
              <a:spcBef>
                <a:spcPts val="555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r>
              <a:rPr sz="2000" b="1" spc="225" dirty="0">
                <a:solidFill>
                  <a:srgbClr val="575757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(df.loc[[</a:t>
            </a:r>
            <a:r>
              <a:rPr sz="2000" spc="-5" dirty="0">
                <a:solidFill>
                  <a:srgbClr val="689331"/>
                </a:solidFill>
                <a:latin typeface="Consolas"/>
                <a:cs typeface="Consolas"/>
              </a:rPr>
              <a:t>101,104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],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[[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'PDS','INS'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]])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972550" y="1667218"/>
            <a:ext cx="2228850" cy="1016000"/>
          </a:xfrm>
          <a:custGeom>
            <a:avLst/>
            <a:gdLst/>
            <a:ahLst/>
            <a:cxnLst/>
            <a:rect l="l" t="t" r="r" b="b"/>
            <a:pathLst>
              <a:path w="2228850" h="1016000">
                <a:moveTo>
                  <a:pt x="2228849" y="1015662"/>
                </a:moveTo>
                <a:lnTo>
                  <a:pt x="0" y="1015662"/>
                </a:lnTo>
                <a:lnTo>
                  <a:pt x="0" y="0"/>
                </a:lnTo>
                <a:lnTo>
                  <a:pt x="2228849" y="0"/>
                </a:lnTo>
                <a:lnTo>
                  <a:pt x="2228849" y="101566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45576" y="1682458"/>
            <a:ext cx="18376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9930">
              <a:lnSpc>
                <a:spcPct val="100000"/>
              </a:lnSpc>
              <a:spcBef>
                <a:spcPts val="100"/>
              </a:spcBef>
              <a:tabLst>
                <a:tab pos="140589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S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988060" algn="l"/>
                <a:tab pos="154559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46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848360" algn="l"/>
                <a:tab pos="154495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6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82065" y="1352549"/>
            <a:ext cx="1134110" cy="329565"/>
          </a:xfrm>
          <a:custGeom>
            <a:avLst/>
            <a:gdLst/>
            <a:ahLst/>
            <a:cxnLst/>
            <a:rect l="l" t="t" r="r" b="b"/>
            <a:pathLst>
              <a:path w="1134109" h="329564">
                <a:moveTo>
                  <a:pt x="1133480" y="329193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8" y="4311"/>
                </a:lnTo>
                <a:lnTo>
                  <a:pt x="54874" y="0"/>
                </a:lnTo>
                <a:lnTo>
                  <a:pt x="1078619" y="0"/>
                </a:lnTo>
                <a:lnTo>
                  <a:pt x="1117414" y="16069"/>
                </a:lnTo>
                <a:lnTo>
                  <a:pt x="1133484" y="54865"/>
                </a:lnTo>
                <a:lnTo>
                  <a:pt x="1133480" y="329193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66799" y="138242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0227" y="3593270"/>
            <a:ext cx="7240270" cy="729615"/>
            <a:chOff x="370227" y="3593270"/>
            <a:chExt cx="7240270" cy="729615"/>
          </a:xfrm>
        </p:grpSpPr>
        <p:sp>
          <p:nvSpPr>
            <p:cNvPr id="14" name="object 14"/>
            <p:cNvSpPr/>
            <p:nvPr/>
          </p:nvSpPr>
          <p:spPr>
            <a:xfrm>
              <a:off x="870234" y="3922454"/>
              <a:ext cx="6740525" cy="400685"/>
            </a:xfrm>
            <a:custGeom>
              <a:avLst/>
              <a:gdLst/>
              <a:ahLst/>
              <a:cxnLst/>
              <a:rect l="l" t="t" r="r" b="b"/>
              <a:pathLst>
                <a:path w="6740525" h="400685">
                  <a:moveTo>
                    <a:pt x="6740240" y="400109"/>
                  </a:moveTo>
                  <a:lnTo>
                    <a:pt x="0" y="400109"/>
                  </a:lnTo>
                  <a:lnTo>
                    <a:pt x="0" y="0"/>
                  </a:lnTo>
                  <a:lnTo>
                    <a:pt x="6740240" y="0"/>
                  </a:lnTo>
                  <a:lnTo>
                    <a:pt x="6740240" y="40010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0242" y="3922454"/>
              <a:ext cx="500380" cy="400685"/>
            </a:xfrm>
            <a:custGeom>
              <a:avLst/>
              <a:gdLst/>
              <a:ahLst/>
              <a:cxnLst/>
              <a:rect l="l" t="t" r="r" b="b"/>
              <a:pathLst>
                <a:path w="500380" h="400685">
                  <a:moveTo>
                    <a:pt x="499992" y="400109"/>
                  </a:moveTo>
                  <a:lnTo>
                    <a:pt x="0" y="400109"/>
                  </a:lnTo>
                  <a:lnTo>
                    <a:pt x="0" y="0"/>
                  </a:lnTo>
                  <a:lnTo>
                    <a:pt x="499992" y="0"/>
                  </a:lnTo>
                  <a:lnTo>
                    <a:pt x="499992" y="40010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227" y="3593270"/>
              <a:ext cx="1779270" cy="329565"/>
            </a:xfrm>
            <a:custGeom>
              <a:avLst/>
              <a:gdLst/>
              <a:ahLst/>
              <a:cxnLst/>
              <a:rect l="l" t="t" r="r" b="b"/>
              <a:pathLst>
                <a:path w="1779270" h="329564">
                  <a:moveTo>
                    <a:pt x="1778778" y="329198"/>
                  </a:moveTo>
                  <a:lnTo>
                    <a:pt x="0" y="329177"/>
                  </a:lnTo>
                  <a:lnTo>
                    <a:pt x="14" y="54864"/>
                  </a:lnTo>
                  <a:lnTo>
                    <a:pt x="4326" y="33509"/>
                  </a:lnTo>
                  <a:lnTo>
                    <a:pt x="16084" y="16069"/>
                  </a:lnTo>
                  <a:lnTo>
                    <a:pt x="33523" y="4311"/>
                  </a:lnTo>
                  <a:lnTo>
                    <a:pt x="54879" y="0"/>
                  </a:lnTo>
                  <a:lnTo>
                    <a:pt x="1723919" y="0"/>
                  </a:lnTo>
                  <a:lnTo>
                    <a:pt x="1762715" y="16069"/>
                  </a:lnTo>
                  <a:lnTo>
                    <a:pt x="1778784" y="54864"/>
                  </a:lnTo>
                  <a:lnTo>
                    <a:pt x="1778778" y="329198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524864" y="3152774"/>
            <a:ext cx="3337560" cy="2254250"/>
            <a:chOff x="8524864" y="3152774"/>
            <a:chExt cx="3337560" cy="2254250"/>
          </a:xfrm>
        </p:grpSpPr>
        <p:sp>
          <p:nvSpPr>
            <p:cNvPr id="18" name="object 18"/>
            <p:cNvSpPr/>
            <p:nvPr/>
          </p:nvSpPr>
          <p:spPr>
            <a:xfrm>
              <a:off x="8524874" y="3467444"/>
              <a:ext cx="3337560" cy="1939289"/>
            </a:xfrm>
            <a:custGeom>
              <a:avLst/>
              <a:gdLst/>
              <a:ahLst/>
              <a:cxnLst/>
              <a:rect l="l" t="t" r="r" b="b"/>
              <a:pathLst>
                <a:path w="3337559" h="1939289">
                  <a:moveTo>
                    <a:pt x="3337513" y="1938991"/>
                  </a:moveTo>
                  <a:lnTo>
                    <a:pt x="0" y="1938991"/>
                  </a:lnTo>
                  <a:lnTo>
                    <a:pt x="0" y="0"/>
                  </a:lnTo>
                  <a:lnTo>
                    <a:pt x="3337513" y="0"/>
                  </a:lnTo>
                  <a:lnTo>
                    <a:pt x="3337513" y="193899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24864" y="3152774"/>
              <a:ext cx="1234440" cy="329565"/>
            </a:xfrm>
            <a:custGeom>
              <a:avLst/>
              <a:gdLst/>
              <a:ahLst/>
              <a:cxnLst/>
              <a:rect l="l" t="t" r="r" b="b"/>
              <a:pathLst>
                <a:path w="1234440" h="329564">
                  <a:moveTo>
                    <a:pt x="1233962" y="329194"/>
                  </a:moveTo>
                  <a:lnTo>
                    <a:pt x="0" y="329179"/>
                  </a:lnTo>
                  <a:lnTo>
                    <a:pt x="9" y="54864"/>
                  </a:lnTo>
                  <a:lnTo>
                    <a:pt x="4321" y="33509"/>
                  </a:lnTo>
                  <a:lnTo>
                    <a:pt x="16079" y="16069"/>
                  </a:lnTo>
                  <a:lnTo>
                    <a:pt x="33519" y="4311"/>
                  </a:lnTo>
                  <a:lnTo>
                    <a:pt x="54874" y="0"/>
                  </a:lnTo>
                  <a:lnTo>
                    <a:pt x="1179102" y="0"/>
                  </a:lnTo>
                  <a:lnTo>
                    <a:pt x="1217897" y="16069"/>
                  </a:lnTo>
                  <a:lnTo>
                    <a:pt x="1233966" y="54864"/>
                  </a:lnTo>
                  <a:lnTo>
                    <a:pt x="1233962" y="329194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93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/>
          <p:nvPr/>
        </p:nvSpPr>
        <p:spPr>
          <a:xfrm>
            <a:off x="-101" y="6603898"/>
            <a:ext cx="12192635" cy="254635"/>
          </a:xfrm>
          <a:custGeom>
            <a:avLst/>
            <a:gdLst/>
            <a:ahLst/>
            <a:cxnLst/>
            <a:rect l="l" t="t" r="r" b="b"/>
            <a:pathLst>
              <a:path w="12192635" h="254634">
                <a:moveTo>
                  <a:pt x="101" y="101"/>
                </a:moveTo>
                <a:lnTo>
                  <a:pt x="12192099" y="101"/>
                </a:lnTo>
                <a:lnTo>
                  <a:pt x="12192099" y="254101"/>
                </a:lnTo>
                <a:lnTo>
                  <a:pt x="101" y="254101"/>
                </a:lnTo>
                <a:lnTo>
                  <a:pt x="101" y="101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2744" y="6621326"/>
            <a:ext cx="43795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95" dirty="0">
                <a:solidFill>
                  <a:srgbClr val="363636"/>
                </a:solidFill>
                <a:latin typeface="Roboto Lt"/>
                <a:cs typeface="Roboto Lt"/>
              </a:rPr>
              <a:t>#Python for Data Science (DAKSHAY PRAJAPATI)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6599901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0" y="0"/>
                </a:moveTo>
                <a:lnTo>
                  <a:pt x="12191999" y="0"/>
                </a:lnTo>
                <a:lnTo>
                  <a:pt x="12191999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BEBEBE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584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Conditional</a:t>
            </a:r>
            <a:r>
              <a:rPr spc="-5" dirty="0"/>
              <a:t> </a:t>
            </a:r>
            <a:r>
              <a:rPr spc="20" dirty="0"/>
              <a:t>Selection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3695" y="5409231"/>
            <a:ext cx="117786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np.random.seed()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seed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2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121,</a:t>
            </a:r>
            <a:r>
              <a:rPr sz="2400" spc="3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so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400" spc="1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you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generate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random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matches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random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generated.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70242" y="1645979"/>
          <a:ext cx="6534784" cy="3170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numpy</a:t>
                      </a:r>
                      <a:r>
                        <a:rPr sz="2000" b="1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pandas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seed(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121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randArr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random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randint(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reshape(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DataFrame(randArr,np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arange(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106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'PDS'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'Algo'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'SE'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99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(df&gt;50)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70227" y="13167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3695" y="647106"/>
            <a:ext cx="7564755" cy="969010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3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NumPy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conditional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selection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pandas.</a:t>
            </a:r>
            <a:endParaRPr sz="2400">
              <a:latin typeface="Roboto"/>
              <a:cs typeface="Roboto"/>
            </a:endParaRPr>
          </a:p>
          <a:p>
            <a:pPr marL="553085">
              <a:lnSpc>
                <a:spcPct val="100000"/>
              </a:lnSpc>
              <a:spcBef>
                <a:spcPts val="105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dfCondSel.py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133424"/>
              </p:ext>
            </p:extLst>
          </p:nvPr>
        </p:nvGraphicFramePr>
        <p:xfrm>
          <a:off x="7439025" y="1648168"/>
          <a:ext cx="4751703" cy="3785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3972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3972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3972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3972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951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3972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7458064" y="1333499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93040" y="13633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26" name="Picture 2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7" name="object 18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32" name="object 18"/>
          <p:cNvSpPr txBox="1">
            <a:spLocks/>
          </p:cNvSpPr>
          <p:nvPr/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194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Conditional</a:t>
            </a:r>
            <a:r>
              <a:rPr spc="20" dirty="0"/>
              <a:t> Selection </a:t>
            </a:r>
            <a:r>
              <a:rPr spc="25" dirty="0"/>
              <a:t>(Cont.)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3695" y="847391"/>
            <a:ext cx="8277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6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this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boolean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DataFrame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associated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values.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695" y="2672127"/>
            <a:ext cx="6658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5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(Not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Number)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case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False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70242" y="1645979"/>
          <a:ext cx="6534784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dfBool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(df[dfBool])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70227" y="13167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4252" y="1346674"/>
            <a:ext cx="1090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dfCondSel.py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439025" y="1648168"/>
          <a:ext cx="4541519" cy="193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860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860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860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NaN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7458064" y="1333499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93040" y="136337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70242" y="4760655"/>
          <a:ext cx="6534784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dfBool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'PDS'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200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(df[dfBool])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70227" y="44314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3695" y="3958313"/>
            <a:ext cx="5499100" cy="77279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apply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conditio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speciﬁ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column.</a:t>
            </a:r>
            <a:endParaRPr sz="2400">
              <a:latin typeface="Roboto"/>
              <a:cs typeface="Roboto"/>
            </a:endParaRPr>
          </a:p>
          <a:p>
            <a:pPr marL="553085">
              <a:lnSpc>
                <a:spcPct val="100000"/>
              </a:lnSpc>
              <a:spcBef>
                <a:spcPts val="434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dfCondSel.py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7439025" y="4762844"/>
          <a:ext cx="4544057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066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36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458064" y="4448173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793040" y="447805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0511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1" name="object 18"/>
          <p:cNvSpPr txBox="1">
            <a:spLocks/>
          </p:cNvSpPr>
          <p:nvPr/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737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Setting/Resetting</a:t>
            </a:r>
            <a:r>
              <a:rPr spc="-20" dirty="0"/>
              <a:t> </a:t>
            </a:r>
            <a:r>
              <a:rPr spc="20" dirty="0"/>
              <a:t>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7290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our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previous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example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seen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our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does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name,</a:t>
            </a:r>
            <a:r>
              <a:rPr sz="2400" spc="2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want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to</a:t>
            </a:r>
            <a:r>
              <a:rPr sz="2400" spc="2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specify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nam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ou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Consolas"/>
                <a:cs typeface="Consolas"/>
              </a:rPr>
              <a:t>DataFrame.index.nam</a:t>
            </a:r>
            <a:r>
              <a:rPr sz="2400" b="1" dirty="0">
                <a:solidFill>
                  <a:srgbClr val="212121"/>
                </a:solidFill>
                <a:latin typeface="Consolas"/>
                <a:cs typeface="Consolas"/>
              </a:rPr>
              <a:t>e</a:t>
            </a:r>
            <a:r>
              <a:rPr sz="2400" b="1" spc="-7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34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695" y="4329264"/>
            <a:ext cx="10484485" cy="110871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42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built-in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methods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reset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endParaRPr sz="2400" dirty="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pd.set_index(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'NewColumn'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,inplace=True),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will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set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new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column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as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index,</a:t>
            </a:r>
            <a:endParaRPr sz="2000" dirty="0">
              <a:latin typeface="Consolas"/>
              <a:cs typeface="Consolas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pd.reset_index(),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will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reset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index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zero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based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numberic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index.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0233" y="1903154"/>
            <a:ext cx="6035675" cy="4006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df.index.name(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'RollNo'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242" y="1903154"/>
            <a:ext cx="500380" cy="4006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39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19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0227" y="15739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4252" y="1603849"/>
            <a:ext cx="1090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dfCondSel.py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39025" y="1905343"/>
            <a:ext cx="4543425" cy="2247265"/>
          </a:xfrm>
          <a:custGeom>
            <a:avLst/>
            <a:gdLst/>
            <a:ahLst/>
            <a:cxnLst/>
            <a:rect l="l" t="t" r="r" b="b"/>
            <a:pathLst>
              <a:path w="4543425" h="2247265">
                <a:moveTo>
                  <a:pt x="4543424" y="2246768"/>
                </a:moveTo>
                <a:lnTo>
                  <a:pt x="0" y="2246768"/>
                </a:lnTo>
                <a:lnTo>
                  <a:pt x="0" y="0"/>
                </a:lnTo>
                <a:lnTo>
                  <a:pt x="4543424" y="0"/>
                </a:lnTo>
                <a:lnTo>
                  <a:pt x="4543424" y="224676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26450" y="1920583"/>
            <a:ext cx="1858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PDS</a:t>
            </a:r>
            <a:r>
              <a:rPr sz="2000" spc="3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Algo</a:t>
            </a:r>
            <a:r>
              <a:rPr sz="2000" spc="3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SE</a:t>
            </a:r>
            <a:r>
              <a:rPr sz="2000" spc="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INS</a:t>
            </a:r>
            <a:endParaRPr sz="2000">
              <a:latin typeface="Roboto"/>
              <a:cs typeface="Robot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50137" y="2256439"/>
          <a:ext cx="2719705" cy="1895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6028">
                <a:tc>
                  <a:txBody>
                    <a:bodyPr/>
                    <a:lstStyle/>
                    <a:p>
                      <a:pPr marL="74295">
                        <a:lnSpc>
                          <a:spcPts val="2255"/>
                        </a:lnSpc>
                      </a:pPr>
                      <a:r>
                        <a:rPr sz="20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RollNo</a:t>
                      </a:r>
                      <a:endParaRPr sz="2000">
                        <a:latin typeface="Roboto"/>
                        <a:cs typeface="Roboto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R="108585" algn="r">
                        <a:lnSpc>
                          <a:spcPct val="10000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27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  <a:tabLst>
                          <a:tab pos="540385" algn="l"/>
                        </a:tabLst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	</a:t>
                      </a: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27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127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52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228">
                <a:tc>
                  <a:txBody>
                    <a:bodyPr/>
                    <a:lstStyle/>
                    <a:p>
                      <a:pPr marL="74295">
                        <a:lnSpc>
                          <a:spcPts val="227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227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46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7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34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70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71">
                <a:tc>
                  <a:txBody>
                    <a:bodyPr/>
                    <a:lstStyle/>
                    <a:p>
                      <a:pPr marL="74295">
                        <a:lnSpc>
                          <a:spcPts val="225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225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255"/>
                        </a:lnSpc>
                      </a:pP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25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45">
                <a:tc>
                  <a:txBody>
                    <a:bodyPr/>
                    <a:lstStyle/>
                    <a:p>
                      <a:pPr marL="742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75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39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7458064" y="1590674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4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4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93040" y="162055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20107" y="2527701"/>
            <a:ext cx="819150" cy="821055"/>
          </a:xfrm>
          <a:custGeom>
            <a:avLst/>
            <a:gdLst/>
            <a:ahLst/>
            <a:cxnLst/>
            <a:rect l="l" t="t" r="r" b="b"/>
            <a:pathLst>
              <a:path w="819150" h="821054">
                <a:moveTo>
                  <a:pt x="0" y="820928"/>
                </a:moveTo>
                <a:lnTo>
                  <a:pt x="818657" y="0"/>
                </a:lnTo>
              </a:path>
            </a:pathLst>
          </a:custGeom>
          <a:ln w="12699">
            <a:solidFill>
              <a:srgbClr val="5EAB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33851" y="3028950"/>
            <a:ext cx="2609850" cy="638175"/>
          </a:xfrm>
          <a:prstGeom prst="rect">
            <a:avLst/>
          </a:prstGeom>
          <a:solidFill>
            <a:srgbClr val="F1F1F1"/>
          </a:solidFill>
          <a:ln w="12699">
            <a:solidFill>
              <a:srgbClr val="5EABE3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49630" marR="92075" indent="-755015">
              <a:lnSpc>
                <a:spcPct val="100000"/>
              </a:lnSpc>
              <a:spcBef>
                <a:spcPts val="280"/>
              </a:spcBef>
            </a:pPr>
            <a:r>
              <a:rPr sz="1800" spc="-114" dirty="0">
                <a:solidFill>
                  <a:srgbClr val="363636"/>
                </a:solidFill>
                <a:latin typeface="Roboto"/>
                <a:cs typeface="Roboto"/>
              </a:rPr>
              <a:t>Note</a:t>
            </a:r>
            <a:r>
              <a:rPr sz="1800" spc="-55" dirty="0">
                <a:solidFill>
                  <a:srgbClr val="363636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210" dirty="0">
                <a:solidFill>
                  <a:srgbClr val="363636"/>
                </a:solidFill>
                <a:latin typeface="Roboto"/>
                <a:cs typeface="Roboto"/>
              </a:rPr>
              <a:t>W</a:t>
            </a:r>
            <a:r>
              <a:rPr sz="1800" spc="-100" dirty="0">
                <a:solidFill>
                  <a:srgbClr val="363636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363636"/>
                </a:solidFill>
                <a:latin typeface="Roboto"/>
                <a:cs typeface="Roboto"/>
              </a:rPr>
              <a:t>h</a:t>
            </a:r>
            <a:r>
              <a:rPr sz="1800" spc="-155" dirty="0">
                <a:solidFill>
                  <a:srgbClr val="363636"/>
                </a:solidFill>
                <a:latin typeface="Roboto"/>
                <a:cs typeface="Roboto"/>
              </a:rPr>
              <a:t>av</a:t>
            </a:r>
            <a:r>
              <a:rPr sz="1800" spc="-100" dirty="0">
                <a:solidFill>
                  <a:srgbClr val="363636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65" dirty="0">
                <a:solidFill>
                  <a:srgbClr val="363636"/>
                </a:solidFill>
                <a:latin typeface="Roboto"/>
                <a:cs typeface="Roboto"/>
              </a:rPr>
              <a:t>nam</a:t>
            </a:r>
            <a:r>
              <a:rPr sz="1800" spc="-125" dirty="0">
                <a:solidFill>
                  <a:srgbClr val="363636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363636"/>
                </a:solidFill>
                <a:latin typeface="Roboto"/>
                <a:cs typeface="Roboto"/>
              </a:rPr>
              <a:t>t</a:t>
            </a:r>
            <a:r>
              <a:rPr sz="1800" spc="-120" dirty="0">
                <a:solidFill>
                  <a:srgbClr val="363636"/>
                </a:solidFill>
                <a:latin typeface="Roboto"/>
                <a:cs typeface="Roboto"/>
              </a:rPr>
              <a:t>o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363636"/>
                </a:solidFill>
                <a:latin typeface="Roboto"/>
                <a:cs typeface="Roboto"/>
              </a:rPr>
              <a:t>our  </a:t>
            </a:r>
            <a:r>
              <a:rPr sz="1800" spc="-110" dirty="0">
                <a:solidFill>
                  <a:srgbClr val="363636"/>
                </a:solidFill>
                <a:latin typeface="Roboto"/>
                <a:cs typeface="Roboto"/>
              </a:rPr>
              <a:t>index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60" dirty="0">
                <a:solidFill>
                  <a:srgbClr val="363636"/>
                </a:solidFill>
                <a:latin typeface="Roboto"/>
                <a:cs typeface="Roboto"/>
              </a:rPr>
              <a:t>now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365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44" name="object 18"/>
          <p:cNvSpPr txBox="1">
            <a:spLocks/>
          </p:cNvSpPr>
          <p:nvPr/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0928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Setting/Resetting</a:t>
            </a:r>
            <a:r>
              <a:rPr spc="15" dirty="0"/>
              <a:t> index</a:t>
            </a:r>
            <a:r>
              <a:rPr spc="10" dirty="0"/>
              <a:t> </a:t>
            </a:r>
            <a:r>
              <a:rPr spc="25" dirty="0"/>
              <a:t>(Cont.)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0233" y="1674554"/>
            <a:ext cx="6035675" cy="4006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df.set_index(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'PDS'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r>
              <a:rPr sz="200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8BC145"/>
                </a:solidFill>
                <a:latin typeface="Consolas"/>
                <a:cs typeface="Consolas"/>
              </a:rPr>
              <a:t>#inplace=True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242" y="1674554"/>
            <a:ext cx="500380" cy="4006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39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19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227" y="1345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3695" y="847391"/>
            <a:ext cx="3667760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set_index(new_index)</a:t>
            </a:r>
            <a:endParaRPr sz="2400">
              <a:latin typeface="Consolas"/>
              <a:cs typeface="Consolas"/>
            </a:endParaRPr>
          </a:p>
          <a:p>
            <a:pPr marL="553085">
              <a:lnSpc>
                <a:spcPct val="100000"/>
              </a:lnSpc>
              <a:spcBef>
                <a:spcPts val="127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dfCondSel.py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39025" y="1676743"/>
            <a:ext cx="3695700" cy="2247265"/>
          </a:xfrm>
          <a:custGeom>
            <a:avLst/>
            <a:gdLst/>
            <a:ahLst/>
            <a:cxnLst/>
            <a:rect l="l" t="t" r="r" b="b"/>
            <a:pathLst>
              <a:path w="3695700" h="2247265">
                <a:moveTo>
                  <a:pt x="3695699" y="2246768"/>
                </a:moveTo>
                <a:lnTo>
                  <a:pt x="0" y="2246768"/>
                </a:lnTo>
                <a:lnTo>
                  <a:pt x="0" y="0"/>
                </a:lnTo>
                <a:lnTo>
                  <a:pt x="3695699" y="0"/>
                </a:lnTo>
                <a:lnTo>
                  <a:pt x="3695699" y="224676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69251" y="1691983"/>
            <a:ext cx="1325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Algo</a:t>
            </a:r>
            <a:r>
              <a:rPr sz="2000" spc="3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SE</a:t>
            </a:r>
            <a:r>
              <a:rPr sz="2000" spc="3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INS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12051" y="1996783"/>
            <a:ext cx="1815464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PDS</a:t>
            </a: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760095" algn="l"/>
                <a:tab pos="1184910" algn="l"/>
                <a:tab pos="1484630" algn="l"/>
              </a:tabLst>
            </a:pP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66	85	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8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95</a:t>
            </a: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760095" algn="l"/>
                <a:tab pos="1551305" algn="l"/>
              </a:tabLst>
            </a:pP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6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96</a:t>
            </a: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760095" algn="l"/>
                <a:tab pos="1551305" algn="l"/>
              </a:tabLst>
            </a:pP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4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6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4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60</a:t>
            </a: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818515" algn="l"/>
                <a:tab pos="1484630" algn="l"/>
              </a:tabLst>
            </a:pP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54	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r>
              <a:rPr sz="2000" spc="4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94	52</a:t>
            </a: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702310" algn="l"/>
                <a:tab pos="1493520" algn="l"/>
              </a:tabLst>
            </a:pP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57	75</a:t>
            </a:r>
            <a:r>
              <a:rPr sz="2000" spc="4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88	39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58064" y="1362074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93040" y="139195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20107" y="2299101"/>
            <a:ext cx="819150" cy="821055"/>
          </a:xfrm>
          <a:custGeom>
            <a:avLst/>
            <a:gdLst/>
            <a:ahLst/>
            <a:cxnLst/>
            <a:rect l="l" t="t" r="r" b="b"/>
            <a:pathLst>
              <a:path w="819150" h="821055">
                <a:moveTo>
                  <a:pt x="0" y="820929"/>
                </a:moveTo>
                <a:lnTo>
                  <a:pt x="818657" y="0"/>
                </a:lnTo>
              </a:path>
            </a:pathLst>
          </a:custGeom>
          <a:ln w="12699">
            <a:solidFill>
              <a:srgbClr val="5EAB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33851" y="2800350"/>
            <a:ext cx="2609850" cy="638175"/>
          </a:xfrm>
          <a:prstGeom prst="rect">
            <a:avLst/>
          </a:prstGeom>
          <a:solidFill>
            <a:srgbClr val="F1F1F1"/>
          </a:solidFill>
          <a:ln w="12699">
            <a:solidFill>
              <a:srgbClr val="5EABE3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49630" marR="135255" indent="-709930">
              <a:lnSpc>
                <a:spcPct val="100000"/>
              </a:lnSpc>
              <a:spcBef>
                <a:spcPts val="280"/>
              </a:spcBef>
            </a:pPr>
            <a:r>
              <a:rPr sz="1800" spc="-114" dirty="0">
                <a:solidFill>
                  <a:srgbClr val="363636"/>
                </a:solidFill>
                <a:latin typeface="Roboto"/>
                <a:cs typeface="Roboto"/>
              </a:rPr>
              <a:t>Note</a:t>
            </a:r>
            <a:r>
              <a:rPr sz="1800" spc="-55" dirty="0">
                <a:solidFill>
                  <a:srgbClr val="363636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210" dirty="0">
                <a:solidFill>
                  <a:srgbClr val="363636"/>
                </a:solidFill>
                <a:latin typeface="Roboto"/>
                <a:cs typeface="Roboto"/>
              </a:rPr>
              <a:t>W</a:t>
            </a:r>
            <a:r>
              <a:rPr sz="1800" spc="-100" dirty="0">
                <a:solidFill>
                  <a:srgbClr val="363636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50" dirty="0">
                <a:solidFill>
                  <a:srgbClr val="363636"/>
                </a:solidFill>
                <a:latin typeface="Roboto"/>
                <a:cs typeface="Roboto"/>
              </a:rPr>
              <a:t>h</a:t>
            </a:r>
            <a:r>
              <a:rPr sz="1800" spc="-155" dirty="0">
                <a:solidFill>
                  <a:srgbClr val="363636"/>
                </a:solidFill>
                <a:latin typeface="Roboto"/>
                <a:cs typeface="Roboto"/>
              </a:rPr>
              <a:t>av</a:t>
            </a:r>
            <a:r>
              <a:rPr sz="1800" spc="-100" dirty="0">
                <a:solidFill>
                  <a:srgbClr val="363636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80" dirty="0">
                <a:solidFill>
                  <a:srgbClr val="363636"/>
                </a:solidFill>
                <a:latin typeface="Roboto"/>
                <a:cs typeface="Roboto"/>
              </a:rPr>
              <a:t>PD</a:t>
            </a:r>
            <a:r>
              <a:rPr sz="1800" spc="-165" dirty="0">
                <a:solidFill>
                  <a:srgbClr val="363636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363636"/>
                </a:solidFill>
                <a:latin typeface="Roboto"/>
                <a:cs typeface="Roboto"/>
              </a:rPr>
              <a:t>as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363636"/>
                </a:solidFill>
                <a:latin typeface="Roboto"/>
                <a:cs typeface="Roboto"/>
              </a:rPr>
              <a:t>our  </a:t>
            </a:r>
            <a:r>
              <a:rPr sz="1800" spc="-110" dirty="0">
                <a:solidFill>
                  <a:srgbClr val="363636"/>
                </a:solidFill>
                <a:latin typeface="Roboto"/>
                <a:cs typeface="Roboto"/>
              </a:rPr>
              <a:t>index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60" dirty="0">
                <a:solidFill>
                  <a:srgbClr val="363636"/>
                </a:solidFill>
                <a:latin typeface="Roboto"/>
                <a:cs typeface="Roboto"/>
              </a:rPr>
              <a:t>now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0233" y="4334906"/>
            <a:ext cx="6035675" cy="400685"/>
          </a:xfrm>
          <a:custGeom>
            <a:avLst/>
            <a:gdLst/>
            <a:ahLst/>
            <a:cxnLst/>
            <a:rect l="l" t="t" r="r" b="b"/>
            <a:pathLst>
              <a:path w="6035675" h="400685">
                <a:moveTo>
                  <a:pt x="6035391" y="400109"/>
                </a:moveTo>
                <a:lnTo>
                  <a:pt x="0" y="400109"/>
                </a:lnTo>
                <a:lnTo>
                  <a:pt x="0" y="0"/>
                </a:lnTo>
                <a:lnTo>
                  <a:pt x="6035391" y="0"/>
                </a:lnTo>
                <a:lnTo>
                  <a:pt x="6035391" y="40010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43258" y="4375844"/>
            <a:ext cx="22567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df.reset_index()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0242" y="4360605"/>
            <a:ext cx="500380" cy="4006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40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20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0227" y="40314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73695" y="3417928"/>
            <a:ext cx="2496820" cy="91313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reset_index()</a:t>
            </a:r>
            <a:endParaRPr sz="2400">
              <a:latin typeface="Consolas"/>
              <a:cs typeface="Consolas"/>
            </a:endParaRPr>
          </a:p>
          <a:p>
            <a:pPr marL="553085">
              <a:lnSpc>
                <a:spcPct val="100000"/>
              </a:lnSpc>
              <a:spcBef>
                <a:spcPts val="87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dfCondSel.py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39025" y="4362794"/>
            <a:ext cx="4057650" cy="1939289"/>
          </a:xfrm>
          <a:custGeom>
            <a:avLst/>
            <a:gdLst/>
            <a:ahLst/>
            <a:cxnLst/>
            <a:rect l="l" t="t" r="r" b="b"/>
            <a:pathLst>
              <a:path w="4057650" h="1939289">
                <a:moveTo>
                  <a:pt x="4057649" y="1938991"/>
                </a:moveTo>
                <a:lnTo>
                  <a:pt x="0" y="1938991"/>
                </a:lnTo>
                <a:lnTo>
                  <a:pt x="0" y="0"/>
                </a:lnTo>
                <a:lnTo>
                  <a:pt x="4057649" y="0"/>
                </a:lnTo>
                <a:lnTo>
                  <a:pt x="4057649" y="1938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686547" y="4378033"/>
            <a:ext cx="2635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RollNo</a:t>
            </a:r>
            <a:r>
              <a:rPr sz="2000" spc="4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PDS</a:t>
            </a:r>
            <a:r>
              <a:rPr sz="2000" spc="4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Algo</a:t>
            </a:r>
            <a:r>
              <a:rPr sz="2000" spc="4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SE</a:t>
            </a:r>
            <a:r>
              <a:rPr sz="2000" spc="4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INS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12050" y="4682833"/>
            <a:ext cx="2810382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4830" algn="l"/>
                <a:tab pos="1094105" algn="l"/>
                <a:tab pos="1576705" algn="l"/>
                <a:tab pos="2001520" algn="l"/>
                <a:tab pos="2301240" algn="l"/>
              </a:tabLst>
            </a:pP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0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101	66	85	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8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95</a:t>
            </a: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544830" algn="l"/>
                <a:tab pos="1094105" algn="l"/>
                <a:tab pos="1576705" algn="l"/>
                <a:tab pos="2367915" algn="l"/>
              </a:tabLst>
            </a:pP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1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10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6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5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2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8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3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96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58064" y="4048123"/>
            <a:ext cx="1234440" cy="329565"/>
          </a:xfrm>
          <a:custGeom>
            <a:avLst/>
            <a:gdLst/>
            <a:ahLst/>
            <a:cxnLst/>
            <a:rect l="l" t="t" r="r" b="b"/>
            <a:pathLst>
              <a:path w="1234440" h="329564">
                <a:moveTo>
                  <a:pt x="1233962" y="329194"/>
                </a:moveTo>
                <a:lnTo>
                  <a:pt x="0" y="329179"/>
                </a:lnTo>
                <a:lnTo>
                  <a:pt x="9" y="54865"/>
                </a:lnTo>
                <a:lnTo>
                  <a:pt x="4321" y="33509"/>
                </a:lnTo>
                <a:lnTo>
                  <a:pt x="16079" y="16069"/>
                </a:lnTo>
                <a:lnTo>
                  <a:pt x="33519" y="4311"/>
                </a:lnTo>
                <a:lnTo>
                  <a:pt x="54874" y="0"/>
                </a:lnTo>
                <a:lnTo>
                  <a:pt x="1179102" y="0"/>
                </a:lnTo>
                <a:lnTo>
                  <a:pt x="1217897" y="16069"/>
                </a:lnTo>
                <a:lnTo>
                  <a:pt x="1233966" y="54865"/>
                </a:lnTo>
                <a:lnTo>
                  <a:pt x="1233962" y="32919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93040" y="4078002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33851" y="4486388"/>
            <a:ext cx="3529329" cy="1703705"/>
            <a:chOff x="4133851" y="4592590"/>
            <a:chExt cx="3529329" cy="1703705"/>
          </a:xfrm>
        </p:grpSpPr>
        <p:sp>
          <p:nvSpPr>
            <p:cNvPr id="35" name="object 35"/>
            <p:cNvSpPr/>
            <p:nvPr/>
          </p:nvSpPr>
          <p:spPr>
            <a:xfrm>
              <a:off x="4133851" y="4976342"/>
              <a:ext cx="2609850" cy="1314450"/>
            </a:xfrm>
            <a:custGeom>
              <a:avLst/>
              <a:gdLst/>
              <a:ahLst/>
              <a:cxnLst/>
              <a:rect l="l" t="t" r="r" b="b"/>
              <a:pathLst>
                <a:path w="2609850" h="1314450">
                  <a:moveTo>
                    <a:pt x="2609849" y="1314448"/>
                  </a:moveTo>
                  <a:lnTo>
                    <a:pt x="0" y="1314448"/>
                  </a:lnTo>
                  <a:lnTo>
                    <a:pt x="0" y="0"/>
                  </a:lnTo>
                  <a:lnTo>
                    <a:pt x="2609849" y="0"/>
                  </a:lnTo>
                  <a:lnTo>
                    <a:pt x="2609849" y="131444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4133851" y="4592590"/>
              <a:ext cx="3529329" cy="1703705"/>
            </a:xfrm>
            <a:custGeom>
              <a:avLst/>
              <a:gdLst/>
              <a:ahLst/>
              <a:cxnLst/>
              <a:rect l="l" t="t" r="r" b="b"/>
              <a:pathLst>
                <a:path w="3529329" h="1703704">
                  <a:moveTo>
                    <a:pt x="0" y="388984"/>
                  </a:moveTo>
                  <a:lnTo>
                    <a:pt x="2609849" y="388984"/>
                  </a:lnTo>
                  <a:lnTo>
                    <a:pt x="2609849" y="1703433"/>
                  </a:lnTo>
                  <a:lnTo>
                    <a:pt x="0" y="1703433"/>
                  </a:lnTo>
                  <a:lnTo>
                    <a:pt x="0" y="388984"/>
                  </a:lnTo>
                  <a:close/>
                </a:path>
                <a:path w="3529329" h="1703704">
                  <a:moveTo>
                    <a:pt x="2586256" y="1047431"/>
                  </a:moveTo>
                  <a:lnTo>
                    <a:pt x="3528751" y="0"/>
                  </a:lnTo>
                </a:path>
              </a:pathLst>
            </a:custGeom>
            <a:ln w="12699">
              <a:solidFill>
                <a:srgbClr val="5EAB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347211" y="4855089"/>
            <a:ext cx="2183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363636"/>
                </a:solidFill>
                <a:latin typeface="Roboto"/>
                <a:cs typeface="Roboto"/>
              </a:rPr>
              <a:t>Note</a:t>
            </a:r>
            <a:r>
              <a:rPr sz="1800" spc="-55" dirty="0">
                <a:solidFill>
                  <a:srgbClr val="363636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spc="-155" dirty="0">
                <a:solidFill>
                  <a:srgbClr val="363636"/>
                </a:solidFill>
                <a:latin typeface="Roboto"/>
                <a:cs typeface="Roboto"/>
              </a:rPr>
              <a:t>Ou</a:t>
            </a:r>
            <a:r>
              <a:rPr sz="1800" spc="-85" dirty="0">
                <a:solidFill>
                  <a:srgbClr val="363636"/>
                </a:solidFill>
                <a:latin typeface="Roboto"/>
                <a:cs typeface="Roboto"/>
              </a:rPr>
              <a:t>r</a:t>
            </a:r>
            <a:r>
              <a:rPr sz="1800" spc="-30" dirty="0">
                <a:solidFill>
                  <a:srgbClr val="363636"/>
                </a:solidFill>
                <a:latin typeface="Roboto"/>
                <a:cs typeface="Roboto"/>
              </a:rPr>
              <a:t> </a:t>
            </a:r>
            <a:r>
              <a:rPr sz="1800" b="1" spc="5" dirty="0">
                <a:solidFill>
                  <a:srgbClr val="363636"/>
                </a:solidFill>
                <a:latin typeface="Roboto Cn"/>
                <a:cs typeface="Roboto Cn"/>
              </a:rPr>
              <a:t>RollNo(index)</a:t>
            </a:r>
            <a:endParaRPr sz="1800" dirty="0">
              <a:latin typeface="Roboto Cn"/>
              <a:cs typeface="Roboto C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746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71028"/>
              </p:ext>
            </p:extLst>
          </p:nvPr>
        </p:nvGraphicFramePr>
        <p:xfrm>
          <a:off x="4211942" y="5388084"/>
          <a:ext cx="7318372" cy="978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9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528">
                <a:tc>
                  <a:txBody>
                    <a:bodyPr/>
                    <a:lstStyle/>
                    <a:p>
                      <a:pPr marR="737870" algn="ctr">
                        <a:lnSpc>
                          <a:spcPts val="2095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becom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ne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 err="1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column</a:t>
                      </a:r>
                      <a:r>
                        <a:rPr sz="1800" dirty="0" err="1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,and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5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5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5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46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55"/>
                        </a:lnSpc>
                        <a:tabLst>
                          <a:tab pos="906780" algn="l"/>
                        </a:tabLst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34</a:t>
                      </a:r>
                      <a:r>
                        <a:rPr sz="2000" spc="4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52	60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02">
                <a:tc>
                  <a:txBody>
                    <a:bodyPr/>
                    <a:lstStyle/>
                    <a:p>
                      <a:pPr marR="736600" algn="ctr">
                        <a:lnSpc>
                          <a:spcPts val="2125"/>
                        </a:lnSpc>
                      </a:pP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no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w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h</a:t>
                      </a:r>
                      <a:r>
                        <a:rPr sz="1800" spc="-1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av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z</a:t>
                      </a: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e</a:t>
                      </a:r>
                      <a:r>
                        <a:rPr sz="1800" spc="-2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o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based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17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17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17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175"/>
                        </a:lnSpc>
                        <a:tabLst>
                          <a:tab pos="840105" algn="l"/>
                        </a:tabLst>
                      </a:pPr>
                      <a:r>
                        <a:rPr sz="2000" spc="-1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sz="2000" spc="4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94	52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65">
                <a:tc>
                  <a:txBody>
                    <a:bodyPr/>
                    <a:lstStyle/>
                    <a:p>
                      <a:pPr marR="735965" algn="ctr">
                        <a:lnSpc>
                          <a:spcPts val="2010"/>
                        </a:lnSpc>
                      </a:pPr>
                      <a:r>
                        <a:rPr sz="1800" spc="-5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numeri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c</a:t>
                      </a:r>
                      <a:r>
                        <a:rPr sz="1800" spc="-4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363636"/>
                          </a:solidFill>
                          <a:latin typeface="Roboto"/>
                          <a:cs typeface="Roboto"/>
                        </a:rPr>
                        <a:t>index</a:t>
                      </a:r>
                      <a:endParaRPr sz="1800" dirty="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33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33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33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335"/>
                        </a:lnSpc>
                        <a:tabLst>
                          <a:tab pos="906780" algn="l"/>
                        </a:tabLst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75</a:t>
                      </a:r>
                      <a:r>
                        <a:rPr sz="2000" spc="41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	39</a:t>
                      </a:r>
                      <a:endParaRPr sz="2000" dirty="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696" y="-50592"/>
            <a:ext cx="1028844" cy="1028844"/>
          </a:xfrm>
          <a:prstGeom prst="rect">
            <a:avLst/>
          </a:prstGeom>
        </p:spPr>
      </p:pic>
      <p:sp>
        <p:nvSpPr>
          <p:cNvPr id="30" name="object 18"/>
          <p:cNvSpPr txBox="1">
            <a:spLocks/>
          </p:cNvSpPr>
          <p:nvPr/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499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Multi-Index</a:t>
            </a:r>
            <a:r>
              <a:rPr spc="-25" dirty="0"/>
              <a:t> </a:t>
            </a:r>
            <a:r>
              <a:rPr spc="-5" dirty="0"/>
              <a:t>DataFrame</a:t>
            </a:r>
          </a:p>
        </p:txBody>
      </p:sp>
      <p:sp>
        <p:nvSpPr>
          <p:cNvPr id="13" name="object 13"/>
          <p:cNvSpPr/>
          <p:nvPr/>
        </p:nvSpPr>
        <p:spPr>
          <a:xfrm>
            <a:off x="238125" y="2438743"/>
            <a:ext cx="5600700" cy="3170555"/>
          </a:xfrm>
          <a:custGeom>
            <a:avLst/>
            <a:gdLst/>
            <a:ahLst/>
            <a:cxnLst/>
            <a:rect l="l" t="t" r="r" b="b"/>
            <a:pathLst>
              <a:path w="5600700" h="3170554">
                <a:moveTo>
                  <a:pt x="5600700" y="3170098"/>
                </a:moveTo>
                <a:lnTo>
                  <a:pt x="0" y="3170098"/>
                </a:lnTo>
                <a:lnTo>
                  <a:pt x="0" y="0"/>
                </a:lnTo>
                <a:lnTo>
                  <a:pt x="5600700" y="0"/>
                </a:lnTo>
                <a:lnTo>
                  <a:pt x="5600700" y="31700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1151" y="2453983"/>
            <a:ext cx="145796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lang="en-US" sz="2000" spc="-5" dirty="0">
                <a:solidFill>
                  <a:srgbClr val="212121"/>
                </a:solidFill>
                <a:latin typeface="Consolas"/>
                <a:cs typeface="Consolas"/>
              </a:rPr>
              <a:t>   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Col</a:t>
            </a:r>
            <a:endParaRPr sz="2000" dirty="0">
              <a:latin typeface="Consolas"/>
              <a:cs typeface="Consolas"/>
            </a:endParaRPr>
          </a:p>
          <a:p>
            <a:pPr marL="988060" indent="-975994">
              <a:lnSpc>
                <a:spcPct val="100000"/>
              </a:lnSpc>
              <a:buAutoNum type="arabicPlain"/>
              <a:tabLst>
                <a:tab pos="988060" algn="l"/>
                <a:tab pos="98869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ABC</a:t>
            </a:r>
            <a:endParaRPr sz="2000" dirty="0">
              <a:latin typeface="Consolas"/>
              <a:cs typeface="Consolas"/>
            </a:endParaRPr>
          </a:p>
          <a:p>
            <a:pPr marL="988060" indent="-975994">
              <a:lnSpc>
                <a:spcPct val="100000"/>
              </a:lnSpc>
              <a:buAutoNum type="arabicPlain"/>
              <a:tabLst>
                <a:tab pos="988060" algn="l"/>
                <a:tab pos="98869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ABC</a:t>
            </a:r>
            <a:endParaRPr sz="2000" dirty="0">
              <a:latin typeface="Consolas"/>
              <a:cs typeface="Consolas"/>
            </a:endParaRPr>
          </a:p>
          <a:p>
            <a:pPr marL="988060" indent="-975994">
              <a:lnSpc>
                <a:spcPct val="100000"/>
              </a:lnSpc>
              <a:buAutoNum type="arabicPlain"/>
              <a:tabLst>
                <a:tab pos="988060" algn="l"/>
                <a:tab pos="98869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ABC</a:t>
            </a:r>
            <a:endParaRPr sz="2000" dirty="0">
              <a:latin typeface="Consolas"/>
              <a:cs typeface="Consolas"/>
            </a:endParaRPr>
          </a:p>
          <a:p>
            <a:pPr marL="988060" indent="-975994">
              <a:lnSpc>
                <a:spcPct val="100000"/>
              </a:lnSpc>
              <a:buAutoNum type="arabicPlain"/>
              <a:tabLst>
                <a:tab pos="988060" algn="l"/>
                <a:tab pos="98869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ABC</a:t>
            </a:r>
            <a:endParaRPr sz="2000" dirty="0">
              <a:latin typeface="Consolas"/>
              <a:cs typeface="Consolas"/>
            </a:endParaRPr>
          </a:p>
          <a:p>
            <a:pPr marL="988060" indent="-975994">
              <a:lnSpc>
                <a:spcPct val="100000"/>
              </a:lnSpc>
              <a:buAutoNum type="arabicPlain"/>
              <a:tabLst>
                <a:tab pos="988060" algn="l"/>
                <a:tab pos="98869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ABC</a:t>
            </a:r>
            <a:endParaRPr sz="2000" dirty="0">
              <a:latin typeface="Consolas"/>
              <a:cs typeface="Consolas"/>
            </a:endParaRPr>
          </a:p>
          <a:p>
            <a:pPr marL="430530" indent="-418465">
              <a:lnSpc>
                <a:spcPct val="100000"/>
              </a:lnSpc>
              <a:buAutoNum type="arabicPlain"/>
              <a:tabLst>
                <a:tab pos="430530" algn="l"/>
                <a:tab pos="43116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Darshan</a:t>
            </a:r>
            <a:endParaRPr sz="2000" dirty="0">
              <a:latin typeface="Consolas"/>
              <a:cs typeface="Consolas"/>
            </a:endParaRPr>
          </a:p>
          <a:p>
            <a:pPr marL="430530" indent="-418465">
              <a:lnSpc>
                <a:spcPct val="100000"/>
              </a:lnSpc>
              <a:buAutoNum type="arabicPlain"/>
              <a:tabLst>
                <a:tab pos="430530" algn="l"/>
                <a:tab pos="43116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Darshan</a:t>
            </a:r>
            <a:endParaRPr sz="2000" dirty="0">
              <a:latin typeface="Consolas"/>
              <a:cs typeface="Consolas"/>
            </a:endParaRPr>
          </a:p>
          <a:p>
            <a:pPr marL="430530" indent="-418465">
              <a:lnSpc>
                <a:spcPct val="100000"/>
              </a:lnSpc>
              <a:buAutoNum type="arabicPlain"/>
              <a:tabLst>
                <a:tab pos="430530" algn="l"/>
                <a:tab pos="43116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Darshan</a:t>
            </a:r>
            <a:endParaRPr sz="2000" dirty="0">
              <a:latin typeface="Consolas"/>
              <a:cs typeface="Consolas"/>
            </a:endParaRPr>
          </a:p>
          <a:p>
            <a:pPr marL="430530" indent="-418465">
              <a:lnSpc>
                <a:spcPct val="100000"/>
              </a:lnSpc>
              <a:buAutoNum type="arabicPlain"/>
              <a:tabLst>
                <a:tab pos="430530" algn="l"/>
                <a:tab pos="43116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Darshan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2867" y="2468921"/>
            <a:ext cx="3552535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  <a:tabLst>
                <a:tab pos="887730" algn="l"/>
                <a:tab pos="1445260" algn="l"/>
                <a:tab pos="2002155" algn="l"/>
                <a:tab pos="2559685" algn="l"/>
              </a:tabLst>
            </a:pPr>
            <a:r>
              <a:rPr lang="en-US" sz="2000" spc="-5" dirty="0">
                <a:solidFill>
                  <a:srgbClr val="212121"/>
                </a:solidFill>
                <a:latin typeface="Consolas"/>
                <a:cs typeface="Consolas"/>
              </a:rPr>
              <a:t>Dep  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Sem	RN</a:t>
            </a:r>
            <a:r>
              <a:rPr lang="en-US" sz="2000" spc="-5" dirty="0">
                <a:solidFill>
                  <a:srgbClr val="212121"/>
                </a:solidFill>
                <a:latin typeface="Consolas"/>
                <a:cs typeface="Consolas"/>
              </a:rPr>
              <a:t> 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S1	S2</a:t>
            </a:r>
            <a:r>
              <a:rPr lang="en-US" sz="2000" spc="-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S3</a:t>
            </a:r>
            <a:endParaRPr sz="2000" dirty="0">
              <a:latin typeface="Consolas"/>
              <a:cs typeface="Consolas"/>
            </a:endParaRPr>
          </a:p>
          <a:p>
            <a:pPr marL="13335">
              <a:lnSpc>
                <a:spcPct val="100000"/>
              </a:lnSpc>
              <a:tabLst>
                <a:tab pos="849630" algn="l"/>
                <a:tab pos="1267460" algn="l"/>
                <a:tab pos="1964055" algn="l"/>
                <a:tab pos="2521585" algn="l"/>
                <a:tab pos="307911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70</a:t>
            </a:r>
            <a:endParaRPr sz="2000" dirty="0">
              <a:latin typeface="Consolas"/>
              <a:cs typeface="Consolas"/>
            </a:endParaRPr>
          </a:p>
          <a:p>
            <a:pPr marL="13335">
              <a:lnSpc>
                <a:spcPct val="100000"/>
              </a:lnSpc>
              <a:tabLst>
                <a:tab pos="849630" algn="l"/>
                <a:tab pos="1267460" algn="l"/>
                <a:tab pos="1964055" algn="l"/>
                <a:tab pos="2521585" algn="l"/>
                <a:tab pos="307911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25</a:t>
            </a:r>
            <a:endParaRPr sz="2000" dirty="0">
              <a:latin typeface="Consolas"/>
              <a:cs typeface="Consolas"/>
            </a:endParaRPr>
          </a:p>
          <a:p>
            <a:pPr marL="13335">
              <a:lnSpc>
                <a:spcPct val="100000"/>
              </a:lnSpc>
              <a:tabLst>
                <a:tab pos="849630" algn="l"/>
                <a:tab pos="1267460" algn="l"/>
                <a:tab pos="1964055" algn="l"/>
                <a:tab pos="2521585" algn="l"/>
                <a:tab pos="307911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51</a:t>
            </a:r>
            <a:endParaRPr sz="2000" dirty="0">
              <a:latin typeface="Consolas"/>
              <a:cs typeface="Consolas"/>
            </a:endParaRPr>
          </a:p>
          <a:p>
            <a:pPr marL="13335">
              <a:lnSpc>
                <a:spcPct val="100000"/>
              </a:lnSpc>
              <a:tabLst>
                <a:tab pos="849630" algn="l"/>
                <a:tab pos="1267460" algn="l"/>
                <a:tab pos="1964055" algn="l"/>
                <a:tab pos="2521585" algn="l"/>
                <a:tab pos="307911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39</a:t>
            </a:r>
            <a:endParaRPr sz="2000" dirty="0">
              <a:latin typeface="Consolas"/>
              <a:cs typeface="Consolas"/>
            </a:endParaRPr>
          </a:p>
          <a:p>
            <a:pPr marL="13335">
              <a:lnSpc>
                <a:spcPct val="100000"/>
              </a:lnSpc>
              <a:tabLst>
                <a:tab pos="849630" algn="l"/>
                <a:tab pos="1267460" algn="l"/>
                <a:tab pos="1964055" algn="l"/>
                <a:tab pos="2521585" algn="l"/>
                <a:tab pos="307911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48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848360" algn="l"/>
                <a:tab pos="1266825" algn="l"/>
                <a:tab pos="1963420" algn="l"/>
                <a:tab pos="2520950" algn="l"/>
                <a:tab pos="307784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77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848360" algn="l"/>
                <a:tab pos="1266825" algn="l"/>
                <a:tab pos="1963420" algn="l"/>
                <a:tab pos="2520950" algn="l"/>
                <a:tab pos="307784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76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848360" algn="l"/>
                <a:tab pos="1266825" algn="l"/>
                <a:tab pos="1963420" algn="l"/>
                <a:tab pos="2520950" algn="l"/>
                <a:tab pos="307784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99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848360" algn="l"/>
                <a:tab pos="1266825" algn="l"/>
                <a:tab pos="1963420" algn="l"/>
                <a:tab pos="2520950" algn="l"/>
                <a:tab pos="307784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99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7152" y="2124074"/>
            <a:ext cx="2724785" cy="329565"/>
          </a:xfrm>
          <a:custGeom>
            <a:avLst/>
            <a:gdLst/>
            <a:ahLst/>
            <a:cxnLst/>
            <a:rect l="l" t="t" r="r" b="b"/>
            <a:pathLst>
              <a:path w="2724785" h="329564">
                <a:moveTo>
                  <a:pt x="2724162" y="329206"/>
                </a:moveTo>
                <a:lnTo>
                  <a:pt x="0" y="329173"/>
                </a:lnTo>
                <a:lnTo>
                  <a:pt x="22" y="54864"/>
                </a:lnTo>
                <a:lnTo>
                  <a:pt x="4334" y="33509"/>
                </a:lnTo>
                <a:lnTo>
                  <a:pt x="16092" y="16069"/>
                </a:lnTo>
                <a:lnTo>
                  <a:pt x="33531" y="4311"/>
                </a:lnTo>
                <a:lnTo>
                  <a:pt x="54887" y="0"/>
                </a:lnTo>
                <a:lnTo>
                  <a:pt x="2669307" y="0"/>
                </a:lnTo>
                <a:lnTo>
                  <a:pt x="2708103" y="16069"/>
                </a:lnTo>
                <a:lnTo>
                  <a:pt x="2724172" y="54864"/>
                </a:lnTo>
                <a:lnTo>
                  <a:pt x="2724162" y="329206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34101" y="2438743"/>
            <a:ext cx="5600700" cy="3477895"/>
          </a:xfrm>
          <a:custGeom>
            <a:avLst/>
            <a:gdLst/>
            <a:ahLst/>
            <a:cxnLst/>
            <a:rect l="l" t="t" r="r" b="b"/>
            <a:pathLst>
              <a:path w="5600700" h="3477895">
                <a:moveTo>
                  <a:pt x="5600699" y="3477875"/>
                </a:moveTo>
                <a:lnTo>
                  <a:pt x="0" y="3477875"/>
                </a:lnTo>
                <a:lnTo>
                  <a:pt x="0" y="0"/>
                </a:lnTo>
                <a:lnTo>
                  <a:pt x="5600699" y="0"/>
                </a:lnTo>
                <a:lnTo>
                  <a:pt x="5600699" y="347787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89111" y="2453639"/>
            <a:ext cx="19767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9595" algn="l"/>
                <a:tab pos="1127125" algn="l"/>
                <a:tab pos="168465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N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S3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22080" y="2758783"/>
            <a:ext cx="10007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Dep</a:t>
            </a:r>
            <a:r>
              <a:rPr sz="2000" spc="-9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Sem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7126" y="2758783"/>
            <a:ext cx="4432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Col  ABC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7126" y="3063583"/>
            <a:ext cx="183896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7125">
              <a:lnSpc>
                <a:spcPct val="100000"/>
              </a:lnSpc>
              <a:spcBef>
                <a:spcPts val="100"/>
              </a:spcBef>
              <a:tabLst>
                <a:tab pos="168465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</a:t>
            </a:r>
            <a:endParaRPr sz="2000" dirty="0">
              <a:latin typeface="Consolas"/>
              <a:cs typeface="Consolas"/>
            </a:endParaRPr>
          </a:p>
          <a:p>
            <a:pPr marL="1685925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endParaRPr sz="2000" dirty="0">
              <a:latin typeface="Consolas"/>
              <a:cs typeface="Consolas"/>
            </a:endParaRPr>
          </a:p>
          <a:p>
            <a:pPr marL="1685925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endParaRPr sz="2000" dirty="0">
              <a:latin typeface="Consolas"/>
              <a:cs typeface="Consolas"/>
            </a:endParaRPr>
          </a:p>
          <a:p>
            <a:pPr marL="1127760">
              <a:lnSpc>
                <a:spcPct val="100000"/>
              </a:lnSpc>
              <a:tabLst>
                <a:tab pos="1685289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</a:t>
            </a:r>
            <a:endParaRPr sz="2000" dirty="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endParaRPr sz="2000" dirty="0">
              <a:latin typeface="Consolas"/>
              <a:cs typeface="Consolas"/>
            </a:endParaRPr>
          </a:p>
          <a:p>
            <a:pPr marR="6350" algn="r">
              <a:lnSpc>
                <a:spcPct val="100000"/>
              </a:lnSpc>
              <a:tabLst>
                <a:tab pos="167132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n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</a:t>
            </a:r>
            <a:endParaRPr sz="2000" dirty="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endParaRPr sz="2000" dirty="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endParaRPr sz="2000" dirty="0">
              <a:latin typeface="Consolas"/>
              <a:cs typeface="Consolas"/>
            </a:endParaRPr>
          </a:p>
          <a:p>
            <a:pPr marL="1127760">
              <a:lnSpc>
                <a:spcPct val="100000"/>
              </a:lnSpc>
              <a:tabLst>
                <a:tab pos="1685289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75664" y="3063583"/>
            <a:ext cx="211772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709930" algn="l"/>
                <a:tab pos="1266825" algn="l"/>
                <a:tab pos="182435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70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8095" algn="l"/>
                <a:tab pos="18256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25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8095" algn="l"/>
                <a:tab pos="18256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51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7460" algn="l"/>
                <a:tab pos="1824989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39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8095" algn="l"/>
                <a:tab pos="18256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48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708660" algn="l"/>
                <a:tab pos="1266190" algn="l"/>
                <a:tab pos="182372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77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8095" algn="l"/>
                <a:tab pos="18256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76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8095" algn="l"/>
                <a:tab pos="18256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99</a:t>
            </a:r>
            <a:endParaRPr sz="2000" dirty="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tabLst>
                <a:tab pos="710565" algn="l"/>
                <a:tab pos="1267460" algn="l"/>
                <a:tab pos="1824989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99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53134" y="2124074"/>
            <a:ext cx="1856105" cy="329565"/>
          </a:xfrm>
          <a:custGeom>
            <a:avLst/>
            <a:gdLst/>
            <a:ahLst/>
            <a:cxnLst/>
            <a:rect l="l" t="t" r="r" b="b"/>
            <a:pathLst>
              <a:path w="1856104" h="329564">
                <a:moveTo>
                  <a:pt x="1855819" y="329199"/>
                </a:moveTo>
                <a:lnTo>
                  <a:pt x="0" y="329177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00961" y="0"/>
                </a:lnTo>
                <a:lnTo>
                  <a:pt x="1839757" y="16069"/>
                </a:lnTo>
                <a:lnTo>
                  <a:pt x="1855826" y="54864"/>
                </a:lnTo>
                <a:lnTo>
                  <a:pt x="1855819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3695" y="847391"/>
            <a:ext cx="11770995" cy="15760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Hierarchical</a:t>
            </a:r>
            <a:r>
              <a:rPr sz="2400" spc="2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indexes</a:t>
            </a:r>
            <a:r>
              <a:rPr sz="2400" spc="2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(AKA</a:t>
            </a:r>
            <a:r>
              <a:rPr sz="2400" spc="2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multiindexes)</a:t>
            </a:r>
            <a:r>
              <a:rPr sz="2400" spc="2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help</a:t>
            </a:r>
            <a:r>
              <a:rPr sz="2400" spc="2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2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organize,</a:t>
            </a:r>
            <a:r>
              <a:rPr sz="2400" spc="2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ﬁnd,</a:t>
            </a:r>
            <a:r>
              <a:rPr sz="2400" spc="2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aggregate</a:t>
            </a:r>
            <a:r>
              <a:rPr sz="2400" spc="25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information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faster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almost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cost.</a:t>
            </a:r>
            <a:endParaRPr sz="2400" dirty="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nee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Hie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chica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es</a:t>
            </a:r>
            <a:endParaRPr sz="2400" dirty="0">
              <a:latin typeface="Roboto"/>
              <a:cs typeface="Roboto"/>
            </a:endParaRPr>
          </a:p>
          <a:p>
            <a:pPr marL="344170">
              <a:lnSpc>
                <a:spcPct val="100000"/>
              </a:lnSpc>
              <a:spcBef>
                <a:spcPts val="1225"/>
              </a:spcBef>
              <a:tabLst>
                <a:tab pos="6464300" algn="l"/>
              </a:tabLst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Numeri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c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Index/Single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Index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Mult</a:t>
            </a:r>
            <a:r>
              <a:rPr sz="1600" spc="-55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Index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9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0775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Multi-Index </a:t>
            </a:r>
            <a:r>
              <a:rPr spc="-5" dirty="0"/>
              <a:t>DataFrame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7861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 algn="just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2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Creating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multiindexes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simple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creating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single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Consolas"/>
                <a:cs typeface="Consolas"/>
              </a:rPr>
              <a:t>set_index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method,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only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difference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case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multiindexes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need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provide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indexes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instead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single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string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index,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lets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see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example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244901"/>
              </p:ext>
            </p:extLst>
          </p:nvPr>
        </p:nvGraphicFramePr>
        <p:xfrm>
          <a:off x="370242" y="2274629"/>
          <a:ext cx="6020435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dfMulti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'MultiIndexDemo.csv'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dfMulti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set_index([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'Col'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'Dep'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'Sem'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],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inplace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(dfMulti)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0227" y="19454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6365" y="1975324"/>
            <a:ext cx="1266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dfMultiIndex.py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325739"/>
              </p:ext>
            </p:extLst>
          </p:nvPr>
        </p:nvGraphicFramePr>
        <p:xfrm>
          <a:off x="6896099" y="2322494"/>
          <a:ext cx="4760592" cy="33845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3999">
                <a:tc gridSpan="3"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lang="en-US"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        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RN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S1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843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8572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Dep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ABC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Darshan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924659" y="1914524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1" y="16069"/>
                </a:lnTo>
                <a:lnTo>
                  <a:pt x="1876440" y="54864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80874" y="1944403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822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5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642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Multi-Index </a:t>
            </a:r>
            <a:r>
              <a:rPr spc="-5" dirty="0"/>
              <a:t>DataFrame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273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80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Now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multi-indexed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DataFrame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access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multiple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9358" y="2407979"/>
            <a:ext cx="4397375" cy="4006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(dfMulti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loc[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'Darshan'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9367" y="2407979"/>
            <a:ext cx="500380" cy="4006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39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19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9350" y="2078795"/>
            <a:ext cx="1972945" cy="329565"/>
          </a:xfrm>
          <a:custGeom>
            <a:avLst/>
            <a:gdLst/>
            <a:ahLst/>
            <a:cxnLst/>
            <a:rect l="l" t="t" r="r" b="b"/>
            <a:pathLst>
              <a:path w="1972945" h="329564">
                <a:moveTo>
                  <a:pt x="1972916" y="329200"/>
                </a:moveTo>
                <a:lnTo>
                  <a:pt x="0" y="329176"/>
                </a:lnTo>
                <a:lnTo>
                  <a:pt x="16" y="54865"/>
                </a:lnTo>
                <a:lnTo>
                  <a:pt x="4328" y="33509"/>
                </a:lnTo>
                <a:lnTo>
                  <a:pt x="16086" y="16069"/>
                </a:lnTo>
                <a:lnTo>
                  <a:pt x="33525" y="4311"/>
                </a:lnTo>
                <a:lnTo>
                  <a:pt x="54881" y="0"/>
                </a:lnTo>
                <a:lnTo>
                  <a:pt x="1918059" y="0"/>
                </a:lnTo>
                <a:lnTo>
                  <a:pt x="1956854" y="16069"/>
                </a:lnTo>
                <a:lnTo>
                  <a:pt x="1972924" y="54865"/>
                </a:lnTo>
                <a:lnTo>
                  <a:pt x="1972916" y="32920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695" y="1262975"/>
            <a:ext cx="5478780" cy="11150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Example</a:t>
            </a:r>
            <a:endParaRPr sz="2400">
              <a:latin typeface="Roboto"/>
              <a:cs typeface="Roboto"/>
            </a:endParaRPr>
          </a:p>
          <a:p>
            <a:pPr marL="474980">
              <a:lnSpc>
                <a:spcPct val="100000"/>
              </a:lnSpc>
              <a:spcBef>
                <a:spcPts val="265"/>
              </a:spcBef>
              <a:tabLst>
                <a:tab pos="852169" algn="l"/>
              </a:tabLst>
            </a:pPr>
            <a:r>
              <a:rPr sz="2000" spc="-525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Sub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DataFrame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students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Darshan</a:t>
            </a:r>
            <a:endParaRPr sz="2000">
              <a:latin typeface="Roboto"/>
              <a:cs typeface="Roboto"/>
            </a:endParaRPr>
          </a:p>
          <a:p>
            <a:pPr marL="950594">
              <a:lnSpc>
                <a:spcPct val="100000"/>
              </a:lnSpc>
              <a:spcBef>
                <a:spcPts val="795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dfGrabDarshanStu.py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48474" y="1409699"/>
            <a:ext cx="4762500" cy="2254250"/>
            <a:chOff x="6848474" y="1409699"/>
            <a:chExt cx="4762500" cy="2254250"/>
          </a:xfrm>
        </p:grpSpPr>
        <p:sp>
          <p:nvSpPr>
            <p:cNvPr id="9" name="object 9"/>
            <p:cNvSpPr/>
            <p:nvPr/>
          </p:nvSpPr>
          <p:spPr>
            <a:xfrm>
              <a:off x="6848474" y="1724369"/>
              <a:ext cx="4762500" cy="1939289"/>
            </a:xfrm>
            <a:custGeom>
              <a:avLst/>
              <a:gdLst/>
              <a:ahLst/>
              <a:cxnLst/>
              <a:rect l="l" t="t" r="r" b="b"/>
              <a:pathLst>
                <a:path w="4762500" h="1939289">
                  <a:moveTo>
                    <a:pt x="4762500" y="1938991"/>
                  </a:moveTo>
                  <a:lnTo>
                    <a:pt x="0" y="1938991"/>
                  </a:lnTo>
                  <a:lnTo>
                    <a:pt x="0" y="0"/>
                  </a:lnTo>
                  <a:lnTo>
                    <a:pt x="4762500" y="0"/>
                  </a:lnTo>
                  <a:lnTo>
                    <a:pt x="4762500" y="193899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77028" y="1409699"/>
              <a:ext cx="2562860" cy="329565"/>
            </a:xfrm>
            <a:custGeom>
              <a:avLst/>
              <a:gdLst/>
              <a:ahLst/>
              <a:cxnLst/>
              <a:rect l="l" t="t" r="r" b="b"/>
              <a:pathLst>
                <a:path w="2562859" h="329564">
                  <a:moveTo>
                    <a:pt x="2562236" y="329205"/>
                  </a:moveTo>
                  <a:lnTo>
                    <a:pt x="0" y="329174"/>
                  </a:lnTo>
                  <a:lnTo>
                    <a:pt x="20" y="54865"/>
                  </a:lnTo>
                  <a:lnTo>
                    <a:pt x="4332" y="33509"/>
                  </a:lnTo>
                  <a:lnTo>
                    <a:pt x="16090" y="16069"/>
                  </a:lnTo>
                  <a:lnTo>
                    <a:pt x="33530" y="4311"/>
                  </a:lnTo>
                  <a:lnTo>
                    <a:pt x="54885" y="0"/>
                  </a:lnTo>
                  <a:lnTo>
                    <a:pt x="2507380" y="0"/>
                  </a:lnTo>
                  <a:lnTo>
                    <a:pt x="2546176" y="16069"/>
                  </a:lnTo>
                  <a:lnTo>
                    <a:pt x="2562245" y="54865"/>
                  </a:lnTo>
                  <a:lnTo>
                    <a:pt x="2562236" y="329205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57995" y="1439577"/>
            <a:ext cx="13976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Outpu</a:t>
            </a:r>
            <a:r>
              <a:rPr sz="1600" spc="-75" dirty="0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(Darshan)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6508" y="5465505"/>
            <a:ext cx="4987925" cy="40068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20"/>
              </a:spcBef>
            </a:pP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(dfMulti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loc[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'Darshan'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,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'CE'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6517" y="5465505"/>
            <a:ext cx="500380" cy="40068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40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20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46497" y="5136320"/>
            <a:ext cx="2353945" cy="329565"/>
          </a:xfrm>
          <a:custGeom>
            <a:avLst/>
            <a:gdLst/>
            <a:ahLst/>
            <a:cxnLst/>
            <a:rect l="l" t="t" r="r" b="b"/>
            <a:pathLst>
              <a:path w="2353945" h="329564">
                <a:moveTo>
                  <a:pt x="2353919" y="329203"/>
                </a:moveTo>
                <a:lnTo>
                  <a:pt x="0" y="329174"/>
                </a:lnTo>
                <a:lnTo>
                  <a:pt x="19" y="54864"/>
                </a:lnTo>
                <a:lnTo>
                  <a:pt x="4331" y="33509"/>
                </a:lnTo>
                <a:lnTo>
                  <a:pt x="16089" y="16069"/>
                </a:lnTo>
                <a:lnTo>
                  <a:pt x="33528" y="4311"/>
                </a:lnTo>
                <a:lnTo>
                  <a:pt x="54884" y="0"/>
                </a:lnTo>
                <a:lnTo>
                  <a:pt x="2299062" y="0"/>
                </a:lnTo>
                <a:lnTo>
                  <a:pt x="2337858" y="16069"/>
                </a:lnTo>
                <a:lnTo>
                  <a:pt x="2353927" y="54864"/>
                </a:lnTo>
                <a:lnTo>
                  <a:pt x="2353919" y="329203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6039" y="4372707"/>
            <a:ext cx="4537075" cy="106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marR="5080" indent="-377825">
              <a:lnSpc>
                <a:spcPct val="110800"/>
              </a:lnSpc>
              <a:spcBef>
                <a:spcPts val="100"/>
              </a:spcBef>
              <a:tabLst>
                <a:tab pos="389890" algn="l"/>
              </a:tabLst>
            </a:pPr>
            <a:r>
              <a:rPr sz="2000" spc="-525" dirty="0">
                <a:solidFill>
                  <a:srgbClr val="B84742"/>
                </a:solidFill>
                <a:latin typeface="Segoe UI Symbol"/>
                <a:cs typeface="Segoe UI Symbol"/>
              </a:rPr>
              <a:t>□	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Sub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DataFrame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Computer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Engineering </a:t>
            </a:r>
            <a:r>
              <a:rPr sz="2000" spc="-48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student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229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Darshan</a:t>
            </a:r>
            <a:endParaRPr sz="2000">
              <a:latin typeface="Roboto"/>
              <a:cs typeface="Roboto"/>
            </a:endParaRPr>
          </a:p>
          <a:p>
            <a:pPr marL="628015">
              <a:lnSpc>
                <a:spcPct val="100000"/>
              </a:lnSpc>
              <a:spcBef>
                <a:spcPts val="925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dfGrabDarshanCEStu.py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96099" y="4115144"/>
            <a:ext cx="4762500" cy="1631314"/>
          </a:xfrm>
          <a:custGeom>
            <a:avLst/>
            <a:gdLst/>
            <a:ahLst/>
            <a:cxnLst/>
            <a:rect l="l" t="t" r="r" b="b"/>
            <a:pathLst>
              <a:path w="4762500" h="1631314">
                <a:moveTo>
                  <a:pt x="4762500" y="1631215"/>
                </a:moveTo>
                <a:lnTo>
                  <a:pt x="0" y="1631215"/>
                </a:lnTo>
                <a:lnTo>
                  <a:pt x="0" y="0"/>
                </a:lnTo>
                <a:lnTo>
                  <a:pt x="4762500" y="0"/>
                </a:lnTo>
                <a:lnTo>
                  <a:pt x="4762500" y="163121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907211" y="4144944"/>
          <a:ext cx="2891787" cy="1601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859586" y="1754169"/>
          <a:ext cx="3453128" cy="2341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23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Dep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501">
                <a:tc gridSpan="6">
                  <a:txBody>
                    <a:bodyPr/>
                    <a:lstStyle/>
                    <a:p>
                      <a:pPr marL="469265">
                        <a:lnSpc>
                          <a:spcPts val="1889"/>
                        </a:lnSpc>
                        <a:spcBef>
                          <a:spcPts val="1415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Outpu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(Darshan-&gt;CE)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179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6924654" y="3800473"/>
            <a:ext cx="2543810" cy="329565"/>
          </a:xfrm>
          <a:custGeom>
            <a:avLst/>
            <a:gdLst/>
            <a:ahLst/>
            <a:cxnLst/>
            <a:rect l="l" t="t" r="r" b="b"/>
            <a:pathLst>
              <a:path w="2543809" h="329564">
                <a:moveTo>
                  <a:pt x="2543186" y="329205"/>
                </a:moveTo>
                <a:lnTo>
                  <a:pt x="0" y="329174"/>
                </a:lnTo>
                <a:lnTo>
                  <a:pt x="20" y="54865"/>
                </a:lnTo>
                <a:lnTo>
                  <a:pt x="4332" y="33509"/>
                </a:lnTo>
                <a:lnTo>
                  <a:pt x="16090" y="16069"/>
                </a:lnTo>
                <a:lnTo>
                  <a:pt x="33530" y="4311"/>
                </a:lnTo>
                <a:lnTo>
                  <a:pt x="54885" y="0"/>
                </a:lnTo>
                <a:lnTo>
                  <a:pt x="2488330" y="0"/>
                </a:lnTo>
                <a:lnTo>
                  <a:pt x="2527126" y="16069"/>
                </a:lnTo>
                <a:lnTo>
                  <a:pt x="2543195" y="54865"/>
                </a:lnTo>
                <a:lnTo>
                  <a:pt x="2543186" y="329205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365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1309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Reading</a:t>
            </a:r>
            <a:r>
              <a:rPr spc="20" dirty="0"/>
              <a:t> </a:t>
            </a:r>
            <a:r>
              <a:rPr spc="10" dirty="0"/>
              <a:t>in</a:t>
            </a:r>
            <a:r>
              <a:rPr spc="20" dirty="0"/>
              <a:t> Multiindexed</a:t>
            </a:r>
            <a:r>
              <a:rPr spc="25" dirty="0"/>
              <a:t> </a:t>
            </a:r>
            <a:r>
              <a:rPr spc="-5" dirty="0"/>
              <a:t>DataFrame</a:t>
            </a:r>
            <a:r>
              <a:rPr spc="25" dirty="0"/>
              <a:t> </a:t>
            </a:r>
            <a:r>
              <a:rPr spc="20" dirty="0"/>
              <a:t>directly</a:t>
            </a:r>
            <a:r>
              <a:rPr spc="25" dirty="0"/>
              <a:t> </a:t>
            </a:r>
            <a:r>
              <a:rPr spc="10" dirty="0"/>
              <a:t>from</a:t>
            </a:r>
            <a:r>
              <a:rPr spc="25" dirty="0"/>
              <a:t> </a:t>
            </a:r>
            <a:r>
              <a:rPr spc="35" dirty="0"/>
              <a:t>CSV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532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Consolas"/>
                <a:cs typeface="Consolas"/>
              </a:rPr>
              <a:t>read_csv</a:t>
            </a:r>
            <a:r>
              <a:rPr sz="2400" b="1" spc="-48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2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 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provides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easy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way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2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multi-indexed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DataFrame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directly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while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fetching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CSV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ﬁle.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242" y="1979354"/>
          <a:ext cx="5239385" cy="193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dfMultiCSV</a:t>
                      </a:r>
                      <a:r>
                        <a:rPr sz="2000" spc="-4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'MultiIndexDemo.csv'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,index_col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#for</a:t>
                      </a:r>
                      <a:r>
                        <a:rPr sz="20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multi-index</a:t>
                      </a:r>
                      <a:r>
                        <a:rPr sz="20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sz="20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cols</a:t>
                      </a:r>
                      <a:r>
                        <a:rPr sz="2000" i="1" spc="-1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we</a:t>
                      </a:r>
                      <a:r>
                        <a:rPr sz="2000" i="1" spc="-20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can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use</a:t>
                      </a:r>
                      <a:r>
                        <a:rPr sz="2000" i="1" spc="-3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header</a:t>
                      </a:r>
                      <a:r>
                        <a:rPr sz="2000" b="1" i="1" spc="-3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i="1" spc="-5" dirty="0">
                          <a:solidFill>
                            <a:srgbClr val="408080"/>
                          </a:solidFill>
                          <a:latin typeface="Consolas"/>
                          <a:cs typeface="Consolas"/>
                        </a:rPr>
                        <a:t>parameter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(dfMultiCSV)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0227" y="16501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6365" y="1680049"/>
            <a:ext cx="1266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dfMultiIndex.py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896099" y="2027219"/>
          <a:ext cx="4760592" cy="33845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3999">
                <a:tc gridSpan="3"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843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8572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Dep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22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ABC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Darshan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048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924659" y="1619249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4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80874" y="164912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pic>
        <p:nvPicPr>
          <p:cNvPr id="15" name="Picture 14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6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/>
          <p:nvPr/>
        </p:nvSpPr>
        <p:spPr>
          <a:xfrm>
            <a:off x="-101" y="6603898"/>
            <a:ext cx="12192635" cy="254635"/>
          </a:xfrm>
          <a:custGeom>
            <a:avLst/>
            <a:gdLst/>
            <a:ahLst/>
            <a:cxnLst/>
            <a:rect l="l" t="t" r="r" b="b"/>
            <a:pathLst>
              <a:path w="12192635" h="254634">
                <a:moveTo>
                  <a:pt x="101" y="101"/>
                </a:moveTo>
                <a:lnTo>
                  <a:pt x="12192099" y="101"/>
                </a:lnTo>
                <a:lnTo>
                  <a:pt x="12192099" y="254101"/>
                </a:lnTo>
                <a:lnTo>
                  <a:pt x="101" y="254101"/>
                </a:lnTo>
                <a:lnTo>
                  <a:pt x="101" y="101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1518" y="6645040"/>
            <a:ext cx="3856354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  <a:tabLst>
                <a:tab pos="3702050" algn="l"/>
              </a:tabLst>
            </a:pPr>
            <a:r>
              <a:rPr sz="1200" spc="-65" dirty="0">
                <a:solidFill>
                  <a:srgbClr val="363636"/>
                </a:solidFill>
                <a:latin typeface="Roboto Lt"/>
                <a:cs typeface="Roboto Lt"/>
              </a:rPr>
              <a:t>rkin</a:t>
            </a:r>
            <a:r>
              <a:rPr sz="1200" spc="-80" dirty="0">
                <a:solidFill>
                  <a:srgbClr val="363636"/>
                </a:solidFill>
                <a:latin typeface="Roboto Lt"/>
                <a:cs typeface="Roboto Lt"/>
              </a:rPr>
              <a:t>g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70" dirty="0">
                <a:solidFill>
                  <a:srgbClr val="363636"/>
                </a:solidFill>
                <a:latin typeface="Roboto Lt"/>
                <a:cs typeface="Roboto Lt"/>
              </a:rPr>
              <a:t>wit</a:t>
            </a:r>
            <a:r>
              <a:rPr sz="1200" spc="-85" dirty="0">
                <a:solidFill>
                  <a:srgbClr val="363636"/>
                </a:solidFill>
                <a:latin typeface="Roboto Lt"/>
                <a:cs typeface="Roboto Lt"/>
              </a:rPr>
              <a:t>h</a:t>
            </a:r>
            <a:r>
              <a:rPr sz="1200" spc="-25" dirty="0">
                <a:solidFill>
                  <a:srgbClr val="363636"/>
                </a:solidFill>
                <a:latin typeface="Roboto Lt"/>
                <a:cs typeface="Roboto Lt"/>
              </a:rPr>
              <a:t> </a:t>
            </a:r>
            <a:r>
              <a:rPr sz="1200" spc="-85" dirty="0">
                <a:solidFill>
                  <a:srgbClr val="363636"/>
                </a:solidFill>
                <a:latin typeface="Roboto Lt"/>
                <a:cs typeface="Roboto Lt"/>
              </a:rPr>
              <a:t>Data</a:t>
            </a:r>
            <a:r>
              <a:rPr sz="1200" dirty="0">
                <a:solidFill>
                  <a:srgbClr val="363636"/>
                </a:solidFill>
                <a:latin typeface="Roboto Lt"/>
                <a:cs typeface="Roboto Lt"/>
              </a:rPr>
              <a:t>	</a:t>
            </a:r>
            <a:r>
              <a:rPr sz="1200" b="1" spc="-30" dirty="0">
                <a:solidFill>
                  <a:srgbClr val="363636"/>
                </a:solidFill>
                <a:latin typeface="Roboto Cn"/>
                <a:cs typeface="Roboto Cn"/>
              </a:rPr>
              <a:t>53</a:t>
            </a:r>
            <a:endParaRPr sz="1200">
              <a:latin typeface="Roboto Cn"/>
              <a:cs typeface="Roboto C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280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Cross</a:t>
            </a:r>
            <a:r>
              <a:rPr dirty="0"/>
              <a:t> </a:t>
            </a:r>
            <a:r>
              <a:rPr spc="20" dirty="0"/>
              <a:t>Sections</a:t>
            </a:r>
            <a:r>
              <a:rPr spc="5" dirty="0"/>
              <a:t> </a:t>
            </a:r>
            <a:r>
              <a:rPr spc="10" dirty="0"/>
              <a:t>in</a:t>
            </a:r>
            <a:r>
              <a:rPr spc="-5" dirty="0"/>
              <a:t> DataFrame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3696" y="847391"/>
            <a:ext cx="758380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-61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xs()</a:t>
            </a:r>
            <a:r>
              <a:rPr sz="2400" spc="409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3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cross-section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the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Series/DataFrame.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696" y="3416346"/>
            <a:ext cx="1483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4455" y="3115642"/>
            <a:ext cx="7002145" cy="369570"/>
          </a:xfrm>
          <a:custGeom>
            <a:avLst/>
            <a:gdLst/>
            <a:ahLst/>
            <a:cxnLst/>
            <a:rect l="l" t="t" r="r" b="b"/>
            <a:pathLst>
              <a:path w="7002145" h="369570">
                <a:moveTo>
                  <a:pt x="7002109" y="369331"/>
                </a:moveTo>
                <a:lnTo>
                  <a:pt x="0" y="369331"/>
                </a:lnTo>
                <a:lnTo>
                  <a:pt x="0" y="0"/>
                </a:lnTo>
                <a:lnTo>
                  <a:pt x="7002109" y="0"/>
                </a:lnTo>
                <a:lnTo>
                  <a:pt x="7002109" y="36933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7481" y="3131899"/>
            <a:ext cx="679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DataFrame.xs(key,</a:t>
            </a:r>
            <a:r>
              <a:rPr sz="180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axis=0,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level=None,</a:t>
            </a:r>
            <a:r>
              <a:rPr sz="18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nsolas"/>
                <a:cs typeface="Consolas"/>
              </a:rPr>
              <a:t>drop_level=True)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4441" y="2786458"/>
            <a:ext cx="1885314" cy="329565"/>
          </a:xfrm>
          <a:custGeom>
            <a:avLst/>
            <a:gdLst/>
            <a:ahLst/>
            <a:cxnLst/>
            <a:rect l="l" t="t" r="r" b="b"/>
            <a:pathLst>
              <a:path w="1885314" h="329564">
                <a:moveTo>
                  <a:pt x="1884968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30110" y="0"/>
                </a:lnTo>
                <a:lnTo>
                  <a:pt x="1868906" y="16069"/>
                </a:lnTo>
                <a:lnTo>
                  <a:pt x="1884975" y="54864"/>
                </a:lnTo>
                <a:lnTo>
                  <a:pt x="1884968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3696" y="1632759"/>
            <a:ext cx="7609840" cy="14528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985519" algn="l"/>
                <a:tab pos="2062480" algn="l"/>
                <a:tab pos="2878455" algn="l"/>
                <a:tab pos="3188970" algn="l"/>
                <a:tab pos="3755390" algn="l"/>
                <a:tab pos="5060950" algn="l"/>
                <a:tab pos="5464810" algn="l"/>
                <a:tab pos="6352540" algn="l"/>
                <a:tab pos="7049770" algn="l"/>
                <a:tab pos="7450455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Thi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ta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gumen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selec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at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 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ticula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MultiIndex.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Synta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</a:t>
            </a:r>
            <a:endParaRPr sz="2400">
              <a:latin typeface="Roboto"/>
              <a:cs typeface="Roboto"/>
            </a:endParaRPr>
          </a:p>
          <a:p>
            <a:pPr marL="1012190">
              <a:lnSpc>
                <a:spcPct val="100000"/>
              </a:lnSpc>
              <a:spcBef>
                <a:spcPts val="259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66774" y="751062"/>
            <a:ext cx="4181475" cy="2247265"/>
          </a:xfrm>
          <a:custGeom>
            <a:avLst/>
            <a:gdLst/>
            <a:ahLst/>
            <a:cxnLst/>
            <a:rect l="l" t="t" r="r" b="b"/>
            <a:pathLst>
              <a:path w="4181475" h="2247265">
                <a:moveTo>
                  <a:pt x="4180976" y="2246768"/>
                </a:moveTo>
                <a:lnTo>
                  <a:pt x="0" y="2246768"/>
                </a:lnTo>
                <a:lnTo>
                  <a:pt x="0" y="0"/>
                </a:lnTo>
                <a:lnTo>
                  <a:pt x="4180976" y="0"/>
                </a:lnTo>
                <a:lnTo>
                  <a:pt x="4180976" y="224676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39799" y="766302"/>
            <a:ext cx="25330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===</a:t>
            </a:r>
            <a:r>
              <a:rPr sz="2000" b="1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Parameters</a:t>
            </a:r>
            <a:r>
              <a:rPr sz="2000" b="1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===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39799" y="1071102"/>
            <a:ext cx="1636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ke</a:t>
            </a:r>
            <a:r>
              <a:rPr sz="2000" b="1" dirty="0">
                <a:solidFill>
                  <a:srgbClr val="212121"/>
                </a:solidFill>
                <a:latin typeface="Consolas"/>
                <a:cs typeface="Consolas"/>
              </a:rPr>
              <a:t>y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: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label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39799" y="1375902"/>
            <a:ext cx="364807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4505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axi</a:t>
            </a:r>
            <a:r>
              <a:rPr sz="2000" b="1" dirty="0">
                <a:solidFill>
                  <a:srgbClr val="212121"/>
                </a:solidFill>
                <a:latin typeface="Consolas"/>
                <a:cs typeface="Consolas"/>
              </a:rPr>
              <a:t>s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:</a:t>
            </a:r>
            <a:r>
              <a:rPr sz="2000" spc="-49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Axi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t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o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retrieve  cross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section</a:t>
            </a: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level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: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level of key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drop_level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: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False if you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want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to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preserve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the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level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7803" y="3835403"/>
            <a:ext cx="6975475" cy="1960880"/>
            <a:chOff x="317803" y="3835403"/>
            <a:chExt cx="6975475" cy="1960880"/>
          </a:xfrm>
        </p:grpSpPr>
        <p:sp>
          <p:nvSpPr>
            <p:cNvPr id="26" name="object 26"/>
            <p:cNvSpPr/>
            <p:nvPr/>
          </p:nvSpPr>
          <p:spPr>
            <a:xfrm>
              <a:off x="817810" y="4164587"/>
              <a:ext cx="6475730" cy="1631314"/>
            </a:xfrm>
            <a:custGeom>
              <a:avLst/>
              <a:gdLst/>
              <a:ahLst/>
              <a:cxnLst/>
              <a:rect l="l" t="t" r="r" b="b"/>
              <a:pathLst>
                <a:path w="6475730" h="1631314">
                  <a:moveTo>
                    <a:pt x="6475378" y="1631215"/>
                  </a:moveTo>
                  <a:lnTo>
                    <a:pt x="0" y="1631215"/>
                  </a:lnTo>
                  <a:lnTo>
                    <a:pt x="0" y="0"/>
                  </a:lnTo>
                  <a:lnTo>
                    <a:pt x="6475378" y="0"/>
                  </a:lnTo>
                  <a:lnTo>
                    <a:pt x="6475378" y="163121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7818" y="4164587"/>
              <a:ext cx="514984" cy="1631314"/>
            </a:xfrm>
            <a:custGeom>
              <a:avLst/>
              <a:gdLst/>
              <a:ahLst/>
              <a:cxnLst/>
              <a:rect l="l" t="t" r="r" b="b"/>
              <a:pathLst>
                <a:path w="514984" h="1631314">
                  <a:moveTo>
                    <a:pt x="514628" y="1631215"/>
                  </a:moveTo>
                  <a:lnTo>
                    <a:pt x="0" y="1631215"/>
                  </a:lnTo>
                  <a:lnTo>
                    <a:pt x="0" y="0"/>
                  </a:lnTo>
                  <a:lnTo>
                    <a:pt x="514628" y="0"/>
                  </a:lnTo>
                  <a:lnTo>
                    <a:pt x="514628" y="163121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7803" y="3835403"/>
              <a:ext cx="1831339" cy="329565"/>
            </a:xfrm>
            <a:custGeom>
              <a:avLst/>
              <a:gdLst/>
              <a:ahLst/>
              <a:cxnLst/>
              <a:rect l="l" t="t" r="r" b="b"/>
              <a:pathLst>
                <a:path w="1831339" h="329564">
                  <a:moveTo>
                    <a:pt x="1830848" y="329198"/>
                  </a:moveTo>
                  <a:lnTo>
                    <a:pt x="0" y="329177"/>
                  </a:lnTo>
                  <a:lnTo>
                    <a:pt x="15" y="54865"/>
                  </a:lnTo>
                  <a:lnTo>
                    <a:pt x="4326" y="33509"/>
                  </a:lnTo>
                  <a:lnTo>
                    <a:pt x="16085" y="16069"/>
                  </a:lnTo>
                  <a:lnTo>
                    <a:pt x="33524" y="4311"/>
                  </a:lnTo>
                  <a:lnTo>
                    <a:pt x="54880" y="0"/>
                  </a:lnTo>
                  <a:lnTo>
                    <a:pt x="1775990" y="0"/>
                  </a:lnTo>
                  <a:lnTo>
                    <a:pt x="1814785" y="16069"/>
                  </a:lnTo>
                  <a:lnTo>
                    <a:pt x="1830855" y="54865"/>
                  </a:lnTo>
                  <a:lnTo>
                    <a:pt x="1830848" y="329198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94427" y="3808718"/>
            <a:ext cx="6603365" cy="1920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4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dfMultiIndex.py</a:t>
            </a:r>
            <a:endParaRPr sz="1600">
              <a:latin typeface="Roboto"/>
              <a:cs typeface="Roboto"/>
            </a:endParaRPr>
          </a:p>
          <a:p>
            <a:pPr marL="308610" marR="1679575" indent="-296545">
              <a:lnSpc>
                <a:spcPct val="100000"/>
              </a:lnSpc>
              <a:spcBef>
                <a:spcPts val="555"/>
              </a:spcBef>
              <a:buClr>
                <a:srgbClr val="575757"/>
              </a:buClr>
              <a:buFont typeface="Consolas"/>
              <a:buAutoNum type="arabicPlain"/>
              <a:tabLst>
                <a:tab pos="30924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dfMultiCSV</a:t>
            </a:r>
            <a:r>
              <a:rPr sz="2000" spc="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666666"/>
                </a:solidFill>
                <a:latin typeface="Consolas"/>
                <a:cs typeface="Consolas"/>
              </a:rPr>
              <a:t>= </a:t>
            </a:r>
            <a:r>
              <a:rPr sz="2000" spc="5" dirty="0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read_csv(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'MultiIndexDemo.csv'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index_col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=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[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0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,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1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,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2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  <a:p>
            <a:pPr marL="308610" indent="-296545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309245" algn="l"/>
              </a:tabLst>
            </a:pP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(dfMultiCSV)</a:t>
            </a:r>
            <a:endParaRPr sz="2000">
              <a:latin typeface="Consolas"/>
              <a:cs typeface="Consolas"/>
            </a:endParaRPr>
          </a:p>
          <a:p>
            <a:pPr marL="308610" indent="-296545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309245" algn="l"/>
              </a:tabLst>
            </a:pP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(dfMultiCSV.xs(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'CE'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,axis=0,level=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'Dep'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80118" y="3302317"/>
            <a:ext cx="4762500" cy="3477895"/>
          </a:xfrm>
          <a:custGeom>
            <a:avLst/>
            <a:gdLst/>
            <a:ahLst/>
            <a:cxnLst/>
            <a:rect l="l" t="t" r="r" b="b"/>
            <a:pathLst>
              <a:path w="4762500" h="3477895">
                <a:moveTo>
                  <a:pt x="4762501" y="3477875"/>
                </a:moveTo>
                <a:lnTo>
                  <a:pt x="0" y="3477875"/>
                </a:lnTo>
                <a:lnTo>
                  <a:pt x="0" y="0"/>
                </a:lnTo>
                <a:lnTo>
                  <a:pt x="4762501" y="0"/>
                </a:lnTo>
                <a:lnTo>
                  <a:pt x="4762501" y="347787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465843" y="3395617"/>
            <a:ext cx="4460875" cy="238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1930">
              <a:lnSpc>
                <a:spcPts val="1885"/>
              </a:lnSpc>
              <a:tabLst>
                <a:tab pos="2029460" algn="l"/>
                <a:tab pos="2586355" algn="l"/>
                <a:tab pos="314388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RN	S1	S2	S3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11144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Col	Dep</a:t>
            </a:r>
            <a:r>
              <a:rPr sz="2000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Sem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1114425" algn="l"/>
                <a:tab pos="1671955" algn="l"/>
                <a:tab pos="2369185" algn="l"/>
                <a:tab pos="3065780" algn="l"/>
                <a:tab pos="3622675" algn="l"/>
                <a:tab pos="418020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C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70</a:t>
            </a:r>
            <a:endParaRPr sz="2000">
              <a:latin typeface="Consolas"/>
              <a:cs typeface="Consolas"/>
            </a:endParaRPr>
          </a:p>
          <a:p>
            <a:pPr algn="r">
              <a:lnSpc>
                <a:spcPct val="100000"/>
              </a:lnSpc>
              <a:tabLst>
                <a:tab pos="696595" algn="l"/>
                <a:tab pos="1393190" algn="l"/>
                <a:tab pos="1950720" algn="l"/>
                <a:tab pos="250825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102	48	70	25</a:t>
            </a:r>
            <a:endParaRPr sz="2000">
              <a:latin typeface="Consolas"/>
              <a:cs typeface="Consolas"/>
            </a:endParaRPr>
          </a:p>
          <a:p>
            <a:pPr algn="r">
              <a:lnSpc>
                <a:spcPct val="100000"/>
              </a:lnSpc>
              <a:tabLst>
                <a:tab pos="696595" algn="l"/>
                <a:tab pos="1393190" algn="l"/>
                <a:tab pos="1950720" algn="l"/>
                <a:tab pos="250825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7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101	58	59	51</a:t>
            </a:r>
            <a:endParaRPr sz="2000">
              <a:latin typeface="Consolas"/>
              <a:cs typeface="Consolas"/>
            </a:endParaRPr>
          </a:p>
          <a:p>
            <a:pPr algn="r">
              <a:lnSpc>
                <a:spcPct val="100000"/>
              </a:lnSpc>
              <a:tabLst>
                <a:tab pos="556895" algn="l"/>
                <a:tab pos="1254125" algn="l"/>
                <a:tab pos="1950720" algn="l"/>
                <a:tab pos="2508250" algn="l"/>
                <a:tab pos="306514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ME	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101	30	35	39</a:t>
            </a:r>
            <a:endParaRPr sz="2000">
              <a:latin typeface="Consolas"/>
              <a:cs typeface="Consolas"/>
            </a:endParaRPr>
          </a:p>
          <a:p>
            <a:pPr algn="r">
              <a:lnSpc>
                <a:spcPct val="100000"/>
              </a:lnSpc>
              <a:tabLst>
                <a:tab pos="696595" algn="l"/>
                <a:tab pos="1393190" algn="l"/>
                <a:tab pos="1950720" algn="l"/>
                <a:tab pos="250825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102	50	90	48</a:t>
            </a:r>
            <a:endParaRPr sz="2000">
              <a:latin typeface="Consolas"/>
              <a:cs typeface="Consolas"/>
            </a:endParaRPr>
          </a:p>
          <a:p>
            <a:pPr algn="r">
              <a:lnSpc>
                <a:spcPct val="100000"/>
              </a:lnSpc>
              <a:tabLst>
                <a:tab pos="1671320" algn="l"/>
                <a:tab pos="2367915" algn="l"/>
                <a:tab pos="3064510" algn="l"/>
                <a:tab pos="3622040" algn="l"/>
                <a:tab pos="417957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Darsha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n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 C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E	5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8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9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77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11563" y="2985481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1" y="16069"/>
                </a:lnTo>
                <a:lnTo>
                  <a:pt x="1876440" y="54864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067778" y="3015360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11578" y="3308492"/>
            <a:ext cx="4762500" cy="2554605"/>
          </a:xfrm>
          <a:custGeom>
            <a:avLst/>
            <a:gdLst/>
            <a:ahLst/>
            <a:cxnLst/>
            <a:rect l="l" t="t" r="r" b="b"/>
            <a:pathLst>
              <a:path w="4762500" h="2554604">
                <a:moveTo>
                  <a:pt x="4762500" y="2554544"/>
                </a:moveTo>
                <a:lnTo>
                  <a:pt x="0" y="2554544"/>
                </a:lnTo>
                <a:lnTo>
                  <a:pt x="0" y="0"/>
                </a:lnTo>
                <a:lnTo>
                  <a:pt x="4762500" y="0"/>
                </a:lnTo>
                <a:lnTo>
                  <a:pt x="4762500" y="255454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84603" y="3323732"/>
            <a:ext cx="21164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  <a:tabLst>
                <a:tab pos="709295" algn="l"/>
                <a:tab pos="1266825" algn="l"/>
                <a:tab pos="182372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N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S3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11271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Col	Sem</a:t>
            </a:r>
            <a:endParaRPr sz="2000">
              <a:latin typeface="Consolas"/>
              <a:cs typeface="Consolas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7465553" y="4011392"/>
          <a:ext cx="4489447" cy="2686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7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ABC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8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Darshan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747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2060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06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206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206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60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pic>
        <p:nvPicPr>
          <p:cNvPr id="42" name="Picture 4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43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11"/>
          <p:cNvSpPr txBox="1">
            <a:spLocks/>
          </p:cNvSpPr>
          <p:nvPr/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95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#Python for Data Science (DAKSHAY PRAJAPATI)</a:t>
            </a:r>
            <a:endParaRPr kumimoji="0" lang="en-US" sz="1200" b="0" i="0" u="none" strike="noStrike" kern="1200" cap="none" spc="-9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pic>
        <p:nvPicPr>
          <p:cNvPr id="9" name="Picture 8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0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566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Dealing</a:t>
            </a:r>
            <a:r>
              <a:rPr spc="5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spc="35" dirty="0"/>
              <a:t>Missing</a:t>
            </a:r>
            <a:r>
              <a:rPr spc="10" dirty="0"/>
              <a:t> </a:t>
            </a:r>
            <a:r>
              <a:rPr spc="-10" dirty="0"/>
              <a:t>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79885" cy="17348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508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methods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2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deal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missing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data,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400" spc="204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most</a:t>
            </a:r>
            <a:r>
              <a:rPr sz="2400" spc="2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commons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listed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below,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2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dropna,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drop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(delete)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missing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(rows/cols)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ﬁllna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,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ﬁl</a:t>
            </a:r>
            <a:r>
              <a:rPr sz="2000" spc="-5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speciﬁe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alues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plac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missin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interpolate,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will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interpolate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missing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ﬁll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interpolated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value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place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missing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data.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9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118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Groupby </a:t>
            </a:r>
            <a:r>
              <a:rPr spc="10" dirty="0"/>
              <a:t>in</a:t>
            </a:r>
            <a:r>
              <a:rPr spc="-5" dirty="0"/>
              <a:t> </a:t>
            </a:r>
            <a:r>
              <a:rPr spc="10" dirty="0"/>
              <a:t>Pandas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6" y="847391"/>
            <a:ext cx="6844665" cy="54597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1524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groupby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operation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involves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one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3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following </a:t>
            </a:r>
            <a:r>
              <a:rPr sz="2400" spc="-5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ations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origina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object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re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2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Splittin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g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Object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30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pplyin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g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function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Combinin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g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esults</a:t>
            </a:r>
            <a:endParaRPr sz="20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3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many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situations,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split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into</a:t>
            </a:r>
            <a:r>
              <a:rPr sz="2400" spc="9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sets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9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apply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som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functionalit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eac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subset.</a:t>
            </a:r>
            <a:endParaRPr sz="2400">
              <a:latin typeface="Roboto"/>
              <a:cs typeface="Roboto"/>
            </a:endParaRPr>
          </a:p>
          <a:p>
            <a:pPr marL="377825" indent="-36576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77825" algn="l"/>
                <a:tab pos="378460" algn="l"/>
              </a:tabLst>
            </a:pPr>
            <a:r>
              <a:rPr sz="2400" spc="-23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pe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-24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followin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ations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Aggregation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−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computing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summary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statistic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5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Transformation</a:t>
            </a:r>
            <a:r>
              <a:rPr sz="20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−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perform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group-speciﬁc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operation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5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Filtration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−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discarding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some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condition</a:t>
            </a:r>
            <a:endParaRPr sz="20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0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Basi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54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ys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groupb</a:t>
            </a:r>
            <a:r>
              <a:rPr sz="2400" dirty="0">
                <a:solidFill>
                  <a:srgbClr val="212121"/>
                </a:solidFill>
                <a:latin typeface="Consolas"/>
                <a:cs typeface="Consolas"/>
              </a:rPr>
              <a:t>y</a:t>
            </a:r>
            <a:r>
              <a:rPr sz="2400" spc="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df.groupby('key')</a:t>
            </a:r>
            <a:endParaRPr sz="2000">
              <a:latin typeface="Consolas"/>
              <a:cs typeface="Consolas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df.groupby(['key1','key2'])</a:t>
            </a:r>
            <a:endParaRPr sz="2000">
              <a:latin typeface="Consolas"/>
              <a:cs typeface="Consolas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df.groupby(key,axis=1)</a:t>
            </a:r>
            <a:endParaRPr sz="20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92950" y="1227665"/>
          <a:ext cx="4998083" cy="44501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8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1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College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Enno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1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CPI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123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8.9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124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9.2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125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7.8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9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128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8.7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6B3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90909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1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College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1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Mean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 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Roboto Cn"/>
                          <a:cs typeface="Roboto Cn"/>
                        </a:rPr>
                        <a:t>CPI</a:t>
                      </a:r>
                      <a:endParaRPr sz="1800">
                        <a:latin typeface="Roboto Cn"/>
                        <a:cs typeface="Roboto C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9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ABC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5.6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90909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9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90909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Darshan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D98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8.65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9">
                <a:tc row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ABC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6.2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90909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D98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6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90909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ABC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4.8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14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90909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9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ABC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3.2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90909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0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90909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6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XYZ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5.83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9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ABC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4.2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90909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0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8FEAD1"/>
                    </a:solidFill>
                  </a:tcPr>
                </a:tc>
                <a:tc rowSpan="4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6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XYZ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312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5.2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6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XYZ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315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6.5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6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XYZ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3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315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5.8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C373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9301162" y="2319337"/>
            <a:ext cx="377190" cy="1054100"/>
            <a:chOff x="9301162" y="2319337"/>
            <a:chExt cx="377190" cy="1054100"/>
          </a:xfrm>
        </p:grpSpPr>
        <p:sp>
          <p:nvSpPr>
            <p:cNvPr id="6" name="object 6"/>
            <p:cNvSpPr/>
            <p:nvPr/>
          </p:nvSpPr>
          <p:spPr>
            <a:xfrm>
              <a:off x="9305925" y="2324100"/>
              <a:ext cx="360680" cy="1026794"/>
            </a:xfrm>
            <a:custGeom>
              <a:avLst/>
              <a:gdLst/>
              <a:ahLst/>
              <a:cxnLst/>
              <a:rect l="l" t="t" r="r" b="b"/>
              <a:pathLst>
                <a:path w="360679" h="1026795">
                  <a:moveTo>
                    <a:pt x="0" y="0"/>
                  </a:moveTo>
                  <a:lnTo>
                    <a:pt x="360654" y="1026477"/>
                  </a:lnTo>
                </a:path>
              </a:pathLst>
            </a:custGeom>
            <a:ln w="9524">
              <a:solidFill>
                <a:srgbClr val="909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52922" y="3336920"/>
              <a:ext cx="20320" cy="31750"/>
            </a:xfrm>
            <a:custGeom>
              <a:avLst/>
              <a:gdLst/>
              <a:ahLst/>
              <a:cxnLst/>
              <a:rect l="l" t="t" r="r" b="b"/>
              <a:pathLst>
                <a:path w="20320" h="31750">
                  <a:moveTo>
                    <a:pt x="19861" y="31316"/>
                  </a:moveTo>
                  <a:lnTo>
                    <a:pt x="0" y="7101"/>
                  </a:lnTo>
                  <a:lnTo>
                    <a:pt x="13657" y="13656"/>
                  </a:lnTo>
                  <a:lnTo>
                    <a:pt x="20211" y="0"/>
                  </a:lnTo>
                  <a:lnTo>
                    <a:pt x="19861" y="3131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52922" y="3336920"/>
              <a:ext cx="20320" cy="31750"/>
            </a:xfrm>
            <a:custGeom>
              <a:avLst/>
              <a:gdLst/>
              <a:ahLst/>
              <a:cxnLst/>
              <a:rect l="l" t="t" r="r" b="b"/>
              <a:pathLst>
                <a:path w="20320" h="31750">
                  <a:moveTo>
                    <a:pt x="13657" y="13656"/>
                  </a:moveTo>
                  <a:lnTo>
                    <a:pt x="0" y="7101"/>
                  </a:lnTo>
                  <a:lnTo>
                    <a:pt x="19861" y="31316"/>
                  </a:lnTo>
                  <a:lnTo>
                    <a:pt x="20211" y="0"/>
                  </a:lnTo>
                  <a:lnTo>
                    <a:pt x="13657" y="13656"/>
                  </a:lnTo>
                  <a:close/>
                </a:path>
              </a:pathLst>
            </a:custGeom>
            <a:ln w="9524">
              <a:solidFill>
                <a:srgbClr val="909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9633791" y="3733700"/>
            <a:ext cx="29845" cy="21590"/>
          </a:xfrm>
          <a:custGeom>
            <a:avLst/>
            <a:gdLst/>
            <a:ahLst/>
            <a:cxnLst/>
            <a:rect l="l" t="t" r="r" b="b"/>
            <a:pathLst>
              <a:path w="29845" h="21589">
                <a:moveTo>
                  <a:pt x="10975" y="10439"/>
                </a:moveTo>
                <a:lnTo>
                  <a:pt x="534" y="21416"/>
                </a:lnTo>
                <a:lnTo>
                  <a:pt x="29688" y="9972"/>
                </a:lnTo>
                <a:lnTo>
                  <a:pt x="0" y="0"/>
                </a:lnTo>
                <a:lnTo>
                  <a:pt x="10975" y="10439"/>
                </a:lnTo>
                <a:close/>
              </a:path>
            </a:pathLst>
          </a:custGeom>
          <a:ln w="9524">
            <a:solidFill>
              <a:srgbClr val="909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291637" y="4199125"/>
            <a:ext cx="347345" cy="835025"/>
            <a:chOff x="9291637" y="4199125"/>
            <a:chExt cx="347345" cy="835025"/>
          </a:xfrm>
        </p:grpSpPr>
        <p:sp>
          <p:nvSpPr>
            <p:cNvPr id="11" name="object 11"/>
            <p:cNvSpPr/>
            <p:nvPr/>
          </p:nvSpPr>
          <p:spPr>
            <a:xfrm>
              <a:off x="9296400" y="4221212"/>
              <a:ext cx="330835" cy="808355"/>
            </a:xfrm>
            <a:custGeom>
              <a:avLst/>
              <a:gdLst/>
              <a:ahLst/>
              <a:cxnLst/>
              <a:rect l="l" t="t" r="r" b="b"/>
              <a:pathLst>
                <a:path w="330834" h="808354">
                  <a:moveTo>
                    <a:pt x="0" y="807987"/>
                  </a:moveTo>
                  <a:lnTo>
                    <a:pt x="330540" y="0"/>
                  </a:lnTo>
                </a:path>
              </a:pathLst>
            </a:custGeom>
            <a:ln w="9524">
              <a:solidFill>
                <a:srgbClr val="909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12969" y="4203887"/>
              <a:ext cx="21590" cy="31750"/>
            </a:xfrm>
            <a:custGeom>
              <a:avLst/>
              <a:gdLst/>
              <a:ahLst/>
              <a:cxnLst/>
              <a:rect l="l" t="t" r="r" b="b"/>
              <a:pathLst>
                <a:path w="21590" h="31750">
                  <a:moveTo>
                    <a:pt x="19828" y="31294"/>
                  </a:moveTo>
                  <a:lnTo>
                    <a:pt x="13970" y="17324"/>
                  </a:lnTo>
                  <a:lnTo>
                    <a:pt x="0" y="23182"/>
                  </a:lnTo>
                  <a:lnTo>
                    <a:pt x="21057" y="0"/>
                  </a:lnTo>
                  <a:lnTo>
                    <a:pt x="19828" y="31294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12969" y="4203887"/>
              <a:ext cx="21590" cy="31750"/>
            </a:xfrm>
            <a:custGeom>
              <a:avLst/>
              <a:gdLst/>
              <a:ahLst/>
              <a:cxnLst/>
              <a:rect l="l" t="t" r="r" b="b"/>
              <a:pathLst>
                <a:path w="21590" h="31750">
                  <a:moveTo>
                    <a:pt x="13970" y="17324"/>
                  </a:moveTo>
                  <a:lnTo>
                    <a:pt x="19828" y="31294"/>
                  </a:lnTo>
                  <a:lnTo>
                    <a:pt x="21057" y="0"/>
                  </a:lnTo>
                  <a:lnTo>
                    <a:pt x="0" y="23182"/>
                  </a:lnTo>
                  <a:lnTo>
                    <a:pt x="13970" y="17324"/>
                  </a:lnTo>
                  <a:close/>
                </a:path>
              </a:pathLst>
            </a:custGeom>
            <a:ln w="9524">
              <a:solidFill>
                <a:srgbClr val="909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5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804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Groupby</a:t>
            </a:r>
            <a:r>
              <a:rPr spc="15" dirty="0"/>
              <a:t> </a:t>
            </a:r>
            <a:r>
              <a:rPr spc="10" dirty="0"/>
              <a:t>in</a:t>
            </a:r>
            <a:r>
              <a:rPr spc="15" dirty="0"/>
              <a:t> </a:t>
            </a:r>
            <a:r>
              <a:rPr spc="10" dirty="0"/>
              <a:t>Pandas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242" y="1674554"/>
          <a:ext cx="6020435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dfIPL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'IPLDataSet.csv'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print(dfIPL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groupby(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'Year'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groups)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70227" y="1345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847391"/>
            <a:ext cx="4065270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Listin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all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oups</a:t>
            </a:r>
            <a:endParaRPr sz="2400">
              <a:latin typeface="Roboto"/>
              <a:cs typeface="Roboto"/>
            </a:endParaRPr>
          </a:p>
          <a:p>
            <a:pPr marL="644525">
              <a:lnSpc>
                <a:spcPct val="100000"/>
              </a:lnSpc>
              <a:spcBef>
                <a:spcPts val="127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dfGroup.py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96099" y="1629118"/>
            <a:ext cx="4762500" cy="2554605"/>
          </a:xfrm>
          <a:custGeom>
            <a:avLst/>
            <a:gdLst/>
            <a:ahLst/>
            <a:cxnLst/>
            <a:rect l="l" t="t" r="r" b="b"/>
            <a:pathLst>
              <a:path w="4762500" h="2554604">
                <a:moveTo>
                  <a:pt x="4762500" y="2554544"/>
                </a:moveTo>
                <a:lnTo>
                  <a:pt x="0" y="2554544"/>
                </a:lnTo>
                <a:lnTo>
                  <a:pt x="0" y="0"/>
                </a:lnTo>
                <a:lnTo>
                  <a:pt x="4762500" y="0"/>
                </a:lnTo>
                <a:lnTo>
                  <a:pt x="4762500" y="255454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907211" y="2332019"/>
          <a:ext cx="4423410" cy="18516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9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7429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2015: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Int64Index([1,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3,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5,</a:t>
                      </a:r>
                      <a:r>
                        <a:rPr sz="2000" spc="-4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10],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dtype='int64'),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2016: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Int64Index([6,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8],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dtype='int64'),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2017:</a:t>
                      </a:r>
                      <a:r>
                        <a:rPr sz="2000" spc="-7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Int64Index([7,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11],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044">
                <a:tc>
                  <a:txBody>
                    <a:bodyPr/>
                    <a:lstStyle/>
                    <a:p>
                      <a:pPr marL="7429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dtype='int64')}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6924659" y="1314449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69124" y="1299374"/>
            <a:ext cx="4342765" cy="9804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624205">
              <a:lnSpc>
                <a:spcPct val="100000"/>
              </a:lnSpc>
              <a:spcBef>
                <a:spcPts val="45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{2014: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Int64Index([0,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2,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4,</a:t>
            </a:r>
            <a:r>
              <a:rPr sz="200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9],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dtype='int64'),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203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356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Groupby</a:t>
            </a:r>
            <a:r>
              <a:rPr spc="15" dirty="0"/>
              <a:t> </a:t>
            </a:r>
            <a:r>
              <a:rPr spc="10" dirty="0"/>
              <a:t>in</a:t>
            </a:r>
            <a:r>
              <a:rPr spc="15" dirty="0"/>
              <a:t> </a:t>
            </a:r>
            <a:r>
              <a:rPr spc="10" dirty="0"/>
              <a:t>Pandas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242" y="1674554"/>
          <a:ext cx="6182360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197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dfIPL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'IPLDataSet.csv'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88">
                <a:tc>
                  <a:txBody>
                    <a:bodyPr/>
                    <a:lstStyle/>
                    <a:p>
                      <a:pPr marR="77470" algn="r">
                        <a:lnSpc>
                          <a:spcPts val="2270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0"/>
                        </a:lnSpc>
                      </a:pP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print(dfIPL</a:t>
                      </a:r>
                      <a:r>
                        <a:rPr sz="2000" spc="-5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groupby(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[</a:t>
                      </a:r>
                      <a:r>
                        <a:rPr sz="2000" spc="-50" dirty="0">
                          <a:solidFill>
                            <a:srgbClr val="BA2121"/>
                          </a:solidFill>
                          <a:latin typeface="Roboto"/>
                          <a:cs typeface="Roboto"/>
                        </a:rPr>
                        <a:t>'Year'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2000" spc="-50" dirty="0">
                          <a:solidFill>
                            <a:srgbClr val="BA2121"/>
                          </a:solidFill>
                          <a:latin typeface="Roboto"/>
                          <a:cs typeface="Roboto"/>
                        </a:rPr>
                        <a:t>'Team'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]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r>
                        <a:rPr sz="2000" spc="-5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groups)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70227" y="1345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847391"/>
            <a:ext cx="4747895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ou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multipl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columns</a:t>
            </a:r>
            <a:endParaRPr sz="2400">
              <a:latin typeface="Roboto"/>
              <a:cs typeface="Roboto"/>
            </a:endParaRPr>
          </a:p>
          <a:p>
            <a:pPr marL="495300">
              <a:lnSpc>
                <a:spcPct val="100000"/>
              </a:lnSpc>
              <a:spcBef>
                <a:spcPts val="1275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dfGroupMul.py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34175" y="1629118"/>
            <a:ext cx="5314950" cy="44018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 marR="486409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{(2014,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'Devils'):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Int64Index([2],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dtype='int64'),</a:t>
            </a:r>
            <a:endParaRPr sz="2000">
              <a:latin typeface="Consolas"/>
              <a:cs typeface="Consolas"/>
            </a:endParaRPr>
          </a:p>
          <a:p>
            <a:pPr marL="85725" marR="625475" indent="13906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(2014,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'Kings'):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Int64Index([4],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dtype='int64'),</a:t>
            </a:r>
            <a:endParaRPr sz="2000">
              <a:latin typeface="Consolas"/>
              <a:cs typeface="Consolas"/>
            </a:endParaRPr>
          </a:p>
          <a:p>
            <a:pPr marL="85725" marR="486409" indent="13906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(2014,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'Riders'):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Int64Index([0],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dtype='int64'),</a:t>
            </a:r>
            <a:endParaRPr sz="2000">
              <a:latin typeface="Consolas"/>
              <a:cs typeface="Consolas"/>
            </a:endParaRPr>
          </a:p>
          <a:p>
            <a:pPr marL="224790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………</a:t>
            </a:r>
            <a:endParaRPr sz="2000">
              <a:latin typeface="Arial MT"/>
              <a:cs typeface="Arial MT"/>
            </a:endParaRPr>
          </a:p>
          <a:p>
            <a:pPr marL="224790"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………</a:t>
            </a:r>
            <a:endParaRPr sz="2000">
              <a:latin typeface="Arial MT"/>
              <a:cs typeface="Arial MT"/>
            </a:endParaRPr>
          </a:p>
          <a:p>
            <a:pPr marL="85725" marR="486409" indent="13906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(2016,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'Riders'):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Int64Index([8],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dtype='int64'),</a:t>
            </a:r>
            <a:endParaRPr sz="2000">
              <a:latin typeface="Consolas"/>
              <a:cs typeface="Consolas"/>
            </a:endParaRPr>
          </a:p>
          <a:p>
            <a:pPr marL="85725" marR="625475" indent="13906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(2017,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'Kings'):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Int64Index([7],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dtype='int64'),</a:t>
            </a:r>
            <a:endParaRPr sz="2000">
              <a:latin typeface="Consolas"/>
              <a:cs typeface="Consolas"/>
            </a:endParaRPr>
          </a:p>
          <a:p>
            <a:pPr marL="85725" marR="347345" indent="13906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(2017,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'Riders'):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Int64Index([11],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dtype='int64')}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53209" y="1314449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09424" y="1344327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974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3" name="Picture 22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4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101" y="711201"/>
            <a:ext cx="12192635" cy="6147332"/>
            <a:chOff x="-101" y="711201"/>
            <a:chExt cx="12192635" cy="6147332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11201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6896099" y="0"/>
                  </a:lnTo>
                </a:path>
                <a:path w="12192000">
                  <a:moveTo>
                    <a:pt x="11658599" y="0"/>
                  </a:moveTo>
                  <a:lnTo>
                    <a:pt x="12191999" y="0"/>
                  </a:lnTo>
                </a:path>
              </a:pathLst>
            </a:custGeom>
            <a:ln w="12699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423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Groupby</a:t>
            </a:r>
            <a:r>
              <a:rPr spc="15" dirty="0"/>
              <a:t> </a:t>
            </a:r>
            <a:r>
              <a:rPr spc="10" dirty="0"/>
              <a:t>in</a:t>
            </a:r>
            <a:r>
              <a:rPr spc="15" dirty="0"/>
              <a:t> </a:t>
            </a:r>
            <a:r>
              <a:rPr spc="10" dirty="0"/>
              <a:t>Pandas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0233" y="1674554"/>
            <a:ext cx="5778500" cy="163131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 marR="519430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dfIPL </a:t>
            </a:r>
            <a:r>
              <a:rPr sz="2000" dirty="0">
                <a:solidFill>
                  <a:srgbClr val="666666"/>
                </a:solidFill>
                <a:latin typeface="Consolas"/>
                <a:cs typeface="Consolas"/>
              </a:rPr>
              <a:t>=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read_csv(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'IPLDataSet.csv'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groupIPL</a:t>
            </a:r>
            <a:r>
              <a:rPr sz="2000" spc="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666666"/>
                </a:solidFill>
                <a:latin typeface="Consolas"/>
                <a:cs typeface="Consolas"/>
              </a:rPr>
              <a:t>=</a:t>
            </a:r>
            <a:r>
              <a:rPr sz="2000" spc="-15" dirty="0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dfIPL</a:t>
            </a:r>
            <a:r>
              <a:rPr sz="2000" spc="-5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groupby(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'Year'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364490" marR="1779905" indent="-279400">
              <a:lnSpc>
                <a:spcPct val="100000"/>
              </a:lnSpc>
            </a:pPr>
            <a:r>
              <a:rPr sz="2000" b="1" spc="-5" dirty="0">
                <a:solidFill>
                  <a:srgbClr val="008000"/>
                </a:solidFill>
                <a:latin typeface="Consolas"/>
                <a:cs typeface="Consolas"/>
              </a:rPr>
              <a:t>for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name,group </a:t>
            </a:r>
            <a:r>
              <a:rPr sz="2000" b="1" spc="-5" dirty="0">
                <a:solidFill>
                  <a:srgbClr val="AA22FF"/>
                </a:solidFill>
                <a:latin typeface="Consolas"/>
                <a:cs typeface="Consolas"/>
              </a:rPr>
              <a:t>in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groupIPL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: </a:t>
            </a:r>
            <a:r>
              <a:rPr sz="2000" spc="-109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(name)</a:t>
            </a:r>
            <a:endParaRPr sz="2000">
              <a:latin typeface="Consolas"/>
              <a:cs typeface="Consolas"/>
            </a:endParaRPr>
          </a:p>
          <a:p>
            <a:pPr marL="364490">
              <a:lnSpc>
                <a:spcPct val="100000"/>
              </a:lnSpc>
            </a:pP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(group)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242" y="1674554"/>
            <a:ext cx="500380" cy="1631314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27939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219"/>
              </a:spcBef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  <a:p>
            <a:pPr marL="27432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2</a:t>
            </a:r>
            <a:endParaRPr sz="2000">
              <a:latin typeface="Consolas"/>
              <a:cs typeface="Consolas"/>
            </a:endParaRPr>
          </a:p>
          <a:p>
            <a:pPr marL="27432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3</a:t>
            </a:r>
            <a:endParaRPr sz="2000">
              <a:latin typeface="Consolas"/>
              <a:cs typeface="Consolas"/>
            </a:endParaRPr>
          </a:p>
          <a:p>
            <a:pPr marL="27432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4</a:t>
            </a:r>
            <a:endParaRPr sz="2000">
              <a:latin typeface="Consolas"/>
              <a:cs typeface="Consolas"/>
            </a:endParaRPr>
          </a:p>
          <a:p>
            <a:pPr marL="27432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5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0227" y="1345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3695" y="847391"/>
            <a:ext cx="4441825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Ite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ating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oug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oups</a:t>
            </a:r>
            <a:endParaRPr sz="2400">
              <a:latin typeface="Roboto"/>
              <a:cs typeface="Roboto"/>
            </a:endParaRPr>
          </a:p>
          <a:p>
            <a:pPr marL="516890">
              <a:lnSpc>
                <a:spcPct val="100000"/>
              </a:lnSpc>
              <a:spcBef>
                <a:spcPts val="1275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dfGroupIter.py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96099" y="314669"/>
            <a:ext cx="4762500" cy="6248400"/>
          </a:xfrm>
          <a:custGeom>
            <a:avLst/>
            <a:gdLst/>
            <a:ahLst/>
            <a:cxnLst/>
            <a:rect l="l" t="t" r="r" b="b"/>
            <a:pathLst>
              <a:path w="4762500" h="6248400">
                <a:moveTo>
                  <a:pt x="4762500" y="6247864"/>
                </a:moveTo>
                <a:lnTo>
                  <a:pt x="0" y="6247864"/>
                </a:lnTo>
                <a:lnTo>
                  <a:pt x="0" y="0"/>
                </a:lnTo>
                <a:lnTo>
                  <a:pt x="4762500" y="0"/>
                </a:lnTo>
                <a:lnTo>
                  <a:pt x="4762500" y="624786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950074" y="712770"/>
          <a:ext cx="4102735" cy="147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Team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Rank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Year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Points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Riders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Devils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863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Kings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741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Royals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6969124" y="2158710"/>
            <a:ext cx="583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2015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5800" y="2463510"/>
            <a:ext cx="582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Team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41658" y="2463510"/>
            <a:ext cx="582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Rank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77517" y="2463510"/>
            <a:ext cx="582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Year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13375" y="2463510"/>
            <a:ext cx="8623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Points</a:t>
            </a:r>
            <a:endParaRPr sz="2000">
              <a:latin typeface="Consolas"/>
              <a:cs typeface="Consolas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950074" y="2846370"/>
          <a:ext cx="4243703" cy="116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Riders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789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Devils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673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36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kings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812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4099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Royals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6969124" y="3987510"/>
            <a:ext cx="583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2016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69124" y="4292310"/>
            <a:ext cx="12801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Team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tabLst>
                <a:tab pos="556895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6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Kings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tabLst>
                <a:tab pos="41783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8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Riders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02212" y="4292310"/>
            <a:ext cx="14185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83566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Ran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k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Year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tabLst>
                <a:tab pos="41783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2016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tabLst>
                <a:tab pos="41783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2016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73929" y="4292310"/>
            <a:ext cx="8623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Points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756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694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69124" y="5206710"/>
            <a:ext cx="583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2017</a:t>
            </a:r>
            <a:endParaRPr sz="2000">
              <a:latin typeface="Consolas"/>
              <a:cs typeface="Consolas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6950074" y="5589570"/>
          <a:ext cx="4243703" cy="86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Team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Rank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Year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Points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Kings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Riders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690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6924659" y="0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5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969124" y="0"/>
            <a:ext cx="1175385" cy="6756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624205">
              <a:lnSpc>
                <a:spcPct val="100000"/>
              </a:lnSpc>
              <a:spcBef>
                <a:spcPts val="45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2014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517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dirty="0"/>
              <a:t>ANTRIX COMPUTER ACADEMY</a:t>
            </a:r>
            <a:endParaRPr dirty="0"/>
          </a:p>
        </p:txBody>
      </p:sp>
      <p:pic>
        <p:nvPicPr>
          <p:cNvPr id="36" name="Picture 3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33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5975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Groupby</a:t>
            </a:r>
            <a:r>
              <a:rPr spc="15" dirty="0"/>
              <a:t> </a:t>
            </a:r>
            <a:r>
              <a:rPr spc="10" dirty="0"/>
              <a:t>in</a:t>
            </a:r>
            <a:r>
              <a:rPr spc="15" dirty="0"/>
              <a:t> </a:t>
            </a:r>
            <a:r>
              <a:rPr spc="10" dirty="0"/>
              <a:t>Pandas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3695" y="847391"/>
            <a:ext cx="3911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Agg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egatin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oups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242" y="1674554"/>
          <a:ext cx="6439535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9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dfSales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'SalesDataSet.csv'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(dfSales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groupby([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'YEAR_ID'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count(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'QUANTITYORDERED'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(dfSales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groupby([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'YEAR_ID'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sum()[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'QUANTITYORDERED'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(dfSales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groupby([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'YEAR_ID'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mean()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'QUANTITYORDERED'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70227" y="1345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7097" y="1375249"/>
            <a:ext cx="1224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dfGroupAgg.py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96099" y="1076670"/>
            <a:ext cx="4762500" cy="5632450"/>
          </a:xfrm>
          <a:custGeom>
            <a:avLst/>
            <a:gdLst/>
            <a:ahLst/>
            <a:cxnLst/>
            <a:rect l="l" t="t" r="r" b="b"/>
            <a:pathLst>
              <a:path w="4762500" h="5632450">
                <a:moveTo>
                  <a:pt x="4762500" y="5632311"/>
                </a:moveTo>
                <a:lnTo>
                  <a:pt x="0" y="5632311"/>
                </a:lnTo>
                <a:lnTo>
                  <a:pt x="0" y="0"/>
                </a:lnTo>
                <a:lnTo>
                  <a:pt x="4762500" y="0"/>
                </a:lnTo>
                <a:lnTo>
                  <a:pt x="4762500" y="563231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969124" y="1091910"/>
            <a:ext cx="100203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YEAR_ID  2003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2004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2005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83874" y="1396710"/>
            <a:ext cx="5835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1000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1345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478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69124" y="2311110"/>
            <a:ext cx="40640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QUANTITYORDERED,</a:t>
            </a:r>
            <a:r>
              <a:rPr sz="20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dtype:</a:t>
            </a:r>
            <a:endParaRPr sz="2000">
              <a:latin typeface="Consolas"/>
              <a:cs typeface="Consolas"/>
            </a:endParaRPr>
          </a:p>
          <a:p>
            <a:pPr marL="12700" marR="306705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YEAR_ID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69124" y="3225510"/>
            <a:ext cx="58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2003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2004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2005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83874" y="3225510"/>
            <a:ext cx="7226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34612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46824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17631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69124" y="4139910"/>
            <a:ext cx="40640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QUANTITYORDERED,</a:t>
            </a:r>
            <a:r>
              <a:rPr sz="20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dtype:</a:t>
            </a:r>
            <a:endParaRPr sz="2000">
              <a:latin typeface="Consolas"/>
              <a:cs typeface="Consolas"/>
            </a:endParaRPr>
          </a:p>
          <a:p>
            <a:pPr marL="12700" marR="306705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int64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YEAR_ID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69124" y="5054310"/>
            <a:ext cx="58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2003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2004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2005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83874" y="5054310"/>
            <a:ext cx="12807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34.612000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34.813383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36.884937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69124" y="5968710"/>
            <a:ext cx="40640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Name: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QUANTITYORDERED,</a:t>
            </a:r>
            <a:r>
              <a:rPr sz="200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dtype: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float64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24659" y="762000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5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580874" y="791878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441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7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651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Groupby</a:t>
            </a:r>
            <a:r>
              <a:rPr spc="15" dirty="0"/>
              <a:t> </a:t>
            </a:r>
            <a:r>
              <a:rPr spc="10" dirty="0"/>
              <a:t>in</a:t>
            </a:r>
            <a:r>
              <a:rPr spc="15" dirty="0"/>
              <a:t> </a:t>
            </a:r>
            <a:r>
              <a:rPr spc="10" dirty="0"/>
              <a:t>Pandas</a:t>
            </a:r>
            <a:r>
              <a:rPr spc="15" dirty="0"/>
              <a:t> </a:t>
            </a:r>
            <a:r>
              <a:rPr spc="25" dirty="0"/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242" y="1674554"/>
          <a:ext cx="5239385" cy="1323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dfIPL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'IPLDataSet.csv'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latin typeface="Consolas"/>
                          <a:cs typeface="Consolas"/>
                        </a:rPr>
                        <a:t>print(dfIPL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groupby(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'Year'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)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desc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latin typeface="Consolas"/>
                          <a:cs typeface="Consolas"/>
                        </a:rPr>
                        <a:t>ribe()[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'Points'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0227" y="134537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847391"/>
            <a:ext cx="3478529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Exampl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Describ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details</a:t>
            </a:r>
            <a:endParaRPr sz="2400">
              <a:latin typeface="Roboto"/>
              <a:cs typeface="Roboto"/>
            </a:endParaRPr>
          </a:p>
          <a:p>
            <a:pPr marL="445770">
              <a:lnSpc>
                <a:spcPct val="100000"/>
              </a:lnSpc>
              <a:spcBef>
                <a:spcPts val="1275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dfGroupDesc.py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6925" y="1076670"/>
            <a:ext cx="6115050" cy="3785870"/>
          </a:xfrm>
          <a:custGeom>
            <a:avLst/>
            <a:gdLst/>
            <a:ahLst/>
            <a:cxnLst/>
            <a:rect l="l" t="t" r="r" b="b"/>
            <a:pathLst>
              <a:path w="6115050" h="3785870">
                <a:moveTo>
                  <a:pt x="6115049" y="3785651"/>
                </a:moveTo>
                <a:lnTo>
                  <a:pt x="0" y="3785651"/>
                </a:lnTo>
                <a:lnTo>
                  <a:pt x="0" y="0"/>
                </a:lnTo>
                <a:lnTo>
                  <a:pt x="6115049" y="0"/>
                </a:lnTo>
                <a:lnTo>
                  <a:pt x="6115049" y="378565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35950" y="1091910"/>
            <a:ext cx="9010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st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d</a:t>
            </a:r>
            <a:r>
              <a:rPr sz="2000" spc="-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min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9950" y="1091910"/>
            <a:ext cx="22726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count	mean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%</a:t>
            </a:r>
            <a:r>
              <a:rPr sz="2000" spc="-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%</a:t>
            </a:r>
            <a:r>
              <a:rPr sz="2000" spc="-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%</a:t>
            </a:r>
            <a:r>
              <a:rPr sz="2000" spc="-8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max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Year</a:t>
            </a:r>
            <a:endParaRPr sz="2000">
              <a:latin typeface="Consolas"/>
              <a:cs typeface="Consola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930900" y="2084370"/>
          <a:ext cx="5332729" cy="238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795.2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87.439026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701.0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731.0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802.0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866.2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876.0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769.5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65.035888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673.0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760.0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796.5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806.0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812.0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725.0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43.840620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694.0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709.5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725.0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740.5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756.0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2.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8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739.0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69.296465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690.0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714.5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739.0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763.5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2000" spc="-49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788.0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895959" y="762000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5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52174" y="791878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object 5"/>
          <p:cNvGrpSpPr/>
          <p:nvPr/>
        </p:nvGrpSpPr>
        <p:grpSpPr>
          <a:xfrm>
            <a:off x="-635" y="6599555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889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Concatenation</a:t>
            </a:r>
            <a:r>
              <a:rPr spc="5" dirty="0"/>
              <a:t> </a:t>
            </a:r>
            <a:r>
              <a:rPr spc="10" dirty="0"/>
              <a:t>in</a:t>
            </a:r>
            <a:r>
              <a:rPr spc="5" dirty="0"/>
              <a:t> </a:t>
            </a:r>
            <a:r>
              <a:rPr spc="10" dirty="0"/>
              <a:t>Pandas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3695" y="756967"/>
            <a:ext cx="10478135" cy="13944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Concatenation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basically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glues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together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DataFrames.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Keep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mind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dimensions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should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match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along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axis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concatenating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on.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40" dirty="0">
                <a:solidFill>
                  <a:srgbClr val="212121"/>
                </a:solidFill>
                <a:latin typeface="Roboto"/>
                <a:cs typeface="Roboto"/>
              </a:rPr>
              <a:t>You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pd.concat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pass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DataFrames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concatenate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together: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695" y="4496863"/>
            <a:ext cx="7219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229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Not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: </a:t>
            </a: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axis=</a:t>
            </a:r>
            <a:r>
              <a:rPr sz="24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r>
              <a:rPr sz="2400" spc="-7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rameter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conca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columns.</a:t>
            </a:r>
            <a:endParaRPr sz="2400">
              <a:latin typeface="Roboto"/>
              <a:cs typeface="Roboto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70242" y="2493704"/>
          <a:ext cx="7163435" cy="16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dfCX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'CX_Marks.csv'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,index_col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dfCY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'CY_Marks.csv'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,index_col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dfCZ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'CZ_Marks.csv'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,index_col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dfAllStudent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concat([dfCX,dfCY,dfCZ])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(dfAllStudent)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70227" y="21645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62510" y="2194399"/>
            <a:ext cx="9944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dfConcat.py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581899" y="2200387"/>
          <a:ext cx="4411979" cy="435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4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825" algn="r">
                        <a:lnSpc>
                          <a:spcPts val="1805"/>
                        </a:lnSpc>
                      </a:pPr>
                      <a:r>
                        <a:rPr sz="1600" spc="-114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Output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Algo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70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96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22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77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59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68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927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55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62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7591409" y="2143125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1" y="16069"/>
                </a:lnTo>
                <a:lnTo>
                  <a:pt x="1876440" y="54864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pic>
        <p:nvPicPr>
          <p:cNvPr id="27" name="Picture 2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81000"/>
            <a:ext cx="10288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9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6356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Join</a:t>
            </a:r>
            <a:r>
              <a:rPr spc="-10" dirty="0"/>
              <a:t> </a:t>
            </a:r>
            <a:r>
              <a:rPr spc="10" dirty="0"/>
              <a:t>in</a:t>
            </a:r>
            <a:r>
              <a:rPr spc="-10" dirty="0"/>
              <a:t> </a:t>
            </a:r>
            <a:r>
              <a:rPr spc="10" dirty="0"/>
              <a:t>Pandas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898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847391"/>
            <a:ext cx="11752580" cy="39268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7975" marR="8890" indent="-295910">
              <a:lnSpc>
                <a:spcPts val="2590"/>
              </a:lnSpc>
              <a:spcBef>
                <a:spcPts val="42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3064510" algn="l"/>
                <a:tab pos="3637915" algn="l"/>
                <a:tab pos="4961890" algn="l"/>
                <a:tab pos="5567045" algn="l"/>
                <a:tab pos="6702425" algn="l"/>
                <a:tab pos="8173084" algn="l"/>
                <a:tab pos="9221470" algn="l"/>
                <a:tab pos="9681210" algn="l"/>
                <a:tab pos="10850245" algn="l"/>
              </a:tabLst>
            </a:pP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df.join(</a:t>
            </a:r>
            <a:r>
              <a:rPr sz="2400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r>
              <a:rPr sz="2400" spc="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wil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eﬃciently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joi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multipl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object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21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inde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x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(o</a:t>
            </a: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column 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speciﬁed)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som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impo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tan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ameters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2400">
              <a:latin typeface="Roboto Cn"/>
              <a:cs typeface="Roboto Cn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dfOther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Righ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on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(Not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recommended)</a:t>
            </a:r>
            <a:r>
              <a:rPr sz="2000" spc="-1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want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join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(Default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index)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-5" dirty="0">
                <a:solidFill>
                  <a:srgbClr val="212121"/>
                </a:solidFill>
                <a:latin typeface="Roboto Cn"/>
                <a:cs typeface="Roboto Cn"/>
              </a:rPr>
              <a:t>ho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w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Ho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handl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ation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objects.</a:t>
            </a:r>
            <a:endParaRPr sz="20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lef</a:t>
            </a:r>
            <a:r>
              <a:rPr sz="1800" b="1" spc="20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callin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65" dirty="0">
                <a:solidFill>
                  <a:srgbClr val="212121"/>
                </a:solidFill>
                <a:latin typeface="Roboto"/>
                <a:cs typeface="Roboto"/>
              </a:rPr>
              <a:t>am</a:t>
            </a:r>
            <a:r>
              <a:rPr sz="1800" spc="-19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95" dirty="0">
                <a:solidFill>
                  <a:srgbClr val="212121"/>
                </a:solidFill>
                <a:latin typeface="Roboto"/>
                <a:cs typeface="Roboto"/>
              </a:rPr>
              <a:t>(Default).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righ</a:t>
            </a: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dfOthe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index.</a:t>
            </a:r>
            <a:endParaRPr sz="1800">
              <a:latin typeface="Roboto"/>
              <a:cs typeface="Roboto"/>
            </a:endParaRPr>
          </a:p>
          <a:p>
            <a:pPr marL="1186180" marR="35560" lvl="2" indent="-195580">
              <a:lnSpc>
                <a:spcPts val="1939"/>
              </a:lnSpc>
              <a:spcBef>
                <a:spcPts val="53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  <a:tab pos="1856739" algn="l"/>
                <a:tab pos="2421255" algn="l"/>
                <a:tab pos="3054985" algn="l"/>
                <a:tab pos="3377565" algn="l"/>
                <a:tab pos="4106545" algn="l"/>
                <a:tab pos="4895215" algn="l"/>
                <a:tab pos="5515610" algn="l"/>
                <a:tab pos="6028690" algn="l"/>
                <a:tab pos="6771005" algn="l"/>
                <a:tab pos="7390765" algn="l"/>
                <a:tab pos="7781925" algn="l"/>
                <a:tab pos="8581390" algn="l"/>
                <a:tab pos="8842375" algn="l"/>
                <a:tab pos="9203055" algn="l"/>
                <a:tab pos="9495790" algn="l"/>
                <a:tab pos="10561320" algn="l"/>
                <a:tab pos="11031220" algn="l"/>
                <a:tab pos="11528425" algn="l"/>
              </a:tabLst>
            </a:pP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outer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1800" spc="-18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unio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callin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65" dirty="0">
                <a:solidFill>
                  <a:srgbClr val="212121"/>
                </a:solidFill>
                <a:latin typeface="Roboto"/>
                <a:cs typeface="Roboto"/>
              </a:rPr>
              <a:t>am</a:t>
            </a:r>
            <a:r>
              <a:rPr sz="1800" spc="-19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othe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(o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colum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speciﬁed)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so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it. 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lexicographically.</a:t>
            </a:r>
            <a:endParaRPr sz="1800">
              <a:latin typeface="Roboto"/>
              <a:cs typeface="Roboto"/>
            </a:endParaRPr>
          </a:p>
          <a:p>
            <a:pPr marL="1186180" marR="5080" lvl="2" indent="-195580">
              <a:lnSpc>
                <a:spcPts val="1939"/>
              </a:lnSpc>
              <a:spcBef>
                <a:spcPts val="509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inner</a:t>
            </a:r>
            <a:r>
              <a:rPr sz="1800" spc="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form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intersection</a:t>
            </a:r>
            <a:r>
              <a:rPr sz="1800" spc="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calling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frame’s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(or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speciﬁed)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other’s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index,</a:t>
            </a:r>
            <a:r>
              <a:rPr sz="1800" spc="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preserving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order </a:t>
            </a:r>
            <a:r>
              <a:rPr sz="1800" spc="-4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18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calling’s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one.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8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51003"/>
            <a:ext cx="7042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Join</a:t>
            </a:r>
            <a:r>
              <a:rPr spc="15" dirty="0"/>
              <a:t> </a:t>
            </a:r>
            <a:r>
              <a:rPr spc="10" dirty="0"/>
              <a:t>in</a:t>
            </a:r>
            <a:r>
              <a:rPr spc="15" dirty="0"/>
              <a:t> </a:t>
            </a:r>
            <a:r>
              <a:rPr spc="10" dirty="0"/>
              <a:t>Pandas</a:t>
            </a:r>
            <a:r>
              <a:rPr spc="15" dirty="0"/>
              <a:t> (Example)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1451" y="1293554"/>
          <a:ext cx="6715125" cy="2246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dfINS</a:t>
                      </a:r>
                      <a:r>
                        <a:rPr sz="20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'INS_Marks.csv'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,index_col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latin typeface="Consolas"/>
                          <a:cs typeface="Consolas"/>
                        </a:rPr>
                        <a:t>dfLeftJoin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allStudent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join(dfINS)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dfLeftJoin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latin typeface="Consolas"/>
                          <a:cs typeface="Consolas"/>
                        </a:rPr>
                        <a:t>dfRightJoin</a:t>
                      </a:r>
                      <a:r>
                        <a:rPr sz="20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=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latin typeface="Consolas"/>
                          <a:cs typeface="Consolas"/>
                        </a:rPr>
                        <a:t>allStudent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join(dfINS,how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'right'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68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dfRightJoin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171433" y="964370"/>
            <a:ext cx="1803400" cy="329565"/>
          </a:xfrm>
          <a:custGeom>
            <a:avLst/>
            <a:gdLst/>
            <a:ahLst/>
            <a:cxnLst/>
            <a:rect l="l" t="t" r="r" b="b"/>
            <a:pathLst>
              <a:path w="1803400" h="329565">
                <a:moveTo>
                  <a:pt x="1803007" y="329198"/>
                </a:moveTo>
                <a:lnTo>
                  <a:pt x="0" y="329177"/>
                </a:lnTo>
                <a:lnTo>
                  <a:pt x="15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748148" y="0"/>
                </a:lnTo>
                <a:lnTo>
                  <a:pt x="1786944" y="16069"/>
                </a:lnTo>
                <a:lnTo>
                  <a:pt x="1803014" y="54865"/>
                </a:lnTo>
                <a:lnTo>
                  <a:pt x="180300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86632" y="994249"/>
            <a:ext cx="772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solidFill>
                  <a:srgbClr val="FFFFFF"/>
                </a:solidFill>
                <a:latin typeface="Roboto"/>
                <a:cs typeface="Roboto"/>
              </a:rPr>
              <a:t>dfJoin.py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67875" y="942975"/>
            <a:ext cx="2524125" cy="4100829"/>
            <a:chOff x="9667875" y="942975"/>
            <a:chExt cx="2524125" cy="4100829"/>
          </a:xfrm>
        </p:grpSpPr>
        <p:sp>
          <p:nvSpPr>
            <p:cNvPr id="17" name="object 17"/>
            <p:cNvSpPr/>
            <p:nvPr/>
          </p:nvSpPr>
          <p:spPr>
            <a:xfrm>
              <a:off x="9667875" y="1257645"/>
              <a:ext cx="2524125" cy="3785870"/>
            </a:xfrm>
            <a:custGeom>
              <a:avLst/>
              <a:gdLst/>
              <a:ahLst/>
              <a:cxnLst/>
              <a:rect l="l" t="t" r="r" b="b"/>
              <a:pathLst>
                <a:path w="2524125" h="3785870">
                  <a:moveTo>
                    <a:pt x="2524124" y="3785651"/>
                  </a:moveTo>
                  <a:lnTo>
                    <a:pt x="0" y="3785651"/>
                  </a:lnTo>
                  <a:lnTo>
                    <a:pt x="0" y="0"/>
                  </a:lnTo>
                  <a:lnTo>
                    <a:pt x="2524124" y="0"/>
                  </a:lnTo>
                  <a:lnTo>
                    <a:pt x="2524124" y="378565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77384" y="942975"/>
              <a:ext cx="1877060" cy="329565"/>
            </a:xfrm>
            <a:custGeom>
              <a:avLst/>
              <a:gdLst/>
              <a:ahLst/>
              <a:cxnLst/>
              <a:rect l="l" t="t" r="r" b="b"/>
              <a:pathLst>
                <a:path w="1877059" h="329565">
                  <a:moveTo>
                    <a:pt x="1876433" y="329199"/>
                  </a:moveTo>
                  <a:lnTo>
                    <a:pt x="0" y="329176"/>
                  </a:lnTo>
                  <a:lnTo>
                    <a:pt x="15" y="54865"/>
                  </a:lnTo>
                  <a:lnTo>
                    <a:pt x="4327" y="33509"/>
                  </a:lnTo>
                  <a:lnTo>
                    <a:pt x="16085" y="16069"/>
                  </a:lnTo>
                  <a:lnTo>
                    <a:pt x="33524" y="4311"/>
                  </a:lnTo>
                  <a:lnTo>
                    <a:pt x="54880" y="0"/>
                  </a:lnTo>
                  <a:lnTo>
                    <a:pt x="1821575" y="0"/>
                  </a:lnTo>
                  <a:lnTo>
                    <a:pt x="1860370" y="16069"/>
                  </a:lnTo>
                  <a:lnTo>
                    <a:pt x="1876440" y="54865"/>
                  </a:lnTo>
                  <a:lnTo>
                    <a:pt x="1876433" y="32919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211739" y="972853"/>
            <a:ext cx="807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Outpu</a:t>
            </a:r>
            <a:r>
              <a:rPr sz="1600" spc="-75" dirty="0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325" dirty="0">
                <a:solidFill>
                  <a:srgbClr val="FFFFFF"/>
                </a:solidFill>
                <a:latin typeface="Roboto"/>
                <a:cs typeface="Roboto"/>
              </a:rPr>
              <a:t>-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019925" y="1257645"/>
          <a:ext cx="5175880" cy="4383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52323">
                <a:tc gridSpan="3">
                  <a:txBody>
                    <a:bodyPr/>
                    <a:lstStyle/>
                    <a:p>
                      <a:pPr marL="85725" indent="34861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635000" algn="l"/>
                          <a:tab pos="1117600" algn="l"/>
                        </a:tabLst>
                      </a:pPr>
                      <a:r>
                        <a:rPr sz="2000" spc="-1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PDS</a:t>
                      </a:r>
                      <a:r>
                        <a:rPr sz="2000" spc="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Algo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 </a:t>
                      </a:r>
                      <a:r>
                        <a:rPr sz="2000" spc="-48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101	50	55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 marR="190500" indent="1219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INS 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5725" marR="15240" indent="34861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635000" algn="l"/>
                          <a:tab pos="1117600" algn="l"/>
                        </a:tabLst>
                      </a:pPr>
                      <a:r>
                        <a:rPr sz="2000" spc="-19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PDS</a:t>
                      </a:r>
                      <a:r>
                        <a:rPr sz="2000" spc="7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Algo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5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SE </a:t>
                      </a:r>
                      <a:r>
                        <a:rPr sz="2000" spc="-48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301	11	75</a:t>
                      </a:r>
                      <a:r>
                        <a:rPr sz="2000" spc="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marR="248920" indent="57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INS 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80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48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89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59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78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7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NaN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80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78.0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89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69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75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11.0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48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22.0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59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33.0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69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04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304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r>
                        <a:rPr sz="2000" spc="1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85"/>
                        </a:lnSpc>
                      </a:pP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44.0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7029434" y="942975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5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563789" y="972853"/>
            <a:ext cx="807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Outpu</a:t>
            </a:r>
            <a:r>
              <a:rPr sz="1600" spc="-75" dirty="0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325" dirty="0">
                <a:solidFill>
                  <a:srgbClr val="FFFFFF"/>
                </a:solidFill>
                <a:latin typeface="Roboto"/>
                <a:cs typeface="Roboto"/>
              </a:rPr>
              <a:t>-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2129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pPr marL="38100">
                <a:lnSpc>
                  <a:spcPct val="100000"/>
                </a:lnSpc>
                <a:spcBef>
                  <a:spcPts val="10"/>
                </a:spcBef>
              </a:pPr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9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118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Merge</a:t>
            </a:r>
            <a:r>
              <a:rPr spc="-15" dirty="0"/>
              <a:t> </a:t>
            </a:r>
            <a:r>
              <a:rPr spc="10" dirty="0"/>
              <a:t>in</a:t>
            </a:r>
            <a:r>
              <a:rPr spc="-10" dirty="0"/>
              <a:t> </a:t>
            </a:r>
            <a:r>
              <a:rPr spc="10" dirty="0"/>
              <a:t>Pandas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4041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1752580" cy="48196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Merge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DataFrame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named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Series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objects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database-style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join.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join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method,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but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want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join/merge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columns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instead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index.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som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impo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tan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ameters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2400">
              <a:latin typeface="Roboto Cn"/>
              <a:cs typeface="Roboto Cn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dfOther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3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Righ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on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specify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want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join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(Default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index)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lef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_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o</a:t>
            </a: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n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left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Datafr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right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_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o</a:t>
            </a: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n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specif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righ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Datafr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ame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-5" dirty="0">
                <a:solidFill>
                  <a:srgbClr val="212121"/>
                </a:solidFill>
                <a:latin typeface="Roboto Cn"/>
                <a:cs typeface="Roboto Cn"/>
              </a:rPr>
              <a:t>ho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w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Ho</a:t>
            </a:r>
            <a:r>
              <a:rPr sz="2000" spc="-195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handl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ope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ation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objects.</a:t>
            </a:r>
            <a:endParaRPr sz="20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9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15" dirty="0">
                <a:solidFill>
                  <a:srgbClr val="212121"/>
                </a:solidFill>
                <a:latin typeface="Roboto Cn"/>
                <a:cs typeface="Roboto Cn"/>
              </a:rPr>
              <a:t>lef</a:t>
            </a:r>
            <a:r>
              <a:rPr sz="1800" b="1" spc="20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callin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65" dirty="0">
                <a:solidFill>
                  <a:srgbClr val="212121"/>
                </a:solidFill>
                <a:latin typeface="Roboto"/>
                <a:cs typeface="Roboto"/>
              </a:rPr>
              <a:t>am</a:t>
            </a:r>
            <a:r>
              <a:rPr sz="1800" spc="-19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spc="-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i="1" spc="-95" dirty="0">
                <a:solidFill>
                  <a:srgbClr val="212121"/>
                </a:solidFill>
                <a:latin typeface="Roboto"/>
                <a:cs typeface="Roboto"/>
              </a:rPr>
              <a:t>(Default).</a:t>
            </a:r>
            <a:endParaRPr sz="1800">
              <a:latin typeface="Roboto"/>
              <a:cs typeface="Roboto"/>
            </a:endParaRPr>
          </a:p>
          <a:p>
            <a:pPr marL="1186180" lvl="2" indent="-196215">
              <a:lnSpc>
                <a:spcPct val="100000"/>
              </a:lnSpc>
              <a:spcBef>
                <a:spcPts val="280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righ</a:t>
            </a: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t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us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dfOthe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index.</a:t>
            </a:r>
            <a:endParaRPr sz="1800">
              <a:latin typeface="Roboto"/>
              <a:cs typeface="Roboto"/>
            </a:endParaRPr>
          </a:p>
          <a:p>
            <a:pPr marL="1186180" marR="35560" lvl="2" indent="-195580">
              <a:lnSpc>
                <a:spcPts val="1939"/>
              </a:lnSpc>
              <a:spcBef>
                <a:spcPts val="53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  <a:tab pos="1856739" algn="l"/>
                <a:tab pos="2421255" algn="l"/>
                <a:tab pos="3054985" algn="l"/>
                <a:tab pos="3377565" algn="l"/>
                <a:tab pos="4106545" algn="l"/>
                <a:tab pos="4895215" algn="l"/>
                <a:tab pos="5515610" algn="l"/>
                <a:tab pos="6028690" algn="l"/>
                <a:tab pos="6771005" algn="l"/>
                <a:tab pos="7390765" algn="l"/>
                <a:tab pos="7781925" algn="l"/>
                <a:tab pos="8581390" algn="l"/>
                <a:tab pos="8842375" algn="l"/>
                <a:tab pos="9203055" algn="l"/>
                <a:tab pos="9495790" algn="l"/>
                <a:tab pos="10561320" algn="l"/>
                <a:tab pos="11031220" algn="l"/>
                <a:tab pos="11528425" algn="l"/>
              </a:tabLst>
            </a:pPr>
            <a:r>
              <a:rPr sz="1800" b="1" spc="10" dirty="0">
                <a:solidFill>
                  <a:srgbClr val="212121"/>
                </a:solidFill>
                <a:latin typeface="Roboto Cn"/>
                <a:cs typeface="Roboto Cn"/>
              </a:rPr>
              <a:t>outer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1800" spc="-18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unio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5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95" dirty="0">
                <a:solidFill>
                  <a:srgbClr val="212121"/>
                </a:solidFill>
                <a:latin typeface="Roboto"/>
                <a:cs typeface="Roboto"/>
              </a:rPr>
              <a:t>callin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165" dirty="0">
                <a:solidFill>
                  <a:srgbClr val="212121"/>
                </a:solidFill>
                <a:latin typeface="Roboto"/>
                <a:cs typeface="Roboto"/>
              </a:rPr>
              <a:t>am</a:t>
            </a:r>
            <a:r>
              <a:rPr sz="1800" spc="-19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wit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othe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204" dirty="0">
                <a:solidFill>
                  <a:srgbClr val="212121"/>
                </a:solidFill>
                <a:latin typeface="Roboto"/>
                <a:cs typeface="Roboto"/>
              </a:rPr>
              <a:t>’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(o</a:t>
            </a:r>
            <a:r>
              <a:rPr sz="1800" spc="-7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colum</a:t>
            </a:r>
            <a:r>
              <a:rPr sz="1800" spc="-135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speciﬁed)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130" dirty="0">
                <a:solidFill>
                  <a:srgbClr val="212121"/>
                </a:solidFill>
                <a:latin typeface="Roboto"/>
                <a:cs typeface="Roboto"/>
              </a:rPr>
              <a:t>so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18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it. 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lexicographically.</a:t>
            </a:r>
            <a:endParaRPr sz="1800">
              <a:latin typeface="Roboto"/>
              <a:cs typeface="Roboto"/>
            </a:endParaRPr>
          </a:p>
          <a:p>
            <a:pPr marL="1186180" marR="5080" lvl="2" indent="-195580">
              <a:lnSpc>
                <a:spcPts val="1939"/>
              </a:lnSpc>
              <a:spcBef>
                <a:spcPts val="505"/>
              </a:spcBef>
              <a:buClr>
                <a:srgbClr val="B84742"/>
              </a:buClr>
              <a:buFont typeface="Segoe UI Symbol"/>
              <a:buChar char="▪"/>
              <a:tabLst>
                <a:tab pos="1186815" algn="l"/>
              </a:tabLst>
            </a:pPr>
            <a:r>
              <a:rPr sz="1800" b="1" spc="5" dirty="0">
                <a:solidFill>
                  <a:srgbClr val="212121"/>
                </a:solidFill>
                <a:latin typeface="Roboto Cn"/>
                <a:cs typeface="Roboto Cn"/>
              </a:rPr>
              <a:t>inner</a:t>
            </a:r>
            <a:r>
              <a:rPr sz="1800" spc="5" dirty="0">
                <a:solidFill>
                  <a:srgbClr val="212121"/>
                </a:solidFill>
                <a:latin typeface="Roboto"/>
                <a:cs typeface="Roboto"/>
              </a:rPr>
              <a:t>: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form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intersection</a:t>
            </a:r>
            <a:r>
              <a:rPr sz="1800" spc="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calling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5" dirty="0">
                <a:solidFill>
                  <a:srgbClr val="212121"/>
                </a:solidFill>
                <a:latin typeface="Roboto"/>
                <a:cs typeface="Roboto"/>
              </a:rPr>
              <a:t>frame’s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(or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40" dirty="0">
                <a:solidFill>
                  <a:srgbClr val="212121"/>
                </a:solidFill>
                <a:latin typeface="Roboto"/>
                <a:cs typeface="Roboto"/>
              </a:rPr>
              <a:t>on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8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5" dirty="0">
                <a:solidFill>
                  <a:srgbClr val="212121"/>
                </a:solidFill>
                <a:latin typeface="Roboto"/>
                <a:cs typeface="Roboto"/>
              </a:rPr>
              <a:t>speciﬁed)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1800" spc="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212121"/>
                </a:solidFill>
                <a:latin typeface="Roboto"/>
                <a:cs typeface="Roboto"/>
              </a:rPr>
              <a:t>other’s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90" dirty="0">
                <a:solidFill>
                  <a:srgbClr val="212121"/>
                </a:solidFill>
                <a:latin typeface="Roboto"/>
                <a:cs typeface="Roboto"/>
              </a:rPr>
              <a:t>index,</a:t>
            </a:r>
            <a:r>
              <a:rPr sz="1800" spc="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preserving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order </a:t>
            </a:r>
            <a:r>
              <a:rPr sz="1800" spc="-4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18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14" dirty="0">
                <a:solidFill>
                  <a:srgbClr val="212121"/>
                </a:solidFill>
                <a:latin typeface="Roboto"/>
                <a:cs typeface="Roboto"/>
              </a:rPr>
              <a:t>calling’s</a:t>
            </a:r>
            <a:r>
              <a:rPr sz="18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800" spc="-100" dirty="0">
                <a:solidFill>
                  <a:srgbClr val="212121"/>
                </a:solidFill>
                <a:latin typeface="Roboto"/>
                <a:cs typeface="Roboto"/>
              </a:rPr>
              <a:t>one.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21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346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Merge</a:t>
            </a:r>
            <a:r>
              <a:rPr spc="10" dirty="0"/>
              <a:t> in Pandas</a:t>
            </a:r>
            <a:r>
              <a:rPr spc="20" dirty="0"/>
              <a:t> </a:t>
            </a:r>
            <a:r>
              <a:rPr spc="15" dirty="0"/>
              <a:t>(Example)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1451" y="1293554"/>
          <a:ext cx="6715125" cy="193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m1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'Merge1.csv'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(m1)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m2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'Merge2.csv'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(m2)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m3</a:t>
                      </a:r>
                      <a:r>
                        <a:rPr sz="200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3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m1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merge(m2,on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'EnNo'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(m3)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1433" y="964370"/>
            <a:ext cx="1803400" cy="329565"/>
          </a:xfrm>
          <a:custGeom>
            <a:avLst/>
            <a:gdLst/>
            <a:ahLst/>
            <a:cxnLst/>
            <a:rect l="l" t="t" r="r" b="b"/>
            <a:pathLst>
              <a:path w="1803400" h="329565">
                <a:moveTo>
                  <a:pt x="1803007" y="329198"/>
                </a:moveTo>
                <a:lnTo>
                  <a:pt x="0" y="329177"/>
                </a:lnTo>
                <a:lnTo>
                  <a:pt x="15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748148" y="0"/>
                </a:lnTo>
                <a:lnTo>
                  <a:pt x="1786944" y="16069"/>
                </a:lnTo>
                <a:lnTo>
                  <a:pt x="1803014" y="54865"/>
                </a:lnTo>
                <a:lnTo>
                  <a:pt x="180300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276" y="994249"/>
            <a:ext cx="93154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solidFill>
                  <a:srgbClr val="FFFFFF"/>
                </a:solidFill>
                <a:latin typeface="Roboto"/>
                <a:cs typeface="Roboto"/>
              </a:rPr>
              <a:t>dfMerge.py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19925" y="1257645"/>
            <a:ext cx="5029200" cy="3785870"/>
          </a:xfrm>
          <a:custGeom>
            <a:avLst/>
            <a:gdLst/>
            <a:ahLst/>
            <a:cxnLst/>
            <a:rect l="l" t="t" r="r" b="b"/>
            <a:pathLst>
              <a:path w="5029200" h="3785870">
                <a:moveTo>
                  <a:pt x="5029199" y="3785651"/>
                </a:moveTo>
                <a:lnTo>
                  <a:pt x="0" y="3785651"/>
                </a:lnTo>
                <a:lnTo>
                  <a:pt x="0" y="0"/>
                </a:lnTo>
                <a:lnTo>
                  <a:pt x="5029199" y="0"/>
                </a:lnTo>
                <a:lnTo>
                  <a:pt x="5029199" y="378565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96113" y="1272885"/>
            <a:ext cx="1267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EnNo</a:t>
            </a:r>
            <a:r>
              <a:rPr sz="2000" spc="-9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5650" y="1577685"/>
            <a:ext cx="152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23988" y="1272885"/>
            <a:ext cx="29387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RollNo</a:t>
            </a:r>
            <a:endParaRPr sz="2000">
              <a:latin typeface="Consolas"/>
              <a:cs typeface="Consolas"/>
            </a:endParaRPr>
          </a:p>
          <a:p>
            <a:pPr marL="417830">
              <a:lnSpc>
                <a:spcPct val="100000"/>
              </a:lnSpc>
              <a:tabLst>
                <a:tab pos="1114425" algn="l"/>
                <a:tab pos="25069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1111222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Abc</a:t>
            </a:r>
            <a:endParaRPr sz="2000">
              <a:latin typeface="Consolas"/>
              <a:cs typeface="Consolas"/>
            </a:endParaRPr>
          </a:p>
          <a:p>
            <a:pPr marL="417830">
              <a:lnSpc>
                <a:spcPct val="100000"/>
              </a:lnSpc>
              <a:tabLst>
                <a:tab pos="1114425" algn="l"/>
                <a:tab pos="25069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1111333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Xyz</a:t>
            </a:r>
            <a:endParaRPr sz="2000">
              <a:latin typeface="Consolas"/>
              <a:cs typeface="Consolas"/>
            </a:endParaRPr>
          </a:p>
          <a:p>
            <a:pPr marL="417830">
              <a:lnSpc>
                <a:spcPct val="100000"/>
              </a:lnSpc>
              <a:tabLst>
                <a:tab pos="1114425" algn="l"/>
                <a:tab pos="25069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2222444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4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Def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3054" y="2796885"/>
            <a:ext cx="29908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3180" indent="975994" algn="r">
              <a:lnSpc>
                <a:spcPct val="100000"/>
              </a:lnSpc>
              <a:spcBef>
                <a:spcPts val="100"/>
              </a:spcBef>
              <a:tabLst>
                <a:tab pos="430530" algn="l"/>
                <a:tab pos="1824355" algn="l"/>
                <a:tab pos="1962785" algn="l"/>
                <a:tab pos="2520950" algn="l"/>
                <a:tab pos="265938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EnN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o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S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INS 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1111222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60</a:t>
            </a:r>
            <a:endParaRPr sz="20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tabLst>
                <a:tab pos="469265" algn="l"/>
                <a:tab pos="2001520" algn="l"/>
                <a:tab pos="2698750" algn="l"/>
              </a:tabLst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1111333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96113" y="4016085"/>
            <a:ext cx="12661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EnNo</a:t>
            </a:r>
            <a:r>
              <a:rPr sz="2000" spc="-9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Name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5650" y="4320885"/>
            <a:ext cx="152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23988" y="4016085"/>
            <a:ext cx="43326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204210" algn="l"/>
                <a:tab pos="3900804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RollN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o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PD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S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INS</a:t>
            </a:r>
            <a:endParaRPr sz="2000">
              <a:latin typeface="Consolas"/>
              <a:cs typeface="Consolas"/>
            </a:endParaRPr>
          </a:p>
          <a:p>
            <a:pPr marL="417830">
              <a:lnSpc>
                <a:spcPct val="100000"/>
              </a:lnSpc>
              <a:tabLst>
                <a:tab pos="1114425" algn="l"/>
                <a:tab pos="2506980" algn="l"/>
                <a:tab pos="3343275" algn="l"/>
                <a:tab pos="403987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1111222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Ab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c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5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60</a:t>
            </a:r>
            <a:endParaRPr sz="2000">
              <a:latin typeface="Consolas"/>
              <a:cs typeface="Consolas"/>
            </a:endParaRPr>
          </a:p>
          <a:p>
            <a:pPr marL="417830">
              <a:lnSpc>
                <a:spcPct val="100000"/>
              </a:lnSpc>
              <a:tabLst>
                <a:tab pos="1114425" algn="l"/>
                <a:tab pos="2506980" algn="l"/>
                <a:tab pos="3343275" algn="l"/>
                <a:tab pos="403987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10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1111333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3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Xy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z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6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70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29434" y="942975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5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85649" y="972853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6701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8718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Read</a:t>
            </a:r>
            <a:r>
              <a:rPr spc="5" dirty="0"/>
              <a:t> </a:t>
            </a:r>
            <a:r>
              <a:rPr spc="35" dirty="0"/>
              <a:t>CSV</a:t>
            </a:r>
            <a:r>
              <a:rPr spc="5" dirty="0"/>
              <a:t> </a:t>
            </a:r>
            <a:r>
              <a:rPr spc="10" dirty="0"/>
              <a:t>in</a:t>
            </a:r>
            <a:r>
              <a:rPr dirty="0"/>
              <a:t> </a:t>
            </a:r>
            <a:r>
              <a:rPr spc="10" dirty="0"/>
              <a:t>Pandas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1332210" cy="22904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b="1" spc="-5" dirty="0">
                <a:solidFill>
                  <a:srgbClr val="212121"/>
                </a:solidFill>
                <a:latin typeface="Consolas"/>
                <a:cs typeface="Consolas"/>
              </a:rPr>
              <a:t>read_csv()</a:t>
            </a:r>
            <a:r>
              <a:rPr sz="2400" b="1" spc="-7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read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Comma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Separated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Values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(CSV)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ﬁle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into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DataFrame.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som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impo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tan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ameters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2400">
              <a:latin typeface="Roboto Cn"/>
              <a:cs typeface="Roboto Cn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ﬁlePath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str,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path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object,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ﬁle-like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object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se</a:t>
            </a:r>
            <a:r>
              <a:rPr sz="2000" b="1" spc="25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sepa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(Defaul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comma)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header: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90" dirty="0">
                <a:solidFill>
                  <a:srgbClr val="212121"/>
                </a:solidFill>
                <a:latin typeface="Roboto"/>
                <a:cs typeface="Roboto"/>
              </a:rPr>
              <a:t>Row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number(s)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use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names.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inde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x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_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col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column(s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)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ame.</a:t>
            </a:r>
            <a:endParaRPr sz="20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451" y="3484305"/>
          <a:ext cx="8677275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0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dfINS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read_csv(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'Marks.csv'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,index_col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,header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=0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dfINS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71433" y="3155120"/>
            <a:ext cx="1803400" cy="329565"/>
          </a:xfrm>
          <a:custGeom>
            <a:avLst/>
            <a:gdLst/>
            <a:ahLst/>
            <a:cxnLst/>
            <a:rect l="l" t="t" r="r" b="b"/>
            <a:pathLst>
              <a:path w="1803400" h="329564">
                <a:moveTo>
                  <a:pt x="1803007" y="329198"/>
                </a:moveTo>
                <a:lnTo>
                  <a:pt x="0" y="329177"/>
                </a:lnTo>
                <a:lnTo>
                  <a:pt x="15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748148" y="0"/>
                </a:lnTo>
                <a:lnTo>
                  <a:pt x="1786944" y="16069"/>
                </a:lnTo>
                <a:lnTo>
                  <a:pt x="1803014" y="54865"/>
                </a:lnTo>
                <a:lnTo>
                  <a:pt x="1803007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9164" y="3184999"/>
            <a:ext cx="9277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FFFFFF"/>
                </a:solidFill>
                <a:latin typeface="Roboto"/>
                <a:cs typeface="Roboto"/>
              </a:rPr>
              <a:t>readCSV.py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210675" y="3448394"/>
          <a:ext cx="2523489" cy="2229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2323">
                <a:tc gridSpan="3">
                  <a:txBody>
                    <a:bodyPr/>
                    <a:lstStyle/>
                    <a:p>
                      <a:pPr marL="85725" marR="190500" indent="34861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635000" algn="l"/>
                          <a:tab pos="1117600" algn="l"/>
                          <a:tab pos="1972945" algn="l"/>
                        </a:tabLst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PD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 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Alg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o </a:t>
                      </a:r>
                      <a:r>
                        <a:rPr sz="2000" spc="-8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S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E	INS 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101	50	55</a:t>
                      </a:r>
                      <a:r>
                        <a:rPr sz="2000" spc="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60</a:t>
                      </a:r>
                      <a:r>
                        <a:rPr sz="2000" spc="3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102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80</a:t>
                      </a:r>
                      <a:r>
                        <a:rPr sz="20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61</a:t>
                      </a:r>
                      <a:r>
                        <a:rPr sz="2000" spc="3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103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89</a:t>
                      </a:r>
                      <a:r>
                        <a:rPr sz="20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70</a:t>
                      </a:r>
                      <a:r>
                        <a:rPr sz="2000" spc="3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104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58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r>
                        <a:rPr sz="20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85</a:t>
                      </a:r>
                      <a:r>
                        <a:rPr sz="2000" spc="3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88.0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68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201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77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285"/>
                        </a:lnSpc>
                      </a:pP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96</a:t>
                      </a:r>
                      <a:r>
                        <a:rPr sz="2000" spc="40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4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63</a:t>
                      </a:r>
                      <a:r>
                        <a:rPr sz="2000" spc="385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2000" spc="-114" dirty="0">
                          <a:solidFill>
                            <a:srgbClr val="212121"/>
                          </a:solidFill>
                          <a:latin typeface="Roboto"/>
                          <a:cs typeface="Roboto"/>
                        </a:rPr>
                        <a:t>66.0</a:t>
                      </a:r>
                      <a:endParaRPr sz="20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220184" y="3133725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1" y="16069"/>
                </a:lnTo>
                <a:lnTo>
                  <a:pt x="1876440" y="54864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876399" y="3163603"/>
            <a:ext cx="5632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pic>
        <p:nvPicPr>
          <p:cNvPr id="14" name="Picture 1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5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9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9175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Read</a:t>
            </a:r>
            <a:r>
              <a:rPr dirty="0"/>
              <a:t> </a:t>
            </a:r>
            <a:r>
              <a:rPr spc="20" dirty="0"/>
              <a:t>Excel</a:t>
            </a:r>
            <a:r>
              <a:rPr dirty="0"/>
              <a:t> </a:t>
            </a:r>
            <a:r>
              <a:rPr spc="10" dirty="0"/>
              <a:t>in</a:t>
            </a:r>
            <a:r>
              <a:rPr dirty="0"/>
              <a:t> </a:t>
            </a:r>
            <a:r>
              <a:rPr spc="10" dirty="0"/>
              <a:t>Pandas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8225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173695" y="756967"/>
            <a:ext cx="11770360" cy="273748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Rea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ce</a:t>
            </a:r>
            <a:r>
              <a:rPr sz="2400" spc="-65" dirty="0">
                <a:solidFill>
                  <a:srgbClr val="212121"/>
                </a:solidFill>
                <a:latin typeface="Roboto"/>
                <a:cs typeface="Roboto"/>
              </a:rPr>
              <a:t>l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ﬁl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int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panda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Data</a:t>
            </a:r>
            <a:r>
              <a:rPr sz="2400" spc="-21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ame.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4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  <a:tab pos="6330950" algn="l"/>
                <a:tab pos="7772400" algn="l"/>
                <a:tab pos="8440420" algn="l"/>
                <a:tab pos="9146540" algn="l"/>
                <a:tab pos="9431020" algn="l"/>
                <a:tab pos="10149205" algn="l"/>
                <a:tab pos="11512550" algn="l"/>
              </a:tabLst>
            </a:pP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Suppo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30" dirty="0">
                <a:solidFill>
                  <a:srgbClr val="212121"/>
                </a:solidFill>
                <a:latin typeface="Roboto"/>
                <a:cs typeface="Roboto"/>
              </a:rPr>
              <a:t>xl</a:t>
            </a:r>
            <a:r>
              <a:rPr sz="2400" i="1" spc="-175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50" dirty="0">
                <a:solidFill>
                  <a:srgbClr val="212121"/>
                </a:solidFill>
                <a:latin typeface="Roboto"/>
                <a:cs typeface="Roboto"/>
              </a:rPr>
              <a:t>xls</a:t>
            </a:r>
            <a:r>
              <a:rPr sz="2400" i="1" spc="-170" dirty="0">
                <a:solidFill>
                  <a:srgbClr val="212121"/>
                </a:solidFill>
                <a:latin typeface="Roboto"/>
                <a:cs typeface="Roboto"/>
              </a:rPr>
              <a:t>x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55" dirty="0">
                <a:solidFill>
                  <a:srgbClr val="212121"/>
                </a:solidFill>
                <a:latin typeface="Roboto"/>
                <a:cs typeface="Roboto"/>
              </a:rPr>
              <a:t>xls</a:t>
            </a:r>
            <a:r>
              <a:rPr sz="2400" i="1" spc="-30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50" dirty="0">
                <a:solidFill>
                  <a:srgbClr val="212121"/>
                </a:solidFill>
                <a:latin typeface="Roboto"/>
                <a:cs typeface="Roboto"/>
              </a:rPr>
              <a:t>xls</a:t>
            </a:r>
            <a:r>
              <a:rPr sz="2400" i="1" spc="-195" dirty="0">
                <a:solidFill>
                  <a:srgbClr val="212121"/>
                </a:solidFill>
                <a:latin typeface="Roboto"/>
                <a:cs typeface="Roboto"/>
              </a:rPr>
              <a:t>b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70" dirty="0">
                <a:solidFill>
                  <a:srgbClr val="212121"/>
                </a:solidFill>
                <a:latin typeface="Roboto"/>
                <a:cs typeface="Roboto"/>
              </a:rPr>
              <a:t>od</a:t>
            </a:r>
            <a:r>
              <a:rPr sz="2400" i="1" spc="-9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" dirty="0">
                <a:solidFill>
                  <a:srgbClr val="212121"/>
                </a:solidFill>
                <a:latin typeface="Roboto"/>
                <a:cs typeface="Roboto"/>
              </a:rPr>
              <a:t>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200" dirty="0">
                <a:solidFill>
                  <a:srgbClr val="212121"/>
                </a:solidFill>
                <a:latin typeface="Roboto"/>
                <a:cs typeface="Roboto"/>
              </a:rPr>
              <a:t>od</a:t>
            </a:r>
            <a:r>
              <a:rPr sz="2400" i="1" spc="-18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i="1" spc="-195" dirty="0">
                <a:solidFill>
                  <a:srgbClr val="212121"/>
                </a:solidFill>
                <a:latin typeface="Roboto"/>
                <a:cs typeface="Roboto"/>
              </a:rPr>
              <a:t>od</a:t>
            </a:r>
            <a:r>
              <a:rPr sz="2400" i="1" spc="-114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i="1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ﬁl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extension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s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ead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7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27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local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ﬁlesyste</a:t>
            </a:r>
            <a:r>
              <a:rPr sz="2400" spc="-270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400" dirty="0">
                <a:solidFill>
                  <a:srgbClr val="212121"/>
                </a:solidFill>
                <a:latin typeface="Roboto"/>
                <a:cs typeface="Roboto"/>
              </a:rPr>
              <a:t>	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or 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URL.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Supports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option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read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single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sheet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95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sheets.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67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04" dirty="0">
                <a:solidFill>
                  <a:srgbClr val="212121"/>
                </a:solidFill>
                <a:latin typeface="Roboto"/>
                <a:cs typeface="Roboto"/>
              </a:rPr>
              <a:t>som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7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impo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tan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2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10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a</a:t>
            </a:r>
            <a:r>
              <a:rPr sz="2400" b="1" spc="-20" dirty="0">
                <a:solidFill>
                  <a:srgbClr val="212121"/>
                </a:solidFill>
                <a:latin typeface="Roboto Cn"/>
                <a:cs typeface="Roboto Cn"/>
              </a:rPr>
              <a:t>r</a:t>
            </a:r>
            <a:r>
              <a:rPr sz="2400" b="1" spc="20" dirty="0">
                <a:solidFill>
                  <a:srgbClr val="212121"/>
                </a:solidFill>
                <a:latin typeface="Roboto Cn"/>
                <a:cs typeface="Roboto Cn"/>
              </a:rPr>
              <a:t>ameters</a:t>
            </a:r>
            <a:r>
              <a:rPr sz="24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400" b="1" spc="25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endParaRPr sz="2400">
              <a:latin typeface="Roboto Cn"/>
              <a:cs typeface="Roboto Cn"/>
            </a:endParaRPr>
          </a:p>
          <a:p>
            <a:pPr marL="852805" lvl="1" indent="-378460">
              <a:lnSpc>
                <a:spcPct val="100000"/>
              </a:lnSpc>
              <a:spcBef>
                <a:spcPts val="27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excelFile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 :</a:t>
            </a:r>
            <a:r>
              <a:rPr sz="2000" b="1" spc="50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str,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bytes,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95" dirty="0">
                <a:solidFill>
                  <a:srgbClr val="212121"/>
                </a:solidFill>
                <a:latin typeface="Roboto"/>
                <a:cs typeface="Roboto"/>
              </a:rPr>
              <a:t>ExcelFile,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xlrd.Book,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path</a:t>
            </a:r>
            <a:r>
              <a:rPr sz="2000" spc="-3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object,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ﬁle-like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object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5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sheet</a:t>
            </a:r>
            <a:r>
              <a:rPr sz="2000" b="1" spc="10" dirty="0">
                <a:solidFill>
                  <a:srgbClr val="212121"/>
                </a:solidFill>
                <a:latin typeface="Consolas"/>
                <a:cs typeface="Consolas"/>
              </a:rPr>
              <a:t>_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name</a:t>
            </a:r>
            <a:r>
              <a:rPr sz="2000" b="1" spc="1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sheet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no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integer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name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sheet,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have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list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sheets.</a:t>
            </a:r>
            <a:endParaRPr sz="20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59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inde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x</a:t>
            </a:r>
            <a:r>
              <a:rPr sz="2000" b="1" spc="-5" dirty="0">
                <a:solidFill>
                  <a:srgbClr val="212121"/>
                </a:solidFill>
                <a:latin typeface="Consolas"/>
                <a:cs typeface="Consolas"/>
              </a:rPr>
              <a:t>_</a:t>
            </a:r>
            <a:r>
              <a:rPr sz="2000" b="1" spc="10" dirty="0">
                <a:solidFill>
                  <a:srgbClr val="212121"/>
                </a:solidFill>
                <a:latin typeface="Roboto Cn"/>
                <a:cs typeface="Roboto Cn"/>
              </a:rPr>
              <a:t>col </a:t>
            </a:r>
            <a:r>
              <a:rPr sz="2000" b="1" spc="20" dirty="0">
                <a:solidFill>
                  <a:srgbClr val="212121"/>
                </a:solidFill>
                <a:latin typeface="Roboto Cn"/>
                <a:cs typeface="Roboto Cn"/>
              </a:rPr>
              <a:t>:</a:t>
            </a:r>
            <a:r>
              <a:rPr sz="2000" b="1" spc="25" dirty="0">
                <a:solidFill>
                  <a:srgbClr val="212121"/>
                </a:solidFill>
                <a:latin typeface="Roboto Cn"/>
                <a:cs typeface="Roboto Cn"/>
              </a:rPr>
              <a:t> 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index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colum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60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dat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f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ame.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5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7575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Read</a:t>
            </a:r>
            <a:r>
              <a:rPr spc="5" dirty="0"/>
              <a:t> </a:t>
            </a:r>
            <a:r>
              <a:rPr spc="10" dirty="0"/>
              <a:t>from </a:t>
            </a:r>
            <a:r>
              <a:rPr spc="-5" dirty="0"/>
              <a:t>MySQL</a:t>
            </a:r>
            <a:r>
              <a:rPr spc="10" dirty="0"/>
              <a:t> 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46745" y="1979215"/>
            <a:ext cx="1718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and</a:t>
            </a:r>
            <a:r>
              <a:rPr sz="2400" spc="7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import</a:t>
            </a:r>
            <a:endParaRPr sz="24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242" y="3169979"/>
          <a:ext cx="7268210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sqlalchemy</a:t>
                      </a:r>
                      <a:r>
                        <a:rPr sz="2000" b="1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create_engine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b="1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sz="2000" b="1" spc="-5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pymysql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0227" y="284079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3695" y="806792"/>
            <a:ext cx="9909810" cy="23336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42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280" dirty="0">
                <a:solidFill>
                  <a:srgbClr val="212121"/>
                </a:solidFill>
                <a:latin typeface="Roboto"/>
                <a:cs typeface="Roboto"/>
              </a:rPr>
              <a:t>W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nee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d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tw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lib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aries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4" dirty="0">
                <a:solidFill>
                  <a:srgbClr val="212121"/>
                </a:solidFill>
                <a:latin typeface="Roboto"/>
                <a:cs typeface="Roboto"/>
              </a:rPr>
              <a:t>fo</a:t>
            </a:r>
            <a:r>
              <a:rPr sz="2400" spc="-8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that,</a:t>
            </a:r>
            <a:endParaRPr sz="2400">
              <a:latin typeface="Roboto"/>
              <a:cs typeface="Roboto"/>
            </a:endParaRPr>
          </a:p>
          <a:p>
            <a:pPr marL="852805" lvl="1" indent="-378460">
              <a:lnSpc>
                <a:spcPct val="100000"/>
              </a:lnSpc>
              <a:spcBef>
                <a:spcPts val="265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cond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0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b="1" spc="5" dirty="0">
                <a:solidFill>
                  <a:srgbClr val="212121"/>
                </a:solidFill>
                <a:latin typeface="Roboto Cn"/>
                <a:cs typeface="Roboto Cn"/>
              </a:rPr>
              <a:t>sqlalchemy</a:t>
            </a:r>
            <a:endParaRPr sz="2000">
              <a:latin typeface="Roboto Cn"/>
              <a:cs typeface="Roboto Cn"/>
            </a:endParaRPr>
          </a:p>
          <a:p>
            <a:pPr marL="852805" lvl="1" indent="-378460">
              <a:lnSpc>
                <a:spcPct val="100000"/>
              </a:lnSpc>
              <a:spcBef>
                <a:spcPts val="260"/>
              </a:spcBef>
              <a:buClr>
                <a:srgbClr val="B84742"/>
              </a:buClr>
              <a:buFont typeface="Segoe UI Symbol"/>
              <a:buChar char="□"/>
              <a:tabLst>
                <a:tab pos="852169" algn="l"/>
                <a:tab pos="853440" algn="l"/>
              </a:tabLst>
            </a:pP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cond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install</a:t>
            </a:r>
            <a:r>
              <a:rPr sz="2000" spc="-2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212121"/>
                </a:solidFill>
                <a:latin typeface="Roboto Cn"/>
                <a:cs typeface="Roboto Cn"/>
              </a:rPr>
              <a:t>p</a:t>
            </a:r>
            <a:r>
              <a:rPr sz="2000" b="1" dirty="0">
                <a:solidFill>
                  <a:srgbClr val="212121"/>
                </a:solidFill>
                <a:latin typeface="Roboto Cn"/>
                <a:cs typeface="Roboto Cn"/>
              </a:rPr>
              <a:t>ymysql</a:t>
            </a:r>
            <a:endParaRPr sz="2000">
              <a:latin typeface="Roboto Cn"/>
              <a:cs typeface="Roboto Cn"/>
            </a:endParaRPr>
          </a:p>
          <a:p>
            <a:pPr marL="307975" marR="5080" indent="-295910">
              <a:lnSpc>
                <a:spcPts val="2590"/>
              </a:lnSpc>
              <a:spcBef>
                <a:spcPts val="1035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After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installing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both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libraries,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import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create_engine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sqlalchemy </a:t>
            </a:r>
            <a:r>
              <a:rPr sz="2400" spc="-130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pymysql</a:t>
            </a:r>
            <a:endParaRPr sz="2400">
              <a:latin typeface="Consolas"/>
              <a:cs typeface="Consolas"/>
            </a:endParaRPr>
          </a:p>
          <a:p>
            <a:pPr marL="413384">
              <a:lnSpc>
                <a:spcPct val="100000"/>
              </a:lnSpc>
              <a:spcBef>
                <a:spcPts val="151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importsForDB.py</a:t>
            </a:r>
            <a:endParaRPr sz="16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70242" y="4865430"/>
          <a:ext cx="11221085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db_connection_str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'mysql+pymysql://username:password@host/dbname'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db_connection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4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create_engine(db_connection_str)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70227" y="4536245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4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4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3695" y="4032290"/>
            <a:ext cx="8583295" cy="80327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2400" spc="-630" dirty="0">
                <a:solidFill>
                  <a:srgbClr val="B84742"/>
                </a:solidFill>
                <a:latin typeface="Segoe UI Symbol"/>
                <a:cs typeface="Segoe UI Symbol"/>
              </a:rPr>
              <a:t>□</a:t>
            </a:r>
            <a:r>
              <a:rPr sz="2400" spc="105" dirty="0">
                <a:solidFill>
                  <a:srgbClr val="B84742"/>
                </a:solidFill>
                <a:latin typeface="Segoe UI Symbol"/>
                <a:cs typeface="Segoe UI Symbol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Then,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database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connection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string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create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engine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60" dirty="0">
                <a:solidFill>
                  <a:srgbClr val="212121"/>
                </a:solidFill>
                <a:latin typeface="Roboto"/>
                <a:cs typeface="Roboto"/>
              </a:rPr>
              <a:t>it.</a:t>
            </a:r>
            <a:endParaRPr sz="2400">
              <a:latin typeface="Roboto"/>
              <a:cs typeface="Roboto"/>
            </a:endParaRPr>
          </a:p>
          <a:p>
            <a:pPr marL="447040">
              <a:lnSpc>
                <a:spcPct val="100000"/>
              </a:lnSpc>
              <a:spcBef>
                <a:spcPts val="525"/>
              </a:spcBef>
            </a:pPr>
            <a:r>
              <a:rPr sz="1600" spc="-100" dirty="0">
                <a:solidFill>
                  <a:srgbClr val="FFFFFF"/>
                </a:solidFill>
                <a:latin typeface="Roboto"/>
                <a:cs typeface="Roboto"/>
              </a:rPr>
              <a:t>createEngine.py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18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50" y="51004"/>
            <a:ext cx="104711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Read </a:t>
            </a:r>
            <a:r>
              <a:rPr spc="10" dirty="0"/>
              <a:t>from</a:t>
            </a:r>
            <a:r>
              <a:rPr spc="20" dirty="0"/>
              <a:t> </a:t>
            </a:r>
            <a:r>
              <a:rPr spc="-5" dirty="0"/>
              <a:t>MySQL</a:t>
            </a:r>
            <a:r>
              <a:rPr spc="20" dirty="0"/>
              <a:t> </a:t>
            </a:r>
            <a:r>
              <a:rPr spc="5" dirty="0"/>
              <a:t>Database</a:t>
            </a:r>
            <a:r>
              <a:rPr spc="20" dirty="0"/>
              <a:t> </a:t>
            </a:r>
            <a:r>
              <a:rPr spc="25" dirty="0"/>
              <a:t>(Cont.)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242" y="2493704"/>
          <a:ext cx="10754360" cy="707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00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20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pd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read_sql(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'SELECT</a:t>
                      </a:r>
                      <a:r>
                        <a:rPr sz="20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sz="2000" spc="-1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sz="2000" spc="-1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solidFill>
                            <a:srgbClr val="BA2121"/>
                          </a:solidFill>
                          <a:latin typeface="Consolas"/>
                          <a:cs typeface="Consolas"/>
                        </a:rPr>
                        <a:t>cities'</a:t>
                      </a:r>
                      <a:r>
                        <a:rPr sz="200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2000" spc="-1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con</a:t>
                      </a:r>
                      <a:r>
                        <a:rPr sz="2000" spc="-5" dirty="0">
                          <a:solidFill>
                            <a:srgbClr val="666666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db_connection)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3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marR="77470" algn="r">
                        <a:lnSpc>
                          <a:spcPts val="2085"/>
                        </a:lnSpc>
                      </a:pPr>
                      <a:r>
                        <a:rPr sz="2000" b="1" dirty="0">
                          <a:solidFill>
                            <a:srgbClr val="5757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085"/>
                        </a:lnSpc>
                      </a:pPr>
                      <a:r>
                        <a:rPr sz="2000" spc="-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2000" spc="-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(df)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70227" y="2164520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3695" y="756967"/>
            <a:ext cx="11776710" cy="170688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After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getting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engine,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ﬁre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sql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query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using</a:t>
            </a:r>
            <a:r>
              <a:rPr sz="2400" spc="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b="1" spc="-5" dirty="0">
                <a:solidFill>
                  <a:srgbClr val="212121"/>
                </a:solidFill>
                <a:latin typeface="Consolas"/>
                <a:cs typeface="Consolas"/>
              </a:rPr>
              <a:t>pd.read_sql</a:t>
            </a:r>
            <a:r>
              <a:rPr sz="2400" b="1" spc="-7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method.</a:t>
            </a:r>
            <a:endParaRPr sz="2400">
              <a:latin typeface="Roboto"/>
              <a:cs typeface="Roboto"/>
            </a:endParaRPr>
          </a:p>
          <a:p>
            <a:pPr marL="307975" marR="5080" indent="-295910">
              <a:lnSpc>
                <a:spcPts val="2590"/>
              </a:lnSpc>
              <a:spcBef>
                <a:spcPts val="104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5" dirty="0">
                <a:solidFill>
                  <a:srgbClr val="212121"/>
                </a:solidFill>
                <a:latin typeface="Consolas"/>
                <a:cs typeface="Consolas"/>
              </a:rPr>
              <a:t>read_sql</a:t>
            </a:r>
            <a:r>
              <a:rPr sz="2400" spc="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3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generic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method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which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0" dirty="0">
                <a:solidFill>
                  <a:srgbClr val="212121"/>
                </a:solidFill>
                <a:latin typeface="Roboto"/>
                <a:cs typeface="Roboto"/>
              </a:rPr>
              <a:t>can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read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any</a:t>
            </a:r>
            <a:r>
              <a:rPr sz="24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sql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(MySQL,MSSQL,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Oracle </a:t>
            </a:r>
            <a:r>
              <a:rPr sz="2400" spc="-5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0" dirty="0">
                <a:solidFill>
                  <a:srgbClr val="212121"/>
                </a:solidFill>
                <a:latin typeface="Roboto"/>
                <a:cs typeface="Roboto"/>
              </a:rPr>
              <a:t>etc…)</a:t>
            </a:r>
            <a:endParaRPr sz="2400">
              <a:latin typeface="Roboto"/>
              <a:cs typeface="Roboto"/>
            </a:endParaRPr>
          </a:p>
          <a:p>
            <a:pPr marL="395605">
              <a:lnSpc>
                <a:spcPct val="100000"/>
              </a:lnSpc>
              <a:spcBef>
                <a:spcPts val="1505"/>
              </a:spcBef>
            </a:pPr>
            <a:r>
              <a:rPr sz="1600" spc="-125" dirty="0">
                <a:solidFill>
                  <a:srgbClr val="FFFFFF"/>
                </a:solidFill>
                <a:latin typeface="Roboto"/>
                <a:cs typeface="Roboto"/>
              </a:rPr>
              <a:t>readSQLDemo.py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524" y="3657944"/>
            <a:ext cx="10734675" cy="1323975"/>
          </a:xfrm>
          <a:custGeom>
            <a:avLst/>
            <a:gdLst/>
            <a:ahLst/>
            <a:cxnLst/>
            <a:rect l="l" t="t" r="r" b="b"/>
            <a:pathLst>
              <a:path w="10734675" h="1323975">
                <a:moveTo>
                  <a:pt x="10734675" y="1323438"/>
                </a:moveTo>
                <a:lnTo>
                  <a:pt x="0" y="1323438"/>
                </a:lnTo>
                <a:lnTo>
                  <a:pt x="0" y="0"/>
                </a:lnTo>
                <a:lnTo>
                  <a:pt x="10734675" y="0"/>
                </a:lnTo>
                <a:lnTo>
                  <a:pt x="10734675" y="132343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6248" y="3977985"/>
            <a:ext cx="152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587" y="3673185"/>
            <a:ext cx="238188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5349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CityI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D	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CityName</a:t>
            </a:r>
            <a:endParaRPr sz="2000">
              <a:latin typeface="Consolas"/>
              <a:cs typeface="Consolas"/>
            </a:endParaRPr>
          </a:p>
          <a:p>
            <a:pPr marL="1532890" indent="-836930">
              <a:lnSpc>
                <a:spcPct val="100000"/>
              </a:lnSpc>
              <a:buAutoNum type="arabicPlain"/>
              <a:tabLst>
                <a:tab pos="1532890" algn="l"/>
                <a:tab pos="15335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Rajkot</a:t>
            </a:r>
            <a:endParaRPr sz="2000">
              <a:latin typeface="Consolas"/>
              <a:cs typeface="Consolas"/>
            </a:endParaRPr>
          </a:p>
          <a:p>
            <a:pPr marL="1115060" indent="-419100">
              <a:lnSpc>
                <a:spcPct val="100000"/>
              </a:lnSpc>
              <a:buAutoNum type="arabicPlain"/>
              <a:tabLst>
                <a:tab pos="1115060" algn="l"/>
                <a:tab pos="111569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Ahemdabad</a:t>
            </a:r>
            <a:endParaRPr sz="2000">
              <a:latin typeface="Consolas"/>
              <a:cs typeface="Consolas"/>
            </a:endParaRPr>
          </a:p>
          <a:p>
            <a:pPr marL="1672589" indent="-976630">
              <a:lnSpc>
                <a:spcPct val="100000"/>
              </a:lnSpc>
              <a:buAutoNum type="arabicPlain"/>
              <a:tabLst>
                <a:tab pos="1672589" algn="l"/>
                <a:tab pos="1673225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Surat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1812" y="3673185"/>
            <a:ext cx="36353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532890" algn="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CityDescription  Rajkot Description here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Ahemdabad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Description</a:t>
            </a:r>
            <a:r>
              <a:rPr sz="20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here </a:t>
            </a:r>
            <a:r>
              <a:rPr sz="2000" spc="-10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Surat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Description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here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42621" y="3673185"/>
            <a:ext cx="112903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CityCode</a:t>
            </a:r>
            <a:endParaRPr sz="2000">
              <a:latin typeface="Consolas"/>
              <a:cs typeface="Consolas"/>
            </a:endParaRPr>
          </a:p>
          <a:p>
            <a:pPr marL="695960" marR="5080" indent="635" algn="just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RJT  ADI  SRT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0034" y="3343275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60" h="329564">
                <a:moveTo>
                  <a:pt x="1876433" y="329199"/>
                </a:moveTo>
                <a:lnTo>
                  <a:pt x="0" y="329176"/>
                </a:lnTo>
                <a:lnTo>
                  <a:pt x="15" y="54865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1" y="16069"/>
                </a:lnTo>
                <a:lnTo>
                  <a:pt x="1876440" y="54865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56249" y="3373153"/>
            <a:ext cx="563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1367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0" y="0"/>
            <a:ext cx="12192000" cy="762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ntri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8600"/>
            <a:ext cx="1028844" cy="1028844"/>
          </a:xfrm>
          <a:prstGeom prst="rect">
            <a:avLst/>
          </a:prstGeom>
        </p:spPr>
      </p:pic>
      <p:sp>
        <p:nvSpPr>
          <p:cNvPr id="31" name="object 26"/>
          <p:cNvSpPr txBox="1">
            <a:spLocks/>
          </p:cNvSpPr>
          <p:nvPr/>
        </p:nvSpPr>
        <p:spPr>
          <a:xfrm>
            <a:off x="911224" y="6632340"/>
            <a:ext cx="3127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Lt"/>
                <a:ea typeface="+mn-ea"/>
                <a:cs typeface="Roboto Lt"/>
              </a:rPr>
              <a:t>ANTRIX COMPUTER ACADEMY</a:t>
            </a:r>
            <a:endParaRPr kumimoji="0" lang="en-US" sz="1200" b="0" i="0" u="none" strike="noStrike" kern="1200" cap="none" spc="-75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Roboto Lt"/>
              <a:ea typeface="+mn-ea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01" y="6599901"/>
            <a:ext cx="12192635" cy="258445"/>
            <a:chOff x="-101" y="6599901"/>
            <a:chExt cx="12192635" cy="258445"/>
          </a:xfrm>
        </p:grpSpPr>
        <p:sp>
          <p:nvSpPr>
            <p:cNvPr id="6" name="object 6"/>
            <p:cNvSpPr/>
            <p:nvPr/>
          </p:nvSpPr>
          <p:spPr>
            <a:xfrm>
              <a:off x="-101" y="6603898"/>
              <a:ext cx="12192635" cy="254635"/>
            </a:xfrm>
            <a:custGeom>
              <a:avLst/>
              <a:gdLst/>
              <a:ahLst/>
              <a:cxnLst/>
              <a:rect l="l" t="t" r="r" b="b"/>
              <a:pathLst>
                <a:path w="12192635" h="254634">
                  <a:moveTo>
                    <a:pt x="101" y="101"/>
                  </a:moveTo>
                  <a:lnTo>
                    <a:pt x="12192099" y="101"/>
                  </a:lnTo>
                  <a:lnTo>
                    <a:pt x="12192099" y="254101"/>
                  </a:lnTo>
                  <a:lnTo>
                    <a:pt x="101" y="254101"/>
                  </a:lnTo>
                  <a:lnTo>
                    <a:pt x="101" y="10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99901"/>
              <a:ext cx="12192000" cy="12700"/>
            </a:xfrm>
            <a:custGeom>
              <a:avLst/>
              <a:gdLst/>
              <a:ahLst/>
              <a:cxnLst/>
              <a:rect l="l" t="t" r="r" b="b"/>
              <a:pathLst>
                <a:path w="12192000" h="12700">
                  <a:moveTo>
                    <a:pt x="0" y="0"/>
                  </a:moveTo>
                  <a:lnTo>
                    <a:pt x="12191999" y="0"/>
                  </a:lnTo>
                  <a:lnTo>
                    <a:pt x="12191999" y="12699"/>
                  </a:lnTo>
                  <a:lnTo>
                    <a:pt x="0" y="12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6850" y="33833"/>
            <a:ext cx="925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Web</a:t>
            </a:r>
            <a:r>
              <a:rPr sz="3600" spc="15" dirty="0"/>
              <a:t> </a:t>
            </a:r>
            <a:r>
              <a:rPr sz="3600" spc="10" dirty="0"/>
              <a:t>Scrapping</a:t>
            </a:r>
            <a:r>
              <a:rPr sz="3600" spc="55" dirty="0"/>
              <a:t> </a:t>
            </a:r>
            <a:r>
              <a:rPr spc="15" dirty="0"/>
              <a:t>using</a:t>
            </a:r>
            <a:r>
              <a:rPr spc="20" dirty="0"/>
              <a:t> </a:t>
            </a:r>
            <a:r>
              <a:rPr spc="15" dirty="0"/>
              <a:t>Beautiful</a:t>
            </a:r>
            <a:r>
              <a:rPr spc="20" dirty="0"/>
              <a:t> </a:t>
            </a:r>
            <a:r>
              <a:rPr dirty="0"/>
              <a:t>Soup</a:t>
            </a:r>
            <a:endParaRPr sz="3600"/>
          </a:p>
        </p:txBody>
      </p:sp>
      <p:sp>
        <p:nvSpPr>
          <p:cNvPr id="13" name="object 13"/>
          <p:cNvSpPr txBox="1"/>
          <p:nvPr/>
        </p:nvSpPr>
        <p:spPr>
          <a:xfrm>
            <a:off x="173695" y="756967"/>
            <a:ext cx="11759565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7975" indent="-295910">
              <a:lnSpc>
                <a:spcPct val="100000"/>
              </a:lnSpc>
              <a:spcBef>
                <a:spcPts val="8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Beautiful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00" dirty="0">
                <a:solidFill>
                  <a:srgbClr val="212121"/>
                </a:solidFill>
                <a:latin typeface="Roboto"/>
                <a:cs typeface="Roboto"/>
              </a:rPr>
              <a:t>Soup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library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that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makes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8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easy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to</a:t>
            </a:r>
            <a:r>
              <a:rPr sz="2400" spc="-5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scrape</a:t>
            </a:r>
            <a:r>
              <a:rPr sz="24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information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from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5" dirty="0">
                <a:solidFill>
                  <a:srgbClr val="212121"/>
                </a:solidFill>
                <a:latin typeface="Roboto"/>
                <a:cs typeface="Roboto"/>
              </a:rPr>
              <a:t>web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pages.</a:t>
            </a:r>
            <a:endParaRPr sz="2400">
              <a:latin typeface="Roboto"/>
              <a:cs typeface="Roboto"/>
            </a:endParaRPr>
          </a:p>
          <a:p>
            <a:pPr marL="307975" indent="-295910">
              <a:lnSpc>
                <a:spcPct val="100000"/>
              </a:lnSpc>
              <a:spcBef>
                <a:spcPts val="710"/>
              </a:spcBef>
              <a:buClr>
                <a:srgbClr val="B84742"/>
              </a:buClr>
              <a:buFont typeface="Segoe UI Symbol"/>
              <a:buChar char="□"/>
              <a:tabLst>
                <a:tab pos="308610" algn="l"/>
              </a:tabLst>
            </a:pPr>
            <a:r>
              <a:rPr sz="2400" spc="-90" dirty="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5" dirty="0">
                <a:solidFill>
                  <a:srgbClr val="212121"/>
                </a:solidFill>
                <a:latin typeface="Roboto"/>
                <a:cs typeface="Roboto"/>
              </a:rPr>
              <a:t>sits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atop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90" dirty="0">
                <a:solidFill>
                  <a:srgbClr val="212121"/>
                </a:solidFill>
                <a:latin typeface="Roboto"/>
                <a:cs typeface="Roboto"/>
              </a:rPr>
              <a:t>an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5" dirty="0">
                <a:solidFill>
                  <a:srgbClr val="212121"/>
                </a:solidFill>
                <a:latin typeface="Roboto"/>
                <a:cs typeface="Roboto"/>
              </a:rPr>
              <a:t>HTML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0" dirty="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220" dirty="0">
                <a:solidFill>
                  <a:srgbClr val="212121"/>
                </a:solidFill>
                <a:latin typeface="Roboto"/>
                <a:cs typeface="Roboto"/>
              </a:rPr>
              <a:t>XML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parser,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providing</a:t>
            </a:r>
            <a:r>
              <a:rPr sz="2400" spc="3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Pythonic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0" dirty="0">
                <a:solidFill>
                  <a:srgbClr val="212121"/>
                </a:solidFill>
                <a:latin typeface="Roboto"/>
                <a:cs typeface="Roboto"/>
              </a:rPr>
              <a:t>idioms</a:t>
            </a:r>
            <a:r>
              <a:rPr sz="2400" spc="3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05" dirty="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20" dirty="0">
                <a:solidFill>
                  <a:srgbClr val="212121"/>
                </a:solidFill>
                <a:latin typeface="Roboto"/>
                <a:cs typeface="Roboto"/>
              </a:rPr>
              <a:t>iterating,</a:t>
            </a:r>
            <a:r>
              <a:rPr sz="2400" spc="3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searching,</a:t>
            </a:r>
            <a:r>
              <a:rPr sz="2400" spc="3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85" dirty="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2178" y="2386660"/>
            <a:ext cx="8240395" cy="3477895"/>
          </a:xfrm>
          <a:custGeom>
            <a:avLst/>
            <a:gdLst/>
            <a:ahLst/>
            <a:cxnLst/>
            <a:rect l="l" t="t" r="r" b="b"/>
            <a:pathLst>
              <a:path w="8240395" h="3477895">
                <a:moveTo>
                  <a:pt x="8240210" y="3477874"/>
                </a:moveTo>
                <a:lnTo>
                  <a:pt x="0" y="3477874"/>
                </a:lnTo>
                <a:lnTo>
                  <a:pt x="0" y="0"/>
                </a:lnTo>
                <a:lnTo>
                  <a:pt x="8240210" y="0"/>
                </a:lnTo>
                <a:lnTo>
                  <a:pt x="8240210" y="347787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45339" y="4230701"/>
            <a:ext cx="40646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r>
              <a:rPr sz="2000" spc="-4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div</a:t>
            </a:r>
            <a:r>
              <a:rPr sz="2000" spc="-35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r>
              <a:rPr sz="2000" spc="-35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div.col-lg-8.col-xl-9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2987" y="5145101"/>
            <a:ext cx="43497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allSpans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fac.select(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'h2&gt;a'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onsolas"/>
                <a:cs typeface="Consolas"/>
              </a:rPr>
              <a:t>prin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t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(allSpans[0].text.strip())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2185" y="2386660"/>
            <a:ext cx="500380" cy="3477895"/>
          </a:xfrm>
          <a:custGeom>
            <a:avLst/>
            <a:gdLst/>
            <a:ahLst/>
            <a:cxnLst/>
            <a:rect l="l" t="t" r="r" b="b"/>
            <a:pathLst>
              <a:path w="500380" h="3477895">
                <a:moveTo>
                  <a:pt x="499992" y="3477874"/>
                </a:moveTo>
                <a:lnTo>
                  <a:pt x="0" y="3477874"/>
                </a:lnTo>
                <a:lnTo>
                  <a:pt x="0" y="0"/>
                </a:lnTo>
                <a:lnTo>
                  <a:pt x="499992" y="0"/>
                </a:lnTo>
                <a:lnTo>
                  <a:pt x="499992" y="3477874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4158" y="2401901"/>
            <a:ext cx="8293734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31115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AutoNum type="arabicPlain"/>
              <a:tabLst>
                <a:tab pos="323850" algn="l"/>
              </a:tabLst>
            </a:pPr>
            <a:r>
              <a:rPr sz="2000" b="1" spc="-5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2000" b="1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requests</a:t>
            </a:r>
            <a:endParaRPr sz="2000">
              <a:latin typeface="Consolas"/>
              <a:cs typeface="Consolas"/>
            </a:endParaRPr>
          </a:p>
          <a:p>
            <a:pPr marL="323215" indent="-311150">
              <a:lnSpc>
                <a:spcPct val="100000"/>
              </a:lnSpc>
              <a:buClr>
                <a:srgbClr val="575757"/>
              </a:buClr>
              <a:buAutoNum type="arabicPlain"/>
              <a:tabLst>
                <a:tab pos="323850" algn="l"/>
              </a:tabLst>
            </a:pPr>
            <a:r>
              <a:rPr sz="2000" b="1" spc="-5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2000" b="1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bs4</a:t>
            </a:r>
            <a:endParaRPr sz="2000">
              <a:latin typeface="Consolas"/>
              <a:cs typeface="Consolas"/>
            </a:endParaRPr>
          </a:p>
          <a:p>
            <a:pPr marL="323215" indent="-311150">
              <a:lnSpc>
                <a:spcPct val="100000"/>
              </a:lnSpc>
              <a:buClr>
                <a:srgbClr val="575757"/>
              </a:buClr>
              <a:buFont typeface="Consolas"/>
              <a:buAutoNum type="arabicPlain"/>
              <a:tabLst>
                <a:tab pos="32385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req</a:t>
            </a:r>
            <a:r>
              <a:rPr sz="2000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endParaRPr sz="2000">
              <a:latin typeface="Consolas"/>
              <a:cs typeface="Consolas"/>
            </a:endParaRPr>
          </a:p>
          <a:p>
            <a:pPr marL="323215">
              <a:lnSpc>
                <a:spcPct val="100000"/>
              </a:lnSpc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requests.get(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  <a:hlinkClick r:id="rId3"/>
              </a:rPr>
              <a:t>'https://www.darshan.ac.in/DIET/CE/Faculty'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323215" indent="-31115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32385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soup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bs4.BeautifulSoup(req.text,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'lxml'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323215" indent="-311150">
              <a:lnSpc>
                <a:spcPct val="100000"/>
              </a:lnSpc>
              <a:buClr>
                <a:srgbClr val="575757"/>
              </a:buClr>
              <a:buFont typeface="Consolas"/>
              <a:buAutoNum type="arabicPlain" startAt="4"/>
              <a:tabLst>
                <a:tab pos="323850" algn="l"/>
              </a:tabLst>
            </a:pP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allFaculty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=</a:t>
            </a:r>
            <a:r>
              <a:rPr sz="2000" spc="-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soup.select(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'body</a:t>
            </a:r>
            <a:r>
              <a:rPr sz="2000" spc="-1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r>
              <a:rPr sz="2000" spc="-1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main</a:t>
            </a:r>
            <a:r>
              <a:rPr sz="2000" spc="-15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158" y="4230701"/>
            <a:ext cx="395732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section:nth-child(5)</a:t>
            </a:r>
            <a:r>
              <a:rPr sz="2000" spc="-5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r>
              <a:rPr sz="2000" spc="-5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div</a:t>
            </a:r>
            <a:endParaRPr sz="2000">
              <a:latin typeface="Consolas"/>
              <a:cs typeface="Consolas"/>
            </a:endParaRPr>
          </a:p>
          <a:p>
            <a:pPr marL="323215">
              <a:lnSpc>
                <a:spcPct val="100000"/>
              </a:lnSpc>
            </a:pP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r>
              <a:rPr sz="2000" spc="-3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BA2121"/>
                </a:solidFill>
                <a:latin typeface="Consolas"/>
                <a:cs typeface="Consolas"/>
              </a:rPr>
              <a:t>div</a:t>
            </a:r>
            <a:r>
              <a:rPr sz="2000" spc="-3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&gt;</a:t>
            </a:r>
            <a:r>
              <a:rPr sz="2000" spc="-30" dirty="0">
                <a:solidFill>
                  <a:srgbClr val="BA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A2121"/>
                </a:solidFill>
                <a:latin typeface="Consolas"/>
                <a:cs typeface="Consolas"/>
              </a:rPr>
              <a:t>div'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6</a:t>
            </a:r>
            <a:r>
              <a:rPr sz="2000" b="1" spc="229" dirty="0">
                <a:solidFill>
                  <a:srgbClr val="575757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for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fac</a:t>
            </a:r>
            <a:r>
              <a:rPr sz="2000" spc="-1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in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212121"/>
                </a:solidFill>
                <a:latin typeface="Consolas"/>
                <a:cs typeface="Consolas"/>
              </a:rPr>
              <a:t>allFaculty</a:t>
            </a:r>
            <a:r>
              <a:rPr sz="2000" spc="-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12121"/>
                </a:solidFill>
                <a:latin typeface="Consolas"/>
                <a:cs typeface="Consolas"/>
              </a:rPr>
              <a:t>: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7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575757"/>
                </a:solidFill>
                <a:latin typeface="Consolas"/>
                <a:cs typeface="Consolas"/>
              </a:rPr>
              <a:t>8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2171" y="2057476"/>
            <a:ext cx="1779270" cy="329565"/>
          </a:xfrm>
          <a:custGeom>
            <a:avLst/>
            <a:gdLst/>
            <a:ahLst/>
            <a:cxnLst/>
            <a:rect l="l" t="t" r="r" b="b"/>
            <a:pathLst>
              <a:path w="1779270" h="329564">
                <a:moveTo>
                  <a:pt x="1778778" y="329198"/>
                </a:moveTo>
                <a:lnTo>
                  <a:pt x="0" y="329177"/>
                </a:lnTo>
                <a:lnTo>
                  <a:pt x="14" y="54865"/>
                </a:lnTo>
                <a:lnTo>
                  <a:pt x="4326" y="33509"/>
                </a:lnTo>
                <a:lnTo>
                  <a:pt x="16084" y="16069"/>
                </a:lnTo>
                <a:lnTo>
                  <a:pt x="33523" y="4311"/>
                </a:lnTo>
                <a:lnTo>
                  <a:pt x="54879" y="0"/>
                </a:lnTo>
                <a:lnTo>
                  <a:pt x="1723919" y="0"/>
                </a:lnTo>
                <a:lnTo>
                  <a:pt x="1762715" y="16069"/>
                </a:lnTo>
                <a:lnTo>
                  <a:pt x="1778784" y="54865"/>
                </a:lnTo>
                <a:lnTo>
                  <a:pt x="1778778" y="329198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69318" y="1499504"/>
            <a:ext cx="3021330" cy="85725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modifyin</a:t>
            </a:r>
            <a:r>
              <a:rPr sz="2400" spc="-175" dirty="0">
                <a:solidFill>
                  <a:srgbClr val="212121"/>
                </a:solidFill>
                <a:latin typeface="Roboto"/>
                <a:cs typeface="Roboto"/>
              </a:rPr>
              <a:t>g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45" dirty="0">
                <a:solidFill>
                  <a:srgbClr val="212121"/>
                </a:solidFill>
                <a:latin typeface="Roboto"/>
                <a:cs typeface="Roboto"/>
              </a:rPr>
              <a:t>th</a:t>
            </a:r>
            <a:r>
              <a:rPr sz="2400" spc="-165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55" dirty="0">
                <a:solidFill>
                  <a:srgbClr val="212121"/>
                </a:solidFill>
                <a:latin typeface="Roboto"/>
                <a:cs typeface="Roboto"/>
              </a:rPr>
              <a:t>pars</a:t>
            </a:r>
            <a:r>
              <a:rPr sz="2400" spc="-160" dirty="0">
                <a:solidFill>
                  <a:srgbClr val="212121"/>
                </a:solidFill>
                <a:latin typeface="Roboto"/>
                <a:cs typeface="Roboto"/>
              </a:rPr>
              <a:t>e</a:t>
            </a:r>
            <a:r>
              <a:rPr sz="2400" spc="-5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400" spc="-110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4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400" spc="-100" dirty="0">
                <a:solidFill>
                  <a:srgbClr val="212121"/>
                </a:solidFill>
                <a:latin typeface="Roboto"/>
                <a:cs typeface="Roboto"/>
              </a:rPr>
              <a:t>ee.</a:t>
            </a:r>
            <a:endParaRPr sz="2400">
              <a:latin typeface="Roboto"/>
              <a:cs typeface="Roboto"/>
            </a:endParaRPr>
          </a:p>
          <a:p>
            <a:pPr marL="322580">
              <a:lnSpc>
                <a:spcPct val="100000"/>
              </a:lnSpc>
              <a:spcBef>
                <a:spcPts val="695"/>
              </a:spcBef>
            </a:pPr>
            <a:r>
              <a:rPr sz="1600" spc="-120" dirty="0">
                <a:solidFill>
                  <a:srgbClr val="FFFFFF"/>
                </a:solidFill>
                <a:latin typeface="Roboto"/>
                <a:cs typeface="Roboto"/>
              </a:rPr>
              <a:t>webScrap.py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227453" y="2042962"/>
            <a:ext cx="2524125" cy="4401820"/>
          </a:xfrm>
          <a:custGeom>
            <a:avLst/>
            <a:gdLst/>
            <a:ahLst/>
            <a:cxnLst/>
            <a:rect l="l" t="t" r="r" b="b"/>
            <a:pathLst>
              <a:path w="2524125" h="4401820">
                <a:moveTo>
                  <a:pt x="2524124" y="4401204"/>
                </a:moveTo>
                <a:lnTo>
                  <a:pt x="0" y="4401204"/>
                </a:lnTo>
                <a:lnTo>
                  <a:pt x="0" y="0"/>
                </a:lnTo>
                <a:lnTo>
                  <a:pt x="2524124" y="0"/>
                </a:lnTo>
                <a:lnTo>
                  <a:pt x="2524124" y="440120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00478" y="2058203"/>
            <a:ext cx="227520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7165">
              <a:lnSpc>
                <a:spcPct val="100000"/>
              </a:lnSpc>
              <a:spcBef>
                <a:spcPts val="100"/>
              </a:spcBef>
            </a:pPr>
            <a:r>
              <a:rPr sz="2000" spc="-220" dirty="0">
                <a:solidFill>
                  <a:srgbClr val="212121"/>
                </a:solidFill>
                <a:latin typeface="Roboto"/>
                <a:cs typeface="Roboto"/>
              </a:rPr>
              <a:t>Dr</a:t>
            </a:r>
            <a:r>
              <a:rPr sz="2000" spc="-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Gop</a:t>
            </a:r>
            <a:r>
              <a:rPr sz="2000" spc="-65" dirty="0">
                <a:solidFill>
                  <a:srgbClr val="212121"/>
                </a:solidFill>
                <a:latin typeface="Roboto"/>
                <a:cs typeface="Roboto"/>
              </a:rPr>
              <a:t>i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Sanghani  </a:t>
            </a:r>
            <a:r>
              <a:rPr sz="2000" spc="-220" dirty="0">
                <a:solidFill>
                  <a:srgbClr val="212121"/>
                </a:solidFill>
                <a:latin typeface="Roboto"/>
                <a:cs typeface="Roboto"/>
              </a:rPr>
              <a:t>Dr</a:t>
            </a:r>
            <a:r>
              <a:rPr sz="2000" spc="-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Niles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Gambh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75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a  </a:t>
            </a:r>
            <a:r>
              <a:rPr sz="2000" spc="-220" dirty="0">
                <a:solidFill>
                  <a:srgbClr val="212121"/>
                </a:solidFill>
                <a:latin typeface="Roboto"/>
                <a:cs typeface="Roboto"/>
              </a:rPr>
              <a:t>Dr</a:t>
            </a:r>
            <a:r>
              <a:rPr sz="2000" spc="-1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adyumansinh 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Jadeja</a:t>
            </a:r>
            <a:endParaRPr sz="20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</a:pP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Ha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di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k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Doshi 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Maulik</a:t>
            </a:r>
            <a:r>
              <a:rPr sz="2000" spc="-8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35" dirty="0">
                <a:solidFill>
                  <a:srgbClr val="212121"/>
                </a:solidFill>
                <a:latin typeface="Roboto"/>
                <a:cs typeface="Roboto"/>
              </a:rPr>
              <a:t>T</a:t>
            </a:r>
            <a:r>
              <a:rPr sz="2000" spc="-85" dirty="0">
                <a:solidFill>
                  <a:srgbClr val="212121"/>
                </a:solidFill>
                <a:latin typeface="Roboto"/>
                <a:cs typeface="Roboto"/>
              </a:rPr>
              <a:t>ri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edi 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Dixit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Kagatha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a 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5" dirty="0">
                <a:solidFill>
                  <a:srgbClr val="212121"/>
                </a:solidFill>
                <a:latin typeface="Roboto"/>
                <a:cs typeface="Roboto"/>
              </a:rPr>
              <a:t>Fir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o</a:t>
            </a:r>
            <a:r>
              <a:rPr sz="2000" spc="-130" dirty="0">
                <a:solidFill>
                  <a:srgbClr val="212121"/>
                </a:solidFill>
                <a:latin typeface="Roboto"/>
                <a:cs typeface="Roboto"/>
              </a:rPr>
              <a:t>z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She</a:t>
            </a:r>
            <a:r>
              <a:rPr sz="2000" spc="-14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asi</a:t>
            </a:r>
            <a:r>
              <a:rPr sz="2000" spc="-155" dirty="0">
                <a:solidFill>
                  <a:srgbClr val="212121"/>
                </a:solidFill>
                <a:latin typeface="Roboto"/>
                <a:cs typeface="Roboto"/>
              </a:rPr>
              <a:t>y</a:t>
            </a:r>
            <a:r>
              <a:rPr sz="2000" spc="-90" dirty="0">
                <a:solidFill>
                  <a:srgbClr val="212121"/>
                </a:solidFill>
                <a:latin typeface="Roboto"/>
                <a:cs typeface="Roboto"/>
              </a:rPr>
              <a:t>a 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Rupes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h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90" dirty="0">
                <a:solidFill>
                  <a:srgbClr val="212121"/>
                </a:solidFill>
                <a:latin typeface="Roboto"/>
                <a:cs typeface="Roboto"/>
              </a:rPr>
              <a:t>V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aishn</a:t>
            </a:r>
            <a:r>
              <a:rPr sz="2000" spc="-165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00" dirty="0">
                <a:solidFill>
                  <a:srgbClr val="212121"/>
                </a:solidFill>
                <a:latin typeface="Roboto"/>
                <a:cs typeface="Roboto"/>
              </a:rPr>
              <a:t>v 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Swat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i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Roboto"/>
                <a:cs typeface="Roboto"/>
              </a:rPr>
              <a:t>Sharma  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Roboto"/>
                <a:cs typeface="Roboto"/>
              </a:rPr>
              <a:t>Arju</a:t>
            </a:r>
            <a:r>
              <a:rPr sz="2000" spc="-150" dirty="0">
                <a:solidFill>
                  <a:srgbClr val="212121"/>
                </a:solidFill>
                <a:latin typeface="Roboto"/>
                <a:cs typeface="Roboto"/>
              </a:rPr>
              <a:t>n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35" dirty="0">
                <a:solidFill>
                  <a:srgbClr val="212121"/>
                </a:solidFill>
                <a:latin typeface="Roboto"/>
                <a:cs typeface="Roboto"/>
              </a:rPr>
              <a:t>Bala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14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40" dirty="0">
                <a:solidFill>
                  <a:srgbClr val="212121"/>
                </a:solidFill>
                <a:latin typeface="Roboto"/>
                <a:cs typeface="Roboto"/>
              </a:rPr>
              <a:t>.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35" dirty="0">
                <a:solidFill>
                  <a:srgbClr val="212121"/>
                </a:solidFill>
                <a:latin typeface="Roboto"/>
                <a:cs typeface="Roboto"/>
              </a:rPr>
              <a:t>M</a:t>
            </a:r>
            <a:r>
              <a:rPr sz="2000" spc="-160" dirty="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170" dirty="0">
                <a:solidFill>
                  <a:srgbClr val="212121"/>
                </a:solidFill>
                <a:latin typeface="Roboto"/>
                <a:cs typeface="Roboto"/>
              </a:rPr>
              <a:t>yu</a:t>
            </a:r>
            <a:r>
              <a:rPr sz="2000" spc="-110" dirty="0">
                <a:solidFill>
                  <a:srgbClr val="212121"/>
                </a:solidFill>
                <a:latin typeface="Roboto"/>
                <a:cs typeface="Roboto"/>
              </a:rPr>
              <a:t>r</a:t>
            </a:r>
            <a:r>
              <a:rPr sz="2000" spc="-45" dirty="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Roboto"/>
                <a:cs typeface="Roboto"/>
              </a:rPr>
              <a:t>P</a:t>
            </a:r>
            <a:r>
              <a:rPr sz="2000" spc="-120" dirty="0">
                <a:solidFill>
                  <a:srgbClr val="212121"/>
                </a:solidFill>
                <a:latin typeface="Roboto"/>
                <a:cs typeface="Roboto"/>
              </a:rPr>
              <a:t>adia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…..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solidFill>
                  <a:srgbClr val="212121"/>
                </a:solidFill>
                <a:latin typeface="Roboto"/>
                <a:cs typeface="Roboto"/>
              </a:rPr>
              <a:t>…..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236962" y="1728292"/>
            <a:ext cx="1877060" cy="329565"/>
          </a:xfrm>
          <a:custGeom>
            <a:avLst/>
            <a:gdLst/>
            <a:ahLst/>
            <a:cxnLst/>
            <a:rect l="l" t="t" r="r" b="b"/>
            <a:pathLst>
              <a:path w="1877059" h="329564">
                <a:moveTo>
                  <a:pt x="1876433" y="329199"/>
                </a:moveTo>
                <a:lnTo>
                  <a:pt x="0" y="329176"/>
                </a:lnTo>
                <a:lnTo>
                  <a:pt x="15" y="54864"/>
                </a:lnTo>
                <a:lnTo>
                  <a:pt x="4327" y="33509"/>
                </a:lnTo>
                <a:lnTo>
                  <a:pt x="16085" y="16069"/>
                </a:lnTo>
                <a:lnTo>
                  <a:pt x="33524" y="4311"/>
                </a:lnTo>
                <a:lnTo>
                  <a:pt x="54880" y="0"/>
                </a:lnTo>
                <a:lnTo>
                  <a:pt x="1821575" y="0"/>
                </a:lnTo>
                <a:lnTo>
                  <a:pt x="1860370" y="16069"/>
                </a:lnTo>
                <a:lnTo>
                  <a:pt x="1876440" y="54864"/>
                </a:lnTo>
                <a:lnTo>
                  <a:pt x="1876433" y="329199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893177" y="1758171"/>
            <a:ext cx="5632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4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3879192" y="6610834"/>
            <a:ext cx="4426584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95"/>
              <a:t>#</a:t>
            </a:r>
            <a:r>
              <a:rPr lang="en-US" spc="-95" dirty="0"/>
              <a:t>Python for Data Science (DAKSHAY PRAJAPATI)</a:t>
            </a:r>
            <a:endParaRPr spc="-90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xfrm>
            <a:off x="911224" y="6632340"/>
            <a:ext cx="2365375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0" dirty="0"/>
              <a:t>ANTRIX COMPUTER ACADEMY</a:t>
            </a:r>
            <a:endParaRPr spc="-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</TotalTime>
  <Words>10778</Words>
  <Application>Microsoft Office PowerPoint</Application>
  <PresentationFormat>Widescreen</PresentationFormat>
  <Paragraphs>2522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2" baseType="lpstr">
      <vt:lpstr>MS PGothic</vt:lpstr>
      <vt:lpstr>Arial</vt:lpstr>
      <vt:lpstr>Arial MT</vt:lpstr>
      <vt:lpstr>Calibri</vt:lpstr>
      <vt:lpstr>Consolas</vt:lpstr>
      <vt:lpstr>Roboto</vt:lpstr>
      <vt:lpstr>Roboto Bk</vt:lpstr>
      <vt:lpstr>Roboto Cn</vt:lpstr>
      <vt:lpstr>Roboto Lt</vt:lpstr>
      <vt:lpstr>Segoe UI Symbol</vt:lpstr>
      <vt:lpstr>Times New Roman</vt:lpstr>
      <vt:lpstr>Office Theme</vt:lpstr>
      <vt:lpstr>Unit-03 Capturing, Preparing  and Working with data</vt:lpstr>
      <vt:lpstr>PowerPoint Presentation</vt:lpstr>
      <vt:lpstr>Basic IO operations in Python</vt:lpstr>
      <vt:lpstr>Example : Read ﬁle in Python</vt:lpstr>
      <vt:lpstr>How to write path?</vt:lpstr>
      <vt:lpstr>Handling errors using “with” keyword</vt:lpstr>
      <vt:lpstr>Example : Write ﬁle in Python</vt:lpstr>
      <vt:lpstr>Reading CSV ﬁles without any library functions</vt:lpstr>
      <vt:lpstr>NumPy v/s Pandas</vt:lpstr>
      <vt:lpstr>Python for Data Science (PDS) (3150713)</vt:lpstr>
      <vt:lpstr>NumPy</vt:lpstr>
      <vt:lpstr>NumPy Array</vt:lpstr>
      <vt:lpstr>NumPy Array (Cont.)</vt:lpstr>
      <vt:lpstr>NumPy Array (Cont.)</vt:lpstr>
      <vt:lpstr>Array Shape in NumPy</vt:lpstr>
      <vt:lpstr>NumPy Random</vt:lpstr>
      <vt:lpstr>NumPy Random (Cont.)</vt:lpstr>
      <vt:lpstr>Visualizing the difference between rand &amp; randn</vt:lpstr>
      <vt:lpstr>Aggregations</vt:lpstr>
      <vt:lpstr>Aggregations (Cont.)</vt:lpstr>
      <vt:lpstr>Using axis argument with aggregate functions</vt:lpstr>
      <vt:lpstr>Single V/S Double bracket notations</vt:lpstr>
      <vt:lpstr>Slicing ndarray</vt:lpstr>
      <vt:lpstr>Array Slicing Example</vt:lpstr>
      <vt:lpstr>Slicing multi-dimensional array</vt:lpstr>
      <vt:lpstr>Warning : Array Slicing is mutable !</vt:lpstr>
      <vt:lpstr>NumPy Arithmetic Operations</vt:lpstr>
      <vt:lpstr>NumPy Arithmetic Operations (Cont.)</vt:lpstr>
      <vt:lpstr>Sorting Array</vt:lpstr>
      <vt:lpstr>Sort Array Example</vt:lpstr>
      <vt:lpstr>Conditional Selection</vt:lpstr>
      <vt:lpstr>Python for Data Science (PDS) (3150713)</vt:lpstr>
      <vt:lpstr>Pandas</vt:lpstr>
      <vt:lpstr>PowerPoint Presentation</vt:lpstr>
      <vt:lpstr>Series</vt:lpstr>
      <vt:lpstr>Series (Cont.)</vt:lpstr>
      <vt:lpstr>Series (Cont.)</vt:lpstr>
      <vt:lpstr>Creating Time Series</vt:lpstr>
      <vt:lpstr>Data Frames</vt:lpstr>
      <vt:lpstr>Data Frames (Cont.)</vt:lpstr>
      <vt:lpstr>Data Frames (Cont.)</vt:lpstr>
      <vt:lpstr>Data Frames (Cont.)</vt:lpstr>
      <vt:lpstr>Data Frames (Cont.)</vt:lpstr>
      <vt:lpstr>Data Frames (Cont.)</vt:lpstr>
      <vt:lpstr>Conditional Selection</vt:lpstr>
      <vt:lpstr>Conditional Selection (Cont.)</vt:lpstr>
      <vt:lpstr>Setting/Resetting index</vt:lpstr>
      <vt:lpstr>Setting/Resetting index (Cont.)</vt:lpstr>
      <vt:lpstr>Multi-Index DataFrame</vt:lpstr>
      <vt:lpstr>Multi-Index DataFrame (Cont.)</vt:lpstr>
      <vt:lpstr>Multi-Index DataFrame (Cont.)</vt:lpstr>
      <vt:lpstr>Reading in Multiindexed DataFrame directly from CSV</vt:lpstr>
      <vt:lpstr>Cross Sections in DataFrame</vt:lpstr>
      <vt:lpstr>Dealing with Missing Data</vt:lpstr>
      <vt:lpstr>Groupby in Pandas</vt:lpstr>
      <vt:lpstr>Groupby in Pandas (Cont.)</vt:lpstr>
      <vt:lpstr>Groupby in Pandas (Cont.)</vt:lpstr>
      <vt:lpstr>Groupby in Pandas (Cont.)</vt:lpstr>
      <vt:lpstr>Groupby in Pandas (Cont.)</vt:lpstr>
      <vt:lpstr>Groupby in Pandas (Cont.)</vt:lpstr>
      <vt:lpstr>Concatenation in Pandas</vt:lpstr>
      <vt:lpstr>Join in Pandas</vt:lpstr>
      <vt:lpstr>Join in Pandas (Example)</vt:lpstr>
      <vt:lpstr>Merge in Pandas</vt:lpstr>
      <vt:lpstr>Merge in Pandas (Example)</vt:lpstr>
      <vt:lpstr>Read CSV in Pandas</vt:lpstr>
      <vt:lpstr>Read Excel in Pandas</vt:lpstr>
      <vt:lpstr>Read from MySQL Database</vt:lpstr>
      <vt:lpstr>Read from MySQL Database (Cont.)</vt:lpstr>
      <vt:lpstr>Web Scrapping using Beautiful Soup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3150713_Python_GTU_Study_Material_Presentations_Unit-3_20112020032538AM.pptx</dc:title>
  <cp:lastModifiedBy>dhrumil3103@outlook.com</cp:lastModifiedBy>
  <cp:revision>12</cp:revision>
  <dcterms:created xsi:type="dcterms:W3CDTF">2023-07-25T10:43:17Z</dcterms:created>
  <dcterms:modified xsi:type="dcterms:W3CDTF">2026-05-27T11:52:34Z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